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ЗАЯВИТЕЛЬ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заявку за один проход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Орг.техника → Заявки → Создать заявку. На экране показана заполненная форма перед отправкой.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заявителю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06" y="1563624"/>
            <a:ext cx="2598420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симптом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происходит, как часто повторяется и чему мешает. Пишите наблюдаемый результат, а не предполагаемую причину.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363724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473452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5054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4460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заказчика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2674620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площадку или отдел, укажите имя и телефон человека, который покажет аппарат.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3429000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Обоснуйте срочность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3739896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Отметьте срочность только при остановке работы и заполните обязательную причину.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4946904" y="4494276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56632" y="4604004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56632" y="46360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5394960" y="45765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Приложите и отправьте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5394960" y="4805172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Добавьте фото ошибки или шильдика, проверьте форму и нажмите «Сохранить».</a:t>
            </a:r>
            <a:endParaRPr lang="en-US" sz="670" dirty="0"/>
          </a:p>
        </p:txBody>
      </p:sp>
      <p:sp>
        <p:nvSpPr>
          <p:cNvPr id="33" name="Text 30"/>
          <p:cNvSpPr/>
          <p:nvPr/>
        </p:nvSpPr>
        <p:spPr>
          <a:xfrm>
            <a:off x="502920" y="5623560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отправкой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и аппарат выбраны верно; после отправки их не меняют.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«Для кого заявка» — площадка или отдел, которому нужен аппарат.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502920" y="6611112"/>
            <a:ext cx="109728" cy="109728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3232" y="655624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и телефон должны вести к человеку, который покажет технику.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502920" y="6885432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368" y="7013448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Срочность — просьба, а не способ ускорить всё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58368" y="7242048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Ставьте её только при реальной остановке работы и объясните причину. После создания срочность меняет служба.</a:t>
            </a:r>
            <a:endParaRPr lang="en-US" sz="8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ЗАЯВИТЕЛЬ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аппарата нет в списке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Сообщите об аппарате прямо из формы: укажите данные с шильдика и отправьте их вместе с заявкой.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заявителю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candidate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490" y="1563624"/>
            <a:ext cx="2378253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Перепишите шильдик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Укажите тип и точную модель — без догадок и сокращений.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Добавьте номер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Достаточно серийного или инвентарного; фото шильдика ускоряет проверку.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Отправьте с заявкой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Появится пометка «Аппарат на проверке». Проверяющий свяжет запись или создаст карточку.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502920" y="5623560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выбрать предмет обращения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" y="5934456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" y="6053328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аппарата</a:t>
            </a:r>
            <a:endParaRPr lang="en-US" sz="970" dirty="0"/>
          </a:p>
        </p:txBody>
      </p:sp>
      <p:sp>
        <p:nvSpPr>
          <p:cNvPr id="31" name="Text 28"/>
          <p:cNvSpPr/>
          <p:nvPr/>
        </p:nvSpPr>
        <p:spPr>
          <a:xfrm>
            <a:off x="649224" y="6281928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«Обслуживание». В описании укажите старое и новое место.</a:t>
            </a:r>
            <a:endParaRPr lang="en-US" sz="870" dirty="0"/>
          </a:p>
        </p:txBody>
      </p:sp>
      <p:sp>
        <p:nvSpPr>
          <p:cNvPr id="32" name="Shape 29"/>
          <p:cNvSpPr/>
          <p:nvPr/>
        </p:nvSpPr>
        <p:spPr>
          <a:xfrm>
            <a:off x="3863340" y="5934456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09644" y="6053328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поставщика</a:t>
            </a:r>
            <a:endParaRPr lang="en-US" sz="970" dirty="0"/>
          </a:p>
        </p:txBody>
      </p:sp>
      <p:sp>
        <p:nvSpPr>
          <p:cNvPr id="34" name="Text 31"/>
          <p:cNvSpPr/>
          <p:nvPr/>
        </p:nvSpPr>
        <p:spPr>
          <a:xfrm>
            <a:off x="4009644" y="6281928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форме выберите «Гарантия на технику», если срок ещё действует.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502920" y="6849405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" y="6968277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ремонта</a:t>
            </a:r>
            <a:endParaRPr lang="en-US" sz="970" dirty="0"/>
          </a:p>
        </p:txBody>
      </p:sp>
      <p:sp>
        <p:nvSpPr>
          <p:cNvPr id="37" name="Text 34"/>
          <p:cNvSpPr/>
          <p:nvPr/>
        </p:nvSpPr>
        <p:spPr>
          <a:xfrm>
            <a:off x="649224" y="7196877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Создавайте обращение из вкладки «Гарантии» по нужной работе.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3863340" y="6849405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09644" y="6968277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есть открытая заявка</a:t>
            </a:r>
            <a:endParaRPr lang="en-US" sz="970" dirty="0"/>
          </a:p>
        </p:txBody>
      </p:sp>
      <p:sp>
        <p:nvSpPr>
          <p:cNvPr id="40" name="Text 37"/>
          <p:cNvSpPr/>
          <p:nvPr/>
        </p:nvSpPr>
        <p:spPr>
          <a:xfrm>
            <a:off x="4009644" y="7196877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её и допишите сведения в обсуждении — дубль портал не создаст.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ЗАЯВИТЕЛЬ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Следить за заявкой в списке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понимает номер заявки, модель и номера аппарата. Фильтр «Мои заявки» оставляет ваши обращения.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заявителю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reque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Сузьте список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Используйте «Мои заявки», рабочие статусы и поиск — выбранные фильтры сохраняются.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Читайте две подписи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показывает состояние, «Ждёт …» — кто делает следующий шаг.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карточку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×N ведёт к предыдущим обращениям; синяя метка показывает непрочитанное.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576072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endParaRPr lang="en-US" sz="730" dirty="0"/>
          </a:p>
        </p:txBody>
      </p:sp>
      <p:sp>
        <p:nvSpPr>
          <p:cNvPr id="31" name="Shape 28"/>
          <p:cNvSpPr/>
          <p:nvPr/>
        </p:nvSpPr>
        <p:spPr>
          <a:xfrm>
            <a:off x="2164842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37994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2237994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3826764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99916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3899916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5488686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61838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</a:t>
            </a:r>
            <a:endParaRPr lang="en-US" sz="860" dirty="0"/>
          </a:p>
        </p:txBody>
      </p:sp>
      <p:sp>
        <p:nvSpPr>
          <p:cNvPr id="39" name="Text 36"/>
          <p:cNvSpPr/>
          <p:nvPr/>
        </p:nvSpPr>
        <p:spPr>
          <a:xfrm>
            <a:off x="5561838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закрыто</a:t>
            </a:r>
            <a:endParaRPr lang="en-US" sz="730" dirty="0"/>
          </a:p>
        </p:txBody>
      </p:sp>
      <p:sp>
        <p:nvSpPr>
          <p:cNvPr id="40" name="Shape 37"/>
          <p:cNvSpPr/>
          <p:nvPr/>
        </p:nvSpPr>
        <p:spPr>
          <a:xfrm>
            <a:off x="502920" y="6464808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6409944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«Отложена» — пауза с причиной; «Отменена» — окончательная отмена.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502920" y="677570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3232" y="672084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назначения заявку нельзя править или удалить самостоятельно — напишите оператору.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502920" y="708660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3232" y="703173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обращение ничего не запускает автоматически: это подсказка для проверки истории.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502920" y="7360920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7488936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часа на проверку результата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58368" y="7717536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перевода в «Решена» проверьте работу. Через 24 часа без возражений портал принимает её автоматически; при проблеме сразу напишите в обсуждении.</a:t>
            </a:r>
            <a:endParaRPr lang="en-US" sz="8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ЗАЯВИТЕЛЬ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Карточка, файлы и обсуждение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заявителя показывает нужное для обращения и скрывает внутренний расчёт с исполнителем.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заявителю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ard-reque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7455"/>
            <a:ext cx="4133088" cy="23145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вкладки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Заявка, Документы и История. «Объём работ» и суммы заявителю не передаются.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исполнителей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полю видно, кто ведёт обращение и кому адресовать уточнение.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Пишите в обсуждении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доступного адресата. После закрытия переписка остаётся только для чтения.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502920" y="5623560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 видит и добавляет обычные вложения; гарантийный талон виден, но добавляет его служба.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Акт, счёт и файл объёма работ относятся к внутреннему расчёту и скрыты.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502920" y="661111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3232" y="655624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можно свой файл, пока заявка не закрыта и файл не используется в переходе.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02920" y="6885432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7013448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 только сообщает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8368" y="7242048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Фактический статус, документы, причина паузы и ответы находятся в карточке. Отсутствие письма не означает, что действие не выполнено.</a:t>
            </a:r>
            <a:endParaRPr lang="en-US" sz="8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ЗАЯВИТЕЛЬ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Исправить ошибку и обратиться повторно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 зависят от статуса и назначения. Портал показывает только допустимые шаги.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заявителю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reque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без исполнителя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исправить описание, контакт и заказчика либо удалить заявку.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уже началась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Попросите оператора отменить или вернуть на доработку; причину зафиксируйте в обсуждении.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вернулась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закрытия создайте новую заявку. Метка «Повтор ×N» связывает её с историей.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 уже перенесли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64922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Сообщите фактическое место. Перемещение подтверждает ИТ или оператор.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386334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0964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не принят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400964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статус «Решена», напишите о недостатке — служба вернёт работу исполнителю.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502920" y="6538509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922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нет</a:t>
            </a:r>
            <a:endParaRPr lang="en-US" sz="970" dirty="0"/>
          </a:p>
        </p:txBody>
      </p:sp>
      <p:sp>
        <p:nvSpPr>
          <p:cNvPr id="36" name="Text 33"/>
          <p:cNvSpPr/>
          <p:nvPr/>
        </p:nvSpPr>
        <p:spPr>
          <a:xfrm>
            <a:off x="649224" y="6885981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статус, назначение и профиль. Нередко действие находится у статуса или нужного поля.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3863340" y="6538509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AFAFA"/>
          </a:solidFill>
          <a:ln w="10160">
            <a:solidFill>
              <a:srgbClr val="E7EA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964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не открывается</a:t>
            </a:r>
            <a:endParaRPr lang="en-US" sz="970" dirty="0"/>
          </a:p>
        </p:txBody>
      </p:sp>
      <p:sp>
        <p:nvSpPr>
          <p:cNvPr id="39" name="Text 36"/>
          <p:cNvSpPr/>
          <p:nvPr/>
        </p:nvSpPr>
        <p:spPr>
          <a:xfrm>
            <a:off x="4009644" y="6885981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Обратитесь к администратору: доступ заявителя выдаётся профилем оргтехники.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АВТО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Оргтехника: памятка заявителю</dc:title>
  <dc:subject>Как создать и сопровождать заявку на обслуживание оргтехники</dc:subject>
  <dc:creator>АВТО</dc:creator>
  <cp:lastModifiedBy>АВТО</cp:lastModifiedBy>
  <cp:revision>1</cp:revision>
  <dcterms:created xsi:type="dcterms:W3CDTF">2026-09-07T07:00:00Z</dcterms:created>
  <dcterms:modified xsi:type="dcterms:W3CDTF">2026-09-07T07:00:00Z</dcterms:modified>
</cp:coreProperties>
</file>