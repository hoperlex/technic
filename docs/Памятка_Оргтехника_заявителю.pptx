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110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ЗАЯВИТЕЛЬ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Создать заявку без лишних шагов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«Орг.техника» → «Заявки» → «Создать заявку».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заявителю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Text 8"/>
          <p:cNvSpPr/>
          <p:nvPr/>
        </p:nvSpPr>
        <p:spPr>
          <a:xfrm>
            <a:off x="502920" y="1298448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заполнить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627632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650492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813816" y="1609344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Выберите «Чем помочь»: «Обслуживание» или «Расходники».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02920" y="1975104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1997964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16" name="Text 14"/>
          <p:cNvSpPr/>
          <p:nvPr/>
        </p:nvSpPr>
        <p:spPr>
          <a:xfrm>
            <a:off x="813816" y="1956816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Найдите аппарат по модели, инвентарному или серийному номеру. Проверьте место и номера под полем.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2426269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449129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19" name="Text 17"/>
          <p:cNvSpPr/>
          <p:nvPr/>
        </p:nvSpPr>
        <p:spPr>
          <a:xfrm>
            <a:off x="813816" y="2407981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Опишите, что происходит. Для расходников напишите цвет и что закончилось; позиции справочника подберёт исполнитель.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" y="2877434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900294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813816" y="2859146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поля «Для кого заявка», «Кто обращается», телефон и при необходимости «Откуда обращаетесь».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502920" y="3328599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351459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30" dirty="0"/>
          </a:p>
        </p:txBody>
      </p:sp>
      <p:sp>
        <p:nvSpPr>
          <p:cNvPr id="25" name="Text 23"/>
          <p:cNvSpPr/>
          <p:nvPr/>
        </p:nvSpPr>
        <p:spPr>
          <a:xfrm>
            <a:off x="813816" y="3310311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работа действительно встала, отметьте «Срочная заявка» и обязательно объясните причину.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502920" y="3676071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698931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813816" y="3657783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Приложите фото неисправности или шильдика и нажмите «Сохранить».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02920" y="4023543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4151559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Срочность после отправки меняет служба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8368" y="4380159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создании заявки заявитель может попросить срочный приоритет. Позже поставить или снять его может оператор. Срочная метка не заменяет точного описания.</a:t>
            </a:r>
            <a:endParaRPr lang="en-US" sz="890" dirty="0"/>
          </a:p>
        </p:txBody>
      </p:sp>
      <p:sp>
        <p:nvSpPr>
          <p:cNvPr id="32" name="Shape 30"/>
          <p:cNvSpPr/>
          <p:nvPr/>
        </p:nvSpPr>
        <p:spPr>
          <a:xfrm>
            <a:off x="502920" y="4863145"/>
            <a:ext cx="3195828" cy="786933"/>
          </a:xfrm>
          <a:prstGeom prst="roundRect">
            <a:avLst>
              <a:gd name="adj" fmla="val 5810"/>
            </a:avLst>
          </a:prstGeom>
          <a:solidFill>
            <a:srgbClr val="F6FFED"/>
          </a:solidFill>
          <a:ln w="10160">
            <a:solidFill>
              <a:srgbClr val="B7EB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9224" y="4982017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389E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Хорошее описание</a:t>
            </a:r>
            <a:endParaRPr lang="en-US" sz="970" dirty="0"/>
          </a:p>
        </p:txBody>
      </p:sp>
      <p:sp>
        <p:nvSpPr>
          <p:cNvPr id="34" name="Text 32"/>
          <p:cNvSpPr/>
          <p:nvPr/>
        </p:nvSpPr>
        <p:spPr>
          <a:xfrm>
            <a:off x="649224" y="5210617"/>
            <a:ext cx="2903220" cy="348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«Мнёт бумагу на каждой второй странице; печать нужна для пропусков».</a:t>
            </a:r>
            <a:endParaRPr lang="en-US" sz="870" dirty="0"/>
          </a:p>
        </p:txBody>
      </p:sp>
      <p:sp>
        <p:nvSpPr>
          <p:cNvPr id="35" name="Shape 33"/>
          <p:cNvSpPr/>
          <p:nvPr/>
        </p:nvSpPr>
        <p:spPr>
          <a:xfrm>
            <a:off x="3863340" y="4863145"/>
            <a:ext cx="3195828" cy="786933"/>
          </a:xfrm>
          <a:prstGeom prst="roundRect">
            <a:avLst>
              <a:gd name="adj" fmla="val 5810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09644" y="4982017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Нужны расходники</a:t>
            </a:r>
            <a:endParaRPr lang="en-US" sz="970" dirty="0"/>
          </a:p>
        </p:txBody>
      </p:sp>
      <p:sp>
        <p:nvSpPr>
          <p:cNvPr id="37" name="Text 35"/>
          <p:cNvSpPr/>
          <p:nvPr/>
        </p:nvSpPr>
        <p:spPr>
          <a:xfrm>
            <a:off x="4009644" y="5210617"/>
            <a:ext cx="2903220" cy="348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«Закончился чёрный тонер; печать остановлена». Не выбирайте картридж из справочника сами.</a:t>
            </a:r>
            <a:endParaRPr lang="en-US" sz="870" dirty="0"/>
          </a:p>
        </p:txBody>
      </p:sp>
      <p:sp>
        <p:nvSpPr>
          <p:cNvPr id="38" name="Shape 36"/>
          <p:cNvSpPr/>
          <p:nvPr/>
        </p:nvSpPr>
        <p:spPr>
          <a:xfrm>
            <a:off x="502920" y="5778094"/>
            <a:ext cx="3195828" cy="786933"/>
          </a:xfrm>
          <a:prstGeom prst="roundRect">
            <a:avLst>
              <a:gd name="adj" fmla="val 5810"/>
            </a:avLst>
          </a:prstGeom>
          <a:solidFill>
            <a:srgbClr val="F9F0FF"/>
          </a:solidFill>
          <a:ln w="10160">
            <a:solidFill>
              <a:srgbClr val="D3AD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" y="5896966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722E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Аппарат стоит не там</a:t>
            </a:r>
            <a:endParaRPr lang="en-US" sz="970" dirty="0"/>
          </a:p>
        </p:txBody>
      </p:sp>
      <p:sp>
        <p:nvSpPr>
          <p:cNvPr id="40" name="Text 38"/>
          <p:cNvSpPr/>
          <p:nvPr/>
        </p:nvSpPr>
        <p:spPr>
          <a:xfrm>
            <a:off x="649224" y="6125566"/>
            <a:ext cx="2903220" cy="348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Отметьте расхождение и укажите фактическое место. Карточку парка исправит ответственный.</a:t>
            </a:r>
            <a:endParaRPr lang="en-US" sz="870" dirty="0"/>
          </a:p>
        </p:txBody>
      </p:sp>
      <p:sp>
        <p:nvSpPr>
          <p:cNvPr id="41" name="Shape 39"/>
          <p:cNvSpPr/>
          <p:nvPr/>
        </p:nvSpPr>
        <p:spPr>
          <a:xfrm>
            <a:off x="3863340" y="5778094"/>
            <a:ext cx="3195828" cy="786933"/>
          </a:xfrm>
          <a:prstGeom prst="roundRect">
            <a:avLst>
              <a:gd name="adj" fmla="val 5810"/>
            </a:avLst>
          </a:prstGeom>
          <a:solidFill>
            <a:srgbClr val="FAFAFA"/>
          </a:solidFill>
          <a:ln w="10160">
            <a:solidFill>
              <a:srgbClr val="E7EA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009644" y="5896966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Повторная проблема</a:t>
            </a:r>
            <a:endParaRPr lang="en-US" sz="970" dirty="0"/>
          </a:p>
        </p:txBody>
      </p:sp>
      <p:sp>
        <p:nvSpPr>
          <p:cNvPr id="43" name="Text 41"/>
          <p:cNvSpPr/>
          <p:nvPr/>
        </p:nvSpPr>
        <p:spPr>
          <a:xfrm>
            <a:off x="4009644" y="6125566"/>
            <a:ext cx="2903220" cy="348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старая заявка ещё открыта, портал предложит открыть её. Допишите сведения в обсуждении.</a:t>
            </a:r>
            <a:endParaRPr lang="en-US" sz="8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110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ЗАЯВИТЕЛЬ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Категория и предмет заявки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Категорию после отправки не меняют: при ошибке создают новую заявку, прежнюю удаляют или просят отменить.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заявителю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Text 8"/>
          <p:cNvSpPr/>
          <p:nvPr/>
        </p:nvSpPr>
        <p:spPr>
          <a:xfrm>
            <a:off x="502920" y="1298448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категории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609344"/>
            <a:ext cx="1274826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1700784"/>
            <a:ext cx="112852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Категория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777746" y="1609344"/>
            <a:ext cx="2094357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50898" y="1700784"/>
            <a:ext cx="194805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выбирать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872103" y="1609344"/>
            <a:ext cx="3187065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45255" y="1700784"/>
            <a:ext cx="30407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Примеры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1956816"/>
            <a:ext cx="1274826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2039112"/>
            <a:ext cx="112852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Обслуживание</a:t>
            </a:r>
            <a:endParaRPr lang="en-US" sz="810" dirty="0"/>
          </a:p>
        </p:txBody>
      </p:sp>
      <p:sp>
        <p:nvSpPr>
          <p:cNvPr id="19" name="Shape 17"/>
          <p:cNvSpPr/>
          <p:nvPr/>
        </p:nvSpPr>
        <p:spPr>
          <a:xfrm>
            <a:off x="1777746" y="1956816"/>
            <a:ext cx="2094357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50898" y="2039112"/>
            <a:ext cx="194805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Аппарат неисправен, требует настройки, проверки или переноса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3872103" y="1956816"/>
            <a:ext cx="3187065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45255" y="2039112"/>
            <a:ext cx="3040761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печатает; полосы; не сканирует; подключить; перенести; проверить перед списанием</a:t>
            </a:r>
            <a:endParaRPr lang="en-US" sz="810" dirty="0"/>
          </a:p>
        </p:txBody>
      </p:sp>
      <p:sp>
        <p:nvSpPr>
          <p:cNvPr id="23" name="Shape 21"/>
          <p:cNvSpPr/>
          <p:nvPr/>
        </p:nvSpPr>
        <p:spPr>
          <a:xfrm>
            <a:off x="502920" y="2347996"/>
            <a:ext cx="1274826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2430292"/>
            <a:ext cx="112852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Расходники</a:t>
            </a:r>
            <a:endParaRPr lang="en-US" sz="810" dirty="0"/>
          </a:p>
        </p:txBody>
      </p:sp>
      <p:sp>
        <p:nvSpPr>
          <p:cNvPr id="25" name="Shape 23"/>
          <p:cNvSpPr/>
          <p:nvPr/>
        </p:nvSpPr>
        <p:spPr>
          <a:xfrm>
            <a:off x="1777746" y="2347996"/>
            <a:ext cx="2094357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50898" y="2430292"/>
            <a:ext cx="194805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Аппарат исправен, но закончился материал</a:t>
            </a:r>
            <a:endParaRPr lang="en-US" sz="810" dirty="0"/>
          </a:p>
        </p:txBody>
      </p:sp>
      <p:sp>
        <p:nvSpPr>
          <p:cNvPr id="27" name="Shape 25"/>
          <p:cNvSpPr/>
          <p:nvPr/>
        </p:nvSpPr>
        <p:spPr>
          <a:xfrm>
            <a:off x="3872103" y="2347996"/>
            <a:ext cx="3187065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45255" y="2430292"/>
            <a:ext cx="3040761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Картридж; тонер; нужен запас на площадку</a:t>
            </a:r>
            <a:endParaRPr lang="en-US" sz="810" dirty="0"/>
          </a:p>
        </p:txBody>
      </p:sp>
      <p:sp>
        <p:nvSpPr>
          <p:cNvPr id="29" name="Text 27"/>
          <p:cNvSpPr/>
          <p:nvPr/>
        </p:nvSpPr>
        <p:spPr>
          <a:xfrm>
            <a:off x="502920" y="2867193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аппарата нет в списке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3196377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219237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813816" y="3178089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Нажмите «Не нашли технику?» под полем выбора.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502920" y="3543849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566709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35" name="Text 33"/>
          <p:cNvSpPr/>
          <p:nvPr/>
        </p:nvSpPr>
        <p:spPr>
          <a:xfrm>
            <a:off x="813816" y="3525561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доступно окно «Сообщить об аппарате», заполните тип, модель с шильдика, один из номеров, объект и место. Сообщение уйдёт вместе с заявкой на проверку.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502920" y="3995014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017874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38" name="Text 36"/>
          <p:cNvSpPr/>
          <p:nvPr/>
        </p:nvSpPr>
        <p:spPr>
          <a:xfrm>
            <a:off x="813816" y="3976726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вместо окна показана техподдержка, скопируйте подготовленный текст, отправьте его и дождитесь появления карточки в справочнике.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502920" y="4446179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" y="4574195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 включается поэтапно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58368" y="4802795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отсутствующего аппарата и очередь проверки уже подготовлены, но право на них может быть ещё не выдано в вашем контуре. Ориентируйтесь на вариант, который показывает портал.</a:t>
            </a:r>
            <a:endParaRPr lang="en-US" sz="890" dirty="0"/>
          </a:p>
        </p:txBody>
      </p:sp>
      <p:sp>
        <p:nvSpPr>
          <p:cNvPr id="42" name="Text 40"/>
          <p:cNvSpPr/>
          <p:nvPr/>
        </p:nvSpPr>
        <p:spPr>
          <a:xfrm>
            <a:off x="502920" y="5285781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Гарантия и перемещение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02920" y="5651541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3232" y="5596677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действующей гарантии поставщика выберите «Гарантия на технику». Обращение по гарантии прошлого ремонта создают из реестра гарантий.</a:t>
            </a:r>
            <a:endParaRPr lang="en-US" sz="930" dirty="0"/>
          </a:p>
        </p:txBody>
      </p:sp>
      <p:sp>
        <p:nvSpPr>
          <p:cNvPr id="45" name="Shape 43"/>
          <p:cNvSpPr/>
          <p:nvPr/>
        </p:nvSpPr>
        <p:spPr>
          <a:xfrm>
            <a:off x="502920" y="6084418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3232" y="6029554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 аппарата — это «Обслуживание». В описании укажите откуда и куда; после выполнения служба подтверждает новое место.</a:t>
            </a:r>
            <a:endParaRPr lang="en-US" sz="930" dirty="0"/>
          </a:p>
        </p:txBody>
      </p:sp>
      <p:sp>
        <p:nvSpPr>
          <p:cNvPr id="47" name="Shape 45"/>
          <p:cNvSpPr/>
          <p:nvPr/>
        </p:nvSpPr>
        <p:spPr>
          <a:xfrm>
            <a:off x="502920" y="6517295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6462431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 без выбранного аппарата доступна только отдельным профилям службы и ИТ; обычному заявителю аппарат обязателен.</a:t>
            </a:r>
            <a:endParaRPr lang="en-US" sz="9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110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ЗАЯВИТЕЛЬ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Ход заявки и ожидание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Рабочих состояний шесть. Назначение исполнителя и согласование объёма работ теперь показываются как шаги ожидания, а не отдельные статусы.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заявителю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1570482" cy="658368"/>
          </a:xfrm>
          <a:prstGeom prst="roundRect">
            <a:avLst>
              <a:gd name="adj" fmla="val 8333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417320"/>
            <a:ext cx="1424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Новая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576072" y="1636776"/>
            <a:ext cx="14241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/ старт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2164842" y="1298448"/>
            <a:ext cx="1570482" cy="658368"/>
          </a:xfrm>
          <a:prstGeom prst="roundRect">
            <a:avLst>
              <a:gd name="adj" fmla="val 8333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37994" y="1417320"/>
            <a:ext cx="1424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работе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2237994" y="1636776"/>
            <a:ext cx="14241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/ согласование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3826764" y="1298448"/>
            <a:ext cx="1570482" cy="658368"/>
          </a:xfrm>
          <a:prstGeom prst="roundRect">
            <a:avLst>
              <a:gd name="adj" fmla="val 8333"/>
            </a:avLst>
          </a:prstGeom>
          <a:solidFill>
            <a:srgbClr val="F9F0FF"/>
          </a:solidFill>
          <a:ln w="10160">
            <a:solidFill>
              <a:srgbClr val="D3AD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99916" y="1417320"/>
            <a:ext cx="1424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722E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Решена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3899916" y="1636776"/>
            <a:ext cx="14241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приёмка</a:t>
            </a:r>
            <a:endParaRPr lang="en-US" sz="730" dirty="0"/>
          </a:p>
        </p:txBody>
      </p:sp>
      <p:sp>
        <p:nvSpPr>
          <p:cNvPr id="19" name="Shape 17"/>
          <p:cNvSpPr/>
          <p:nvPr/>
        </p:nvSpPr>
        <p:spPr>
          <a:xfrm>
            <a:off x="5488686" y="1298448"/>
            <a:ext cx="1570482" cy="658368"/>
          </a:xfrm>
          <a:prstGeom prst="roundRect">
            <a:avLst>
              <a:gd name="adj" fmla="val 8333"/>
            </a:avLst>
          </a:prstGeom>
          <a:solidFill>
            <a:srgbClr val="F6FFED"/>
          </a:solidFill>
          <a:ln w="10160">
            <a:solidFill>
              <a:srgbClr val="B7EB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61838" y="1417320"/>
            <a:ext cx="1424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E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Закрыта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561838" y="1636776"/>
            <a:ext cx="14241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завершено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502920" y="2084832"/>
            <a:ext cx="1130388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176272"/>
            <a:ext cx="9840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633308" y="2084832"/>
            <a:ext cx="2712930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06460" y="2176272"/>
            <a:ext cx="256662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означает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346238" y="2084832"/>
            <a:ext cx="2712930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19390" y="2176272"/>
            <a:ext cx="256662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делать заявителю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2920" y="2432304"/>
            <a:ext cx="1130388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514600"/>
            <a:ext cx="984084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Новая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1633308" y="2432304"/>
            <a:ext cx="271293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706460" y="2514600"/>
            <a:ext cx="256662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 заведена. Она либо ждёт распределения, либо уже ждёт назначенного исполнителя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4346238" y="2432304"/>
            <a:ext cx="271293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19390" y="2514600"/>
            <a:ext cx="256662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назначения можно исправить описание; до начала работ — удалить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02920" y="2823484"/>
            <a:ext cx="1130388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905780"/>
            <a:ext cx="984084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работе</a:t>
            </a:r>
            <a:endParaRPr lang="en-US" sz="810" dirty="0"/>
          </a:p>
        </p:txBody>
      </p:sp>
      <p:sp>
        <p:nvSpPr>
          <p:cNvPr id="36" name="Shape 34"/>
          <p:cNvSpPr/>
          <p:nvPr/>
        </p:nvSpPr>
        <p:spPr>
          <a:xfrm>
            <a:off x="1633308" y="2823484"/>
            <a:ext cx="2712930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706460" y="2905780"/>
            <a:ext cx="256662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Исполнитель работает либо ждёт согласования предъявленного объёма</a:t>
            </a:r>
            <a:endParaRPr lang="en-US" sz="810" dirty="0"/>
          </a:p>
        </p:txBody>
      </p:sp>
      <p:sp>
        <p:nvSpPr>
          <p:cNvPr id="38" name="Shape 36"/>
          <p:cNvSpPr/>
          <p:nvPr/>
        </p:nvSpPr>
        <p:spPr>
          <a:xfrm>
            <a:off x="4346238" y="2823484"/>
            <a:ext cx="2712930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19390" y="2905780"/>
            <a:ext cx="256662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Быть на связи; отвечать в обсуждении</a:t>
            </a:r>
            <a:endParaRPr lang="en-US" sz="810" dirty="0"/>
          </a:p>
        </p:txBody>
      </p:sp>
      <p:sp>
        <p:nvSpPr>
          <p:cNvPr id="40" name="Shape 38"/>
          <p:cNvSpPr/>
          <p:nvPr/>
        </p:nvSpPr>
        <p:spPr>
          <a:xfrm>
            <a:off x="502920" y="3214665"/>
            <a:ext cx="1130388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" y="3296961"/>
            <a:ext cx="984084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Отложена</a:t>
            </a:r>
            <a:endParaRPr lang="en-US" sz="810" dirty="0"/>
          </a:p>
        </p:txBody>
      </p:sp>
      <p:sp>
        <p:nvSpPr>
          <p:cNvPr id="42" name="Shape 40"/>
          <p:cNvSpPr/>
          <p:nvPr/>
        </p:nvSpPr>
        <p:spPr>
          <a:xfrm>
            <a:off x="1633308" y="3214665"/>
            <a:ext cx="271293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06460" y="3296961"/>
            <a:ext cx="256662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Ход остановлен с причиной</a:t>
            </a:r>
            <a:endParaRPr lang="en-US" sz="810" dirty="0"/>
          </a:p>
        </p:txBody>
      </p:sp>
      <p:sp>
        <p:nvSpPr>
          <p:cNvPr id="44" name="Shape 42"/>
          <p:cNvSpPr/>
          <p:nvPr/>
        </p:nvSpPr>
        <p:spPr>
          <a:xfrm>
            <a:off x="4346238" y="3214665"/>
            <a:ext cx="271293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19390" y="3296961"/>
            <a:ext cx="256662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Посмотреть причину; при новых данных написать в обсуждении</a:t>
            </a:r>
            <a:endParaRPr lang="en-US" sz="810" dirty="0"/>
          </a:p>
        </p:txBody>
      </p:sp>
      <p:sp>
        <p:nvSpPr>
          <p:cNvPr id="46" name="Shape 44"/>
          <p:cNvSpPr/>
          <p:nvPr/>
        </p:nvSpPr>
        <p:spPr>
          <a:xfrm>
            <a:off x="502920" y="3605845"/>
            <a:ext cx="1130388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" y="3688141"/>
            <a:ext cx="984084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Решена</a:t>
            </a:r>
            <a:endParaRPr lang="en-US" sz="810" dirty="0"/>
          </a:p>
        </p:txBody>
      </p:sp>
      <p:sp>
        <p:nvSpPr>
          <p:cNvPr id="48" name="Shape 46"/>
          <p:cNvSpPr/>
          <p:nvPr/>
        </p:nvSpPr>
        <p:spPr>
          <a:xfrm>
            <a:off x="1633308" y="3605845"/>
            <a:ext cx="2712930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06460" y="3688141"/>
            <a:ext cx="256662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Работы предъявлены и ждут приёмки</a:t>
            </a:r>
            <a:endParaRPr lang="en-US" sz="810" dirty="0"/>
          </a:p>
        </p:txBody>
      </p:sp>
      <p:sp>
        <p:nvSpPr>
          <p:cNvPr id="50" name="Shape 48"/>
          <p:cNvSpPr/>
          <p:nvPr/>
        </p:nvSpPr>
        <p:spPr>
          <a:xfrm>
            <a:off x="4346238" y="3605845"/>
            <a:ext cx="2712930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19390" y="3688141"/>
            <a:ext cx="256662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результат и сразу сообщить о недостатках</a:t>
            </a:r>
            <a:endParaRPr lang="en-US" sz="810" dirty="0"/>
          </a:p>
        </p:txBody>
      </p:sp>
      <p:sp>
        <p:nvSpPr>
          <p:cNvPr id="52" name="Shape 50"/>
          <p:cNvSpPr/>
          <p:nvPr/>
        </p:nvSpPr>
        <p:spPr>
          <a:xfrm>
            <a:off x="502920" y="3997025"/>
            <a:ext cx="113038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76072" y="4079321"/>
            <a:ext cx="984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Закрыта</a:t>
            </a:r>
            <a:endParaRPr lang="en-US" sz="810" dirty="0"/>
          </a:p>
        </p:txBody>
      </p:sp>
      <p:sp>
        <p:nvSpPr>
          <p:cNvPr id="54" name="Shape 52"/>
          <p:cNvSpPr/>
          <p:nvPr/>
        </p:nvSpPr>
        <p:spPr>
          <a:xfrm>
            <a:off x="1633308" y="3997025"/>
            <a:ext cx="271293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706460" y="4079321"/>
            <a:ext cx="2566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принята человеком или порталом</a:t>
            </a:r>
            <a:endParaRPr lang="en-US" sz="810" dirty="0"/>
          </a:p>
        </p:txBody>
      </p:sp>
      <p:sp>
        <p:nvSpPr>
          <p:cNvPr id="56" name="Shape 54"/>
          <p:cNvSpPr/>
          <p:nvPr/>
        </p:nvSpPr>
        <p:spPr>
          <a:xfrm>
            <a:off x="4346238" y="3997025"/>
            <a:ext cx="271293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419390" y="4079321"/>
            <a:ext cx="2566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новой поломке создать новую заявку</a:t>
            </a:r>
            <a:endParaRPr lang="en-US" sz="810" dirty="0"/>
          </a:p>
        </p:txBody>
      </p:sp>
      <p:sp>
        <p:nvSpPr>
          <p:cNvPr id="58" name="Shape 56"/>
          <p:cNvSpPr/>
          <p:nvPr/>
        </p:nvSpPr>
        <p:spPr>
          <a:xfrm>
            <a:off x="502920" y="4381073"/>
            <a:ext cx="1130388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76072" y="4463369"/>
            <a:ext cx="984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Отменена</a:t>
            </a:r>
            <a:endParaRPr lang="en-US" sz="810" dirty="0"/>
          </a:p>
        </p:txBody>
      </p:sp>
      <p:sp>
        <p:nvSpPr>
          <p:cNvPr id="60" name="Shape 58"/>
          <p:cNvSpPr/>
          <p:nvPr/>
        </p:nvSpPr>
        <p:spPr>
          <a:xfrm>
            <a:off x="1633308" y="4381073"/>
            <a:ext cx="2712930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706460" y="4463369"/>
            <a:ext cx="2566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 отменена с причиной</a:t>
            </a:r>
            <a:endParaRPr lang="en-US" sz="810" dirty="0"/>
          </a:p>
        </p:txBody>
      </p:sp>
      <p:sp>
        <p:nvSpPr>
          <p:cNvPr id="62" name="Shape 60"/>
          <p:cNvSpPr/>
          <p:nvPr/>
        </p:nvSpPr>
        <p:spPr>
          <a:xfrm>
            <a:off x="4346238" y="4381073"/>
            <a:ext cx="2712930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419390" y="4463369"/>
            <a:ext cx="2566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Прочитать причину в карточке и истории</a:t>
            </a:r>
            <a:endParaRPr lang="en-US" sz="810" dirty="0"/>
          </a:p>
        </p:txBody>
      </p:sp>
      <p:sp>
        <p:nvSpPr>
          <p:cNvPr id="64" name="Shape 62"/>
          <p:cNvSpPr/>
          <p:nvPr/>
        </p:nvSpPr>
        <p:spPr>
          <a:xfrm>
            <a:off x="502920" y="4893137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5021153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Автоматическая приёмка через 24 часа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658368" y="5249753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заявка остаётся в «Решена», портал переводит её в «Закрыта» через 24 часа. Для работы внешнего сервиса закрывающий документ должен быть подшит. Отложенная заявка автоматически не закрывается.</a:t>
            </a:r>
            <a:endParaRPr lang="en-US" sz="8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110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ЗАЯВИТЕЛЬ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Карточка, документы и обсуждение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Заявителю показывается рабочая информация по его обращению без внутренних сумм и расчётов подрядчика.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заявителю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Text 8"/>
          <p:cNvSpPr/>
          <p:nvPr/>
        </p:nvSpPr>
        <p:spPr>
          <a:xfrm>
            <a:off x="502920" y="1298448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видно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609344"/>
            <a:ext cx="1311250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1700784"/>
            <a:ext cx="116494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карточки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814170" y="1609344"/>
            <a:ext cx="2893792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87322" y="1700784"/>
            <a:ext cx="27474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Содержание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707962" y="1609344"/>
            <a:ext cx="2351206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1114" y="1700784"/>
            <a:ext cx="220490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Действия заявителя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1956816"/>
            <a:ext cx="131125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2039112"/>
            <a:ext cx="116494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810" dirty="0"/>
          </a:p>
        </p:txBody>
      </p:sp>
      <p:sp>
        <p:nvSpPr>
          <p:cNvPr id="19" name="Shape 17"/>
          <p:cNvSpPr/>
          <p:nvPr/>
        </p:nvSpPr>
        <p:spPr>
          <a:xfrm>
            <a:off x="1814170" y="1956816"/>
            <a:ext cx="2893792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87322" y="2039112"/>
            <a:ext cx="2747488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Аппарат, место, описание, заказчик, контакт, срочность, статус и исполнители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4707962" y="1956816"/>
            <a:ext cx="2351206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81114" y="2039112"/>
            <a:ext cx="220490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Читать; править только новую заявку без исполнителей</a:t>
            </a:r>
            <a:endParaRPr lang="en-US" sz="810" dirty="0"/>
          </a:p>
        </p:txBody>
      </p:sp>
      <p:sp>
        <p:nvSpPr>
          <p:cNvPr id="23" name="Shape 21"/>
          <p:cNvSpPr/>
          <p:nvPr/>
        </p:nvSpPr>
        <p:spPr>
          <a:xfrm>
            <a:off x="502920" y="2347996"/>
            <a:ext cx="1311250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2430292"/>
            <a:ext cx="116494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Номенклатура</a:t>
            </a:r>
            <a:endParaRPr lang="en-US" sz="810" dirty="0"/>
          </a:p>
        </p:txBody>
      </p:sp>
      <p:sp>
        <p:nvSpPr>
          <p:cNvPr id="25" name="Shape 23"/>
          <p:cNvSpPr/>
          <p:nvPr/>
        </p:nvSpPr>
        <p:spPr>
          <a:xfrm>
            <a:off x="1814170" y="2347996"/>
            <a:ext cx="2893792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87322" y="2430292"/>
            <a:ext cx="2747488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заявки на расходники — что запрошено и что выдано</a:t>
            </a:r>
            <a:endParaRPr lang="en-US" sz="810" dirty="0"/>
          </a:p>
        </p:txBody>
      </p:sp>
      <p:sp>
        <p:nvSpPr>
          <p:cNvPr id="27" name="Shape 25"/>
          <p:cNvSpPr/>
          <p:nvPr/>
        </p:nvSpPr>
        <p:spPr>
          <a:xfrm>
            <a:off x="4707962" y="2347996"/>
            <a:ext cx="2351206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1114" y="2430292"/>
            <a:ext cx="220490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Читать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02920" y="2739177"/>
            <a:ext cx="131125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2821473"/>
            <a:ext cx="116494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Документы</a:t>
            </a:r>
            <a:endParaRPr lang="en-US" sz="810" dirty="0"/>
          </a:p>
        </p:txBody>
      </p:sp>
      <p:sp>
        <p:nvSpPr>
          <p:cNvPr id="31" name="Shape 29"/>
          <p:cNvSpPr/>
          <p:nvPr/>
        </p:nvSpPr>
        <p:spPr>
          <a:xfrm>
            <a:off x="1814170" y="2739177"/>
            <a:ext cx="2893792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87322" y="2821473"/>
            <a:ext cx="2747488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 и гарантийный талон</a:t>
            </a:r>
            <a:endParaRPr lang="en-US" sz="810" dirty="0"/>
          </a:p>
        </p:txBody>
      </p:sp>
      <p:sp>
        <p:nvSpPr>
          <p:cNvPr id="33" name="Shape 31"/>
          <p:cNvSpPr/>
          <p:nvPr/>
        </p:nvSpPr>
        <p:spPr>
          <a:xfrm>
            <a:off x="4707962" y="2739177"/>
            <a:ext cx="2351206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81114" y="2821473"/>
            <a:ext cx="220490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Добавить вложение; снять только своё, пока заявка не закрыта</a:t>
            </a:r>
            <a:endParaRPr lang="en-US" sz="810" dirty="0"/>
          </a:p>
        </p:txBody>
      </p:sp>
      <p:sp>
        <p:nvSpPr>
          <p:cNvPr id="35" name="Shape 33"/>
          <p:cNvSpPr/>
          <p:nvPr/>
        </p:nvSpPr>
        <p:spPr>
          <a:xfrm>
            <a:off x="502920" y="3130357"/>
            <a:ext cx="1311250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" y="3212653"/>
            <a:ext cx="116494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История</a:t>
            </a:r>
            <a:endParaRPr lang="en-US" sz="810" dirty="0"/>
          </a:p>
        </p:txBody>
      </p:sp>
      <p:sp>
        <p:nvSpPr>
          <p:cNvPr id="37" name="Shape 35"/>
          <p:cNvSpPr/>
          <p:nvPr/>
        </p:nvSpPr>
        <p:spPr>
          <a:xfrm>
            <a:off x="1814170" y="3130357"/>
            <a:ext cx="2893792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87322" y="3212653"/>
            <a:ext cx="2747488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Переходы, причины, правки и назначения без скрытых финансовых значений</a:t>
            </a:r>
            <a:endParaRPr lang="en-US" sz="810" dirty="0"/>
          </a:p>
        </p:txBody>
      </p:sp>
      <p:sp>
        <p:nvSpPr>
          <p:cNvPr id="39" name="Shape 37"/>
          <p:cNvSpPr/>
          <p:nvPr/>
        </p:nvSpPr>
        <p:spPr>
          <a:xfrm>
            <a:off x="4707962" y="3130357"/>
            <a:ext cx="2351206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81114" y="3212653"/>
            <a:ext cx="220490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Читать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502920" y="3649553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" y="3777569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нет вкладки «Объём работ» и сумм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58368" y="4006169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работ, акт, счёт и стоимость относятся к внутреннему расчёту компании с исполнителем. Сервер не передаёт их аудитории заявителя — это не ошибка интерфейса.</a:t>
            </a:r>
            <a:endParaRPr lang="en-US" sz="890" dirty="0"/>
          </a:p>
        </p:txBody>
      </p:sp>
      <p:sp>
        <p:nvSpPr>
          <p:cNvPr id="44" name="Text 42"/>
          <p:cNvSpPr/>
          <p:nvPr/>
        </p:nvSpPr>
        <p:spPr>
          <a:xfrm>
            <a:off x="502920" y="4489155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Обсуждение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502920" y="4818339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2920" y="4841199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47" name="Text 45"/>
          <p:cNvSpPr/>
          <p:nvPr/>
        </p:nvSpPr>
        <p:spPr>
          <a:xfrm>
            <a:off x="813816" y="4800051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Откройте «Обсуждение» из строки или карточки заявки.</a:t>
            </a:r>
            <a:endParaRPr lang="en-US" sz="930" dirty="0"/>
          </a:p>
        </p:txBody>
      </p:sp>
      <p:sp>
        <p:nvSpPr>
          <p:cNvPr id="48" name="Shape 46"/>
          <p:cNvSpPr/>
          <p:nvPr/>
        </p:nvSpPr>
        <p:spPr>
          <a:xfrm>
            <a:off x="502920" y="5165811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2920" y="5188671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50" name="Text 48"/>
          <p:cNvSpPr/>
          <p:nvPr/>
        </p:nvSpPr>
        <p:spPr>
          <a:xfrm>
            <a:off x="813816" y="5147523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Выберите адресата: всем участникам, службе, системному администратору или сервисному центру — доступные варианты покажет портал.</a:t>
            </a:r>
            <a:endParaRPr lang="en-US" sz="930" dirty="0"/>
          </a:p>
        </p:txBody>
      </p:sp>
      <p:sp>
        <p:nvSpPr>
          <p:cNvPr id="51" name="Shape 49"/>
          <p:cNvSpPr/>
          <p:nvPr/>
        </p:nvSpPr>
        <p:spPr>
          <a:xfrm>
            <a:off x="502920" y="561697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2920" y="563983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53" name="Text 51"/>
          <p:cNvSpPr/>
          <p:nvPr/>
        </p:nvSpPr>
        <p:spPr>
          <a:xfrm>
            <a:off x="813816" y="559868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Напишите сообщение по существу и приложите файл во вкладке «Документы», если он нужен.</a:t>
            </a:r>
            <a:endParaRPr lang="en-US" sz="930" dirty="0"/>
          </a:p>
        </p:txBody>
      </p:sp>
      <p:sp>
        <p:nvSpPr>
          <p:cNvPr id="54" name="Shape 52"/>
          <p:cNvSpPr/>
          <p:nvPr/>
        </p:nvSpPr>
        <p:spPr>
          <a:xfrm>
            <a:off x="502920" y="5964448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2920" y="5987308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56" name="Text 54"/>
          <p:cNvSpPr/>
          <p:nvPr/>
        </p:nvSpPr>
        <p:spPr>
          <a:xfrm>
            <a:off x="813816" y="5946160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Синяя метка у обсуждения означает непрочитанные реплики. После закрытия заявки лента доступна только для чтения.</a:t>
            </a:r>
            <a:endParaRPr lang="en-US" sz="930" dirty="0"/>
          </a:p>
        </p:txBody>
      </p:sp>
      <p:sp>
        <p:nvSpPr>
          <p:cNvPr id="57" name="Shape 55"/>
          <p:cNvSpPr/>
          <p:nvPr/>
        </p:nvSpPr>
        <p:spPr>
          <a:xfrm>
            <a:off x="502920" y="6415613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" y="6543629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Почта — уведомление, портал — источник истины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58368" y="6772229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новых почтовых событий включается отдельно после проверки адресатов. Не ждите письмо как подтверждение: статус, документы и ответы проверяйте в карточке заявки.</a:t>
            </a:r>
            <a:endParaRPr lang="en-US" sz="8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110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ЗАЯВИТЕЛЬ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можно исправить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Кнопки могут постепенно переезжать из меню «Действия» к статусу или нужному полю. Название операции остаётся тем же.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заявителю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" y="1417320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Ошибка в описании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9224" y="1645920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 заявка «Новая» и исполнителя нет — «Редактировать». Аппарат и категорию в правке не меняют.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3863340" y="1298448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09644" y="1417320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 больше не нужна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4009644" y="1645920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 она «Новая» — «Удалить». После начала работ попросите оператора отменить её и назовите причину.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502920" y="2364547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9F0FF"/>
          </a:solidFill>
          <a:ln w="10160">
            <a:solidFill>
              <a:srgbClr val="D3AD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" y="2483419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722E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Аппарат уже перенесли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649224" y="2712019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Напишите фактическое место в заявке. Если кнопка подтверждения перемещения вам недоступна, это действие выполняет ИТ или оператор.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3863340" y="2364547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FF1F0"/>
          </a:solidFill>
          <a:ln w="10160">
            <a:solidFill>
              <a:srgbClr val="FFCC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09644" y="2483419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CF13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сделана плохо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4009644" y="2712019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 заявка «Решена», сразу напишите в обсуждении. Оператор вернёт её на доработку или остановит автоприёмку.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502920" y="3430646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6FFED"/>
          </a:solidFill>
          <a:ln w="10160">
            <a:solidFill>
              <a:srgbClr val="B7EB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3549518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389E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Сломалось снова</a:t>
            </a:r>
            <a:endParaRPr lang="en-US" sz="970" dirty="0"/>
          </a:p>
        </p:txBody>
      </p:sp>
      <p:sp>
        <p:nvSpPr>
          <p:cNvPr id="24" name="Text 22"/>
          <p:cNvSpPr/>
          <p:nvPr/>
        </p:nvSpPr>
        <p:spPr>
          <a:xfrm>
            <a:off x="649224" y="3778118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«Закрыта» создайте новую заявку. Плановая метка повторного обращения может появиться позже и ничего сама не запускает.</a:t>
            </a:r>
            <a:endParaRPr lang="en-US" sz="870" dirty="0"/>
          </a:p>
        </p:txBody>
      </p:sp>
      <p:sp>
        <p:nvSpPr>
          <p:cNvPr id="25" name="Shape 23"/>
          <p:cNvSpPr/>
          <p:nvPr/>
        </p:nvSpPr>
        <p:spPr>
          <a:xfrm>
            <a:off x="3863340" y="3430646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AFAFA"/>
          </a:solidFill>
          <a:ln w="10160">
            <a:solidFill>
              <a:srgbClr val="E7EA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09644" y="3549518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не открывается</a:t>
            </a:r>
            <a:endParaRPr lang="en-US" sz="970" dirty="0"/>
          </a:p>
        </p:txBody>
      </p:sp>
      <p:sp>
        <p:nvSpPr>
          <p:cNvPr id="27" name="Text 25"/>
          <p:cNvSpPr/>
          <p:nvPr/>
        </p:nvSpPr>
        <p:spPr>
          <a:xfrm>
            <a:off x="4009644" y="3778118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Обратитесь к администратору портала. Профиль заявителя выдаётся ролью или отдельным набором; сервисная учётка его не заменяет.</a:t>
            </a:r>
            <a:endParaRPr lang="en-US" sz="870" dirty="0"/>
          </a:p>
        </p:txBody>
      </p:sp>
      <p:sp>
        <p:nvSpPr>
          <p:cNvPr id="28" name="Text 26"/>
          <p:cNvSpPr/>
          <p:nvPr/>
        </p:nvSpPr>
        <p:spPr>
          <a:xfrm>
            <a:off x="502920" y="4496745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Короткий контроль перед отправкой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4862505"/>
            <a:ext cx="109728" cy="109728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4807641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Выбран правильный аппарат и проверено его место.</a:t>
            </a:r>
            <a:endParaRPr lang="en-US" sz="930" dirty="0"/>
          </a:p>
        </p:txBody>
      </p:sp>
      <p:sp>
        <p:nvSpPr>
          <p:cNvPr id="31" name="Shape 29"/>
          <p:cNvSpPr/>
          <p:nvPr/>
        </p:nvSpPr>
        <p:spPr>
          <a:xfrm>
            <a:off x="502920" y="5173401"/>
            <a:ext cx="109728" cy="109728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5118537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Описание объясняет симптом и влияние на работу.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502920" y="5484297"/>
            <a:ext cx="109728" cy="109728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5429433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Телефон актуален, фото читаемо, срочность обоснована.</a:t>
            </a:r>
            <a:endParaRPr lang="en-US" sz="930" dirty="0"/>
          </a:p>
        </p:txBody>
      </p:sp>
      <p:sp>
        <p:nvSpPr>
          <p:cNvPr id="35" name="Shape 33"/>
          <p:cNvSpPr/>
          <p:nvPr/>
        </p:nvSpPr>
        <p:spPr>
          <a:xfrm>
            <a:off x="502920" y="5795193"/>
            <a:ext cx="109728" cy="109728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5740329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аппарат не найден, использован именно тот маршрут, который сейчас показывает портал.</a:t>
            </a:r>
            <a:endParaRPr lang="en-US" sz="9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АВТО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Оргтехника: памятка заявителю</dc:title>
  <dc:subject>Как создать и сопровождать заявку на обслуживание оргтехники</dc:subject>
  <dc:creator>АВТО</dc:creator>
  <cp:lastModifiedBy>АВТО</cp:lastModifiedBy>
  <cp:revision>1</cp:revision>
  <dcterms:created xsi:type="dcterms:W3CDTF">2026-09-07T07:00:00Z</dcterms:created>
  <dcterms:modified xsi:type="dcterms:W3CDTF">2026-09-07T07:00:00Z</dcterms:modified>
</cp:coreProperties>
</file>