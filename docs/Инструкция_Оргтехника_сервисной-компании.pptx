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СЕРВИСНАЯ КОМПАНИЯ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сотрудник сервиса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определяется учёткой, связанной с вашей сервисной компанией, и назначением заявки этой компании.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сервисной компании · сверено 07.09.2026 · рабочая редакция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417320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9224" y="1645920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заявки, назначенные вашей компании: аппарат снимком, место, контакт, описание, обсуждение, объём работ, суммы и документы.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863340" y="1298448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9644" y="1417320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009644" y="1645920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или отклонить назначение, вести и предъявлять объём работ, прикладывать документы, закрывать выполненные работы.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02920" y="2364547"/>
            <a:ext cx="3195828" cy="1089233"/>
          </a:xfrm>
          <a:prstGeom prst="roundRect">
            <a:avLst>
              <a:gd name="adj" fmla="val 4197"/>
            </a:avLst>
          </a:prstGeom>
          <a:solidFill>
            <a:srgbClr val="FFF1F0"/>
          </a:solidFill>
          <a:ln w="10160">
            <a:solidFill>
              <a:srgbClr val="FFC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483419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CF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49224" y="2712019"/>
            <a:ext cx="2903220" cy="65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Просматривать весь парк, создавать и править заявку заказчика, назначать исполнителей, ставить срочность, откладывать, отменять или принимать свою работу.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3863340" y="2364547"/>
            <a:ext cx="3195828" cy="1089233"/>
          </a:xfrm>
          <a:prstGeom prst="roundRect">
            <a:avLst>
              <a:gd name="adj" fmla="val 4197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9644" y="2483419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Назначается компания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4009644" y="2712019"/>
            <a:ext cx="2903220" cy="65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не выбирает конкретного мастера внутри вашей организации. Все сотрудники с корректной сервисной учёткой работают от одной стороны компании.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02920" y="3581796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Безопасный вход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94755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89269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Используйте только личную учётную запись; не передавайте пароль коллегам.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425845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20358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список пуст, сначала уточните у заказчика, назначена ли заявка именно вашей компании.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02920" y="4569348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514484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видна чужая компания или чужая заявка, прекратите работу и сообщите администратору портала — это ошибка привязки доступа.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2920" y="4965649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93665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Письмо не создаёт доступ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5322265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из уведомления откроется только после назначения вашей компании. Если письмо не пришло, заявка всё равно может быть доступна в портале; проверяйте очередь.</a:t>
            </a:r>
            <a:endParaRPr lang="en-US" sz="8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СЕРВИСНАЯ КОМПАНИЯ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или отказаться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Назначенная заявка остаётся в статусе «Новая» до того, как исполнитель примет её в работу.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сервисной компании · сверено 07.09.2026 · рабочая редакция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316736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39596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813816" y="1298448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заявку и проверьте аппарат, адрес, контакт, описание, срочность и приложенные фото.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02920" y="1664208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87068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813816" y="164592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готовы выполнять — нажмите «Принять в работу». Статус станет «В работе».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2011680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34540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13816" y="1993392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выполнить нельзя — нажмите «Отказаться от заявки» и укажите конкретную причину.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02920" y="2359152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82012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13816" y="2340864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сервисной учётки снимает назначение всей компании, а не одного сотрудника.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29484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13816" y="2688336"/>
            <a:ext cx="6245352" cy="39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начала работ отказаться этой кнопкой нельзя: сообщите оператору в обсуждении, чтобы он изменил исполнителей или вернул заявку.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3157789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285805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может быть в двух местах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514405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новых экранах «Принять в работу» выводится быстрой кнопкой рядом со статусом. Во время поэтапного выката она может оставаться только в меню «Действия».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502920" y="3997391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выездом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436315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308287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Свяжитесь с заявителем по номеру из карточки и согласуйте доступ.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02920" y="467404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619183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Сверьте серийный и инвентарный номера на месте; при расхождении не подменяйте аппарат в заявке, а сообщите оператору.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51069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052060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аппарат уже перемещён, напишите фактическое место в обсуждении. Карточку парка меняет ИТ или оператор.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02920" y="553980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484937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требуется гарантийный выезд, проверьте указанный источник гарантии до платных работ.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СЕРВИСНАЯ КОМПАНИЯ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работ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готовит расчёт, но не согласует его сам. Предъявление создаёт ревизию и оставляет заявку «В работе».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сервисной компании · сверено 07.09.2026 · рабочая редакция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316736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39596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813816" y="1298448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вкладку «Объём работ» или одноимённое действие.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02920" y="1664208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87068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813816" y="1645920"/>
            <a:ext cx="6245352" cy="39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Добавьте услуги и детали: наименование, количество, цену и гарантийный срок в месяцах, если он предоставляется.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2115373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38233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13816" y="2097085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итог и приложите файл вида «Объём работ», если расчёт оформлен отдельным документом.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02920" y="2462845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85705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13816" y="2444557"/>
            <a:ext cx="6245352" cy="39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Нажмите «Предъявить объём работ». Пока он ждёт решения, менять строки или повторно предъявлять нельзя.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2914010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36870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13816" y="2895722"/>
            <a:ext cx="6245352" cy="39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согласования выполняйте работы. При возврате в правку исправьте строки и предъявите новую ревизию.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3365175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1F0"/>
          </a:solidFill>
          <a:ln w="10160">
            <a:solidFill>
              <a:srgbClr val="FFCC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493191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F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согласовывайте собственный расчёт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721791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сервисной компании действий «Согласовать» и «Не согласовать» быть не должно. Решение принимает сторона заказчика. Если кнопка появилась, не нажимайте её и сообщите администратору.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502920" y="4204777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объём работ не нужен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4515673"/>
            <a:ext cx="6556248" cy="59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заявки вида «Расходники» вкладки с расчётом нет: предметом служит номенклатура. Если такая заявка назначена сервису и нужного действия нет, уточните маршрут у оператора — основной внешний сценарий рассчитан на обслуживание.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5157125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522885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468021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Адресуйте вопросы заявителю, оператору или всем участникам.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583378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778917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Фиксируйте согласованные изменения состава работ в портале, а не только по телефону.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02920" y="614467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608981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закрытия обсуждение читается, но новые реплики не добавляются.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СЕРВИСНАЯ КОМПАНИЯ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закрытие работ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Внешнее обслуживание нельзя перевести в «Решена», пока не приложен хотя бы один закрывающий документ.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сервисной компании · сверено 07.09.2026 · рабочая редакция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1481892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389888"/>
            <a:ext cx="13355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файла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84812" y="1298448"/>
            <a:ext cx="3367936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964" y="1389888"/>
            <a:ext cx="3221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использовать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52747" y="1298448"/>
            <a:ext cx="1706421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5899" y="1389888"/>
            <a:ext cx="156011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Считается закрывающим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1645920"/>
            <a:ext cx="1481892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728216"/>
            <a:ext cx="1335588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Вложение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1984812" y="1645920"/>
            <a:ext cx="3367936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964" y="1728216"/>
            <a:ext cx="3221632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до/после, техническое заключение без финансового назначения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5352747" y="1645920"/>
            <a:ext cx="1706421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5899" y="1728216"/>
            <a:ext cx="1560117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502920" y="2037100"/>
            <a:ext cx="1481892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119396"/>
            <a:ext cx="133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работ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1984812" y="2037100"/>
            <a:ext cx="3367936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964" y="2119396"/>
            <a:ext cx="322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или коммерческое предложение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5352747" y="2037100"/>
            <a:ext cx="1706421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5899" y="2119396"/>
            <a:ext cx="1560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02920" y="2421148"/>
            <a:ext cx="1481892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503444"/>
            <a:ext cx="133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984812" y="2421148"/>
            <a:ext cx="3367936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964" y="2503444"/>
            <a:ext cx="322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Подтверждение выполненных работ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5352747" y="2421148"/>
            <a:ext cx="1706421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5899" y="2503444"/>
            <a:ext cx="1560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502920" y="2805196"/>
            <a:ext cx="1481892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887492"/>
            <a:ext cx="133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1984812" y="2805196"/>
            <a:ext cx="3367936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964" y="2887492"/>
            <a:ext cx="322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на оплату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5352747" y="2805196"/>
            <a:ext cx="1706421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25899" y="2887492"/>
            <a:ext cx="1560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502920" y="3189244"/>
            <a:ext cx="1481892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3271540"/>
            <a:ext cx="133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Гарантийный талон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1984812" y="3189244"/>
            <a:ext cx="3367936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57964" y="3271540"/>
            <a:ext cx="322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Подтверждение гарантии результата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5352747" y="3189244"/>
            <a:ext cx="1706421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25899" y="3271540"/>
            <a:ext cx="1560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810" dirty="0"/>
          </a:p>
        </p:txBody>
      </p:sp>
      <p:sp>
        <p:nvSpPr>
          <p:cNvPr id="46" name="Text 44"/>
          <p:cNvSpPr/>
          <p:nvPr/>
        </p:nvSpPr>
        <p:spPr>
          <a:xfrm>
            <a:off x="502920" y="3701308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работы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4030492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053352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813816" y="4012204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Приложите хотя бы акт, счёт или гарантийный талон и выберите правильный вид файла.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502920" y="4377964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400824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813816" y="4359676"/>
            <a:ext cx="6245352" cy="39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«Закрыть работы». Если действие неактивно, наведите на него: портал назовёт недостающий документ.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502920" y="4829129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851989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813816" y="4810841"/>
            <a:ext cx="6245352" cy="39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Отметьте, что выполнено полностью, частично или не выполнено; укажите фактические суммы и скидку с причиной, если она была.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502920" y="5280294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303154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30" dirty="0"/>
          </a:p>
        </p:txBody>
      </p:sp>
      <p:sp>
        <p:nvSpPr>
          <p:cNvPr id="58" name="Text 56"/>
          <p:cNvSpPr/>
          <p:nvPr/>
        </p:nvSpPr>
        <p:spPr>
          <a:xfrm>
            <a:off x="813816" y="5262006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гарантийные даты и отправьте результат. Заявка перейдёт в «Решена».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502920" y="5627766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5755782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можно добавить позже, удалить — не всегда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8368" y="5984382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Закрывающие документы разрешено подшивать и после приёмки, если бумага пришла позднее. Удаление после закрытия ограничено; ошибочный файл не заменяйте молча — согласуйте исправление с оператором.</a:t>
            </a:r>
            <a:endParaRPr lang="en-US" sz="8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СЕРВИСНАЯ КОМПАНИЯ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выполнения и гарантия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«Решена» заявку принимает оператор либо портал автоматически через 24 часа.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сервисной компании · сверено 07.09.2026 · рабочая редакция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417320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принята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9224" y="1645920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«Закрыта». Карточка остаётся в истории, документы доступны по правилам роли.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863340" y="1298448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9644" y="1417320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Вернули на доработку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009644" y="1645920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снова «В работе». Прочитайте причину, проверьте состав и гарантийные даты, затем закройте повторно.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02920" y="2364547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483419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Автоприёмка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49224" y="2712019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24 часа после последнего перехода в «Решена», если заявка не отложена и обязательный документ на месте.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3863340" y="2364547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FF1F0"/>
          </a:solidFill>
          <a:ln w="10160">
            <a:solidFill>
              <a:srgbClr val="FFCC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9644" y="2483419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CF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 по результату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4009644" y="2712019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закрывайте новую заявку вместо исправления. Работайте в возвращённой заявке, чтобы история и гарантия остались связаны.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02920" y="3430646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Гарантийные обязательства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79640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74154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Гарантийный срок по строке работ указывайте только для фактически выполненного результата.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410730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052438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повторном закрытии портал пересчитывает даты; проверьте их заново после возврата на доработку.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02920" y="4540179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485315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Исправление ошибочной даты и расширенная выгрузка реестра ещё вводятся отдельной волной. До появления действия обращайтесь к оператору.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2920" y="4936480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64496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полагайтесь только на электронную почту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5293096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уведомления по статусам, документам и обсуждению включаются после проверки адресатов. Очередь заявок и карточка в портале остаются основным источником.</a:t>
            </a:r>
            <a:endParaRPr lang="en-US" sz="8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СЕРВИСНАЯ КОМПАНИЯ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проблемы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обращением в поддержку обновите карточку: параллельная правка могла изменить версию заявки.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сервисной компании · сверено 07.09.2026 · рабочая редакция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1796232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389888"/>
            <a:ext cx="164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99152" y="1298448"/>
            <a:ext cx="2245290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2304" y="1389888"/>
            <a:ext cx="209898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44443" y="1298448"/>
            <a:ext cx="2514725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595" y="1389888"/>
            <a:ext cx="23684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1645920"/>
            <a:ext cx="1796232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728216"/>
            <a:ext cx="1649928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не видна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2299152" y="1645920"/>
            <a:ext cx="2245290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2304" y="1728216"/>
            <a:ext cx="209898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Назначена ли ваша компания; верно ли привязан контрагент учётки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4544443" y="1645920"/>
            <a:ext cx="2514725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595" y="1728216"/>
            <a:ext cx="2368421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Попросить оператора проверить назначение; затем администратора — привязку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502920" y="2037100"/>
            <a:ext cx="1796232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119396"/>
            <a:ext cx="1649928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«Принять в работу»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2299152" y="2037100"/>
            <a:ext cx="2245290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2304" y="2119396"/>
            <a:ext cx="209898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«Новая» и назначение вашей компании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544443" y="2037100"/>
            <a:ext cx="2514725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595" y="2119396"/>
            <a:ext cx="2368421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«Действия»; обновить карточку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02920" y="2428281"/>
            <a:ext cx="1796232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510577"/>
            <a:ext cx="1649928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редактируется объём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2299152" y="2428281"/>
            <a:ext cx="2245290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2304" y="2510577"/>
            <a:ext cx="209898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предъявлена ли ревизия на согласование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4544443" y="2428281"/>
            <a:ext cx="2514725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595" y="2510577"/>
            <a:ext cx="2368421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Дождаться решения или попросить вернуть в правку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502920" y="2819461"/>
            <a:ext cx="1796232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901757"/>
            <a:ext cx="1649928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«Закрыть работы» неактивно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299152" y="2819461"/>
            <a:ext cx="2245290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2304" y="2901757"/>
            <a:ext cx="209898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акт, счёт или гарантийный талон с правильным видом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4544443" y="2819461"/>
            <a:ext cx="2514725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595" y="2901757"/>
            <a:ext cx="2368421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Подшить документ и обновить карточку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502920" y="3210641"/>
            <a:ext cx="1796232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3292937"/>
            <a:ext cx="1649928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сменить аппарат/адрес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2299152" y="3210641"/>
            <a:ext cx="2245290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2304" y="3292937"/>
            <a:ext cx="209898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право сервиса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4544443" y="3210641"/>
            <a:ext cx="2514725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595" y="3292937"/>
            <a:ext cx="2368421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Сообщить фактические данные оператору в обсуждении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502920" y="3601822"/>
            <a:ext cx="1796232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3684118"/>
            <a:ext cx="16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версии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2299152" y="3601822"/>
            <a:ext cx="2245290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2304" y="3684118"/>
            <a:ext cx="2098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Кто-то изменил заявку после открытия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4544443" y="3601822"/>
            <a:ext cx="2514725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595" y="3684118"/>
            <a:ext cx="2368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Обновить данные и повторить осознанно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502920" y="4113886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сообщить поддержке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02920" y="447964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442478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 заявки, время, название действия и полный текст ошибки.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502920" y="479054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73567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каком устройстве и в каком браузере воспроизвелось.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502920" y="5101438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5046574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 только своей заявки; не пересылать пароли, токены и персональные данные чужих заявок.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АВТО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Оргтехника: инструкция сервисной компании</dc:title>
  <dc:subject>Работа сотрудников внешней сервисной компании с назначенными заявками оргтехники</dc:subject>
  <dc:creator>АВТО</dc:creator>
  <cp:lastModifiedBy>АВТО</cp:lastModifiedBy>
  <cp:revision>1</cp:revision>
  <dcterms:created xsi:type="dcterms:W3CDTF">2026-09-07T07:00:00Z</dcterms:created>
  <dcterms:modified xsi:type="dcterms:W3CDTF">2026-09-07T07:00:00Z</dcterms:modified>
</cp:coreProperties>
</file>