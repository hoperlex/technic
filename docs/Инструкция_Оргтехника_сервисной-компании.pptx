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СЕРВИСНАЯ КОМПАНИЯ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Очередь сервисной компании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Сервис видит только заявки, назначенные его компании. Письмо сообщает о назначении, но доступ создаёт портал.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Инструкция сервисной компании · актуальная версия приложения · редакция 3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4279392" cy="4160520"/>
          </a:xfrm>
          <a:prstGeom prst="roundRect">
            <a:avLst>
              <a:gd name="adj" fmla="val 879"/>
            </a:avLst>
          </a:prstGeom>
          <a:solidFill>
            <a:srgbClr val="F5F7FB"/>
          </a:solidFill>
          <a:ln w="8890">
            <a:solidFill>
              <a:srgbClr val="E7EA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" y="1371600"/>
            <a:ext cx="40599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9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АКТУАЛЬНЫЙ ЭКРАН · ДЕМОНСТРАЦИОННЫЕ ДАННЫЕ</a:t>
            </a:r>
            <a:endParaRPr lang="en-US" sz="590" dirty="0"/>
          </a:p>
        </p:txBody>
      </p:sp>
      <p:pic>
        <p:nvPicPr>
          <p:cNvPr id="12" name="Image 0" descr="/root/projects/technic/docs/image/office-equipment-latest/requests-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835148"/>
            <a:ext cx="4133088" cy="3279144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946904" y="1298448"/>
            <a:ext cx="2112264" cy="1319784"/>
          </a:xfrm>
          <a:prstGeom prst="roundRect">
            <a:avLst>
              <a:gd name="adj" fmla="val 2771"/>
            </a:avLst>
          </a:prstGeom>
          <a:solidFill>
            <a:srgbClr val="F0F7FF"/>
          </a:solidFill>
          <a:ln w="8890">
            <a:solidFill>
              <a:srgbClr val="BAE0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56632" y="1408176"/>
            <a:ext cx="256032" cy="25603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56632" y="1440180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20" dirty="0"/>
          </a:p>
        </p:txBody>
      </p:sp>
      <p:sp>
        <p:nvSpPr>
          <p:cNvPr id="16" name="Text 13"/>
          <p:cNvSpPr/>
          <p:nvPr/>
        </p:nvSpPr>
        <p:spPr>
          <a:xfrm>
            <a:off x="5394960" y="138074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Откройте «Ждут меня»</a:t>
            </a:r>
            <a:endParaRPr lang="en-US" sz="780" dirty="0"/>
          </a:p>
        </p:txBody>
      </p:sp>
      <p:sp>
        <p:nvSpPr>
          <p:cNvPr id="17" name="Text 14"/>
          <p:cNvSpPr/>
          <p:nvPr/>
        </p:nvSpPr>
        <p:spPr>
          <a:xfrm>
            <a:off x="5394960" y="1609344"/>
            <a:ext cx="155448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Проверьте новые назначения, срочность, место, контакт и приложенные фото.</a:t>
            </a:r>
            <a:endParaRPr lang="en-US" sz="670" dirty="0"/>
          </a:p>
        </p:txBody>
      </p:sp>
      <p:sp>
        <p:nvSpPr>
          <p:cNvPr id="18" name="Shape 15"/>
          <p:cNvSpPr/>
          <p:nvPr/>
        </p:nvSpPr>
        <p:spPr>
          <a:xfrm>
            <a:off x="4946904" y="2718816"/>
            <a:ext cx="2112264" cy="1319784"/>
          </a:xfrm>
          <a:prstGeom prst="roundRect">
            <a:avLst>
              <a:gd name="adj" fmla="val 2771"/>
            </a:avLst>
          </a:prstGeom>
          <a:solidFill>
            <a:srgbClr val="FFF7E6"/>
          </a:solidFill>
          <a:ln w="8890">
            <a:solidFill>
              <a:srgbClr val="FFD59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56632" y="2828544"/>
            <a:ext cx="256032" cy="256032"/>
          </a:xfrm>
          <a:prstGeom prst="ellipse">
            <a:avLst/>
          </a:prstGeom>
          <a:solidFill>
            <a:srgbClr val="D46B08"/>
          </a:solidFill>
          <a:ln w="12700">
            <a:solidFill>
              <a:srgbClr val="D46B0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56632" y="2860548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20" dirty="0"/>
          </a:p>
        </p:txBody>
      </p:sp>
      <p:sp>
        <p:nvSpPr>
          <p:cNvPr id="21" name="Text 18"/>
          <p:cNvSpPr/>
          <p:nvPr/>
        </p:nvSpPr>
        <p:spPr>
          <a:xfrm>
            <a:off x="5394960" y="28011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Читайте ожидание</a:t>
            </a:r>
            <a:endParaRPr lang="en-US" sz="780" dirty="0"/>
          </a:p>
        </p:txBody>
      </p:sp>
      <p:sp>
        <p:nvSpPr>
          <p:cNvPr id="22" name="Text 19"/>
          <p:cNvSpPr/>
          <p:nvPr/>
        </p:nvSpPr>
        <p:spPr>
          <a:xfrm>
            <a:off x="5394960" y="3029712"/>
            <a:ext cx="155448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старта статус остаётся «Новая», а подпись говорит «Ждёт исполнителя».</a:t>
            </a:r>
            <a:endParaRPr lang="en-US" sz="670" dirty="0"/>
          </a:p>
        </p:txBody>
      </p:sp>
      <p:sp>
        <p:nvSpPr>
          <p:cNvPr id="23" name="Shape 20"/>
          <p:cNvSpPr/>
          <p:nvPr/>
        </p:nvSpPr>
        <p:spPr>
          <a:xfrm>
            <a:off x="4946904" y="4139184"/>
            <a:ext cx="2112264" cy="1319784"/>
          </a:xfrm>
          <a:prstGeom prst="roundRect">
            <a:avLst>
              <a:gd name="adj" fmla="val 2771"/>
            </a:avLst>
          </a:prstGeom>
          <a:solidFill>
            <a:srgbClr val="F6FFED"/>
          </a:solidFill>
          <a:ln w="8890">
            <a:solidFill>
              <a:srgbClr val="B7EB8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056632" y="4248912"/>
            <a:ext cx="256032" cy="256032"/>
          </a:xfrm>
          <a:prstGeom prst="ellipse">
            <a:avLst/>
          </a:prstGeom>
          <a:solidFill>
            <a:srgbClr val="389E0D"/>
          </a:solidFill>
          <a:ln w="12700">
            <a:solidFill>
              <a:srgbClr val="389E0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056632" y="4280916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20" dirty="0"/>
          </a:p>
        </p:txBody>
      </p:sp>
      <p:sp>
        <p:nvSpPr>
          <p:cNvPr id="26" name="Text 23"/>
          <p:cNvSpPr/>
          <p:nvPr/>
        </p:nvSpPr>
        <p:spPr>
          <a:xfrm>
            <a:off x="5394960" y="42214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Примите заявку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5394960" y="4450080"/>
            <a:ext cx="155448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Быстрая кнопка и меню «Действия» вызывают одну и ту же операцию.</a:t>
            </a:r>
            <a:endParaRPr lang="en-US" sz="670" dirty="0"/>
          </a:p>
        </p:txBody>
      </p:sp>
      <p:sp>
        <p:nvSpPr>
          <p:cNvPr id="28" name="Shape 25"/>
          <p:cNvSpPr/>
          <p:nvPr/>
        </p:nvSpPr>
        <p:spPr>
          <a:xfrm>
            <a:off x="502920" y="5623560"/>
            <a:ext cx="3195828" cy="938083"/>
          </a:xfrm>
          <a:prstGeom prst="roundRect">
            <a:avLst>
              <a:gd name="adj" fmla="val 4874"/>
            </a:avLst>
          </a:prstGeom>
          <a:solidFill>
            <a:srgbClr val="F6FFED"/>
          </a:solidFill>
          <a:ln w="10160">
            <a:solidFill>
              <a:srgbClr val="B7EB8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9224" y="5742432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389E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Видно</a:t>
            </a:r>
            <a:endParaRPr lang="en-US" sz="970" dirty="0"/>
          </a:p>
        </p:txBody>
      </p:sp>
      <p:sp>
        <p:nvSpPr>
          <p:cNvPr id="30" name="Text 27"/>
          <p:cNvSpPr/>
          <p:nvPr/>
        </p:nvSpPr>
        <p:spPr>
          <a:xfrm>
            <a:off x="649224" y="5971032"/>
            <a:ext cx="2903220" cy="499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Назначенные компании заявки, аппарат, контакт, файлы, история и адресованные сервису реплики.</a:t>
            </a:r>
            <a:endParaRPr lang="en-US" sz="870" dirty="0"/>
          </a:p>
        </p:txBody>
      </p:sp>
      <p:sp>
        <p:nvSpPr>
          <p:cNvPr id="31" name="Shape 28"/>
          <p:cNvSpPr/>
          <p:nvPr/>
        </p:nvSpPr>
        <p:spPr>
          <a:xfrm>
            <a:off x="3863340" y="5623560"/>
            <a:ext cx="3195828" cy="938083"/>
          </a:xfrm>
          <a:prstGeom prst="roundRect">
            <a:avLst>
              <a:gd name="adj" fmla="val 4874"/>
            </a:avLst>
          </a:prstGeom>
          <a:solidFill>
            <a:srgbClr val="FFF1F0"/>
          </a:solidFill>
          <a:ln w="10160">
            <a:solidFill>
              <a:srgbClr val="FFCCC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009644" y="5742432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CF13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видно</a:t>
            </a:r>
            <a:endParaRPr lang="en-US" sz="970" dirty="0"/>
          </a:p>
        </p:txBody>
      </p:sp>
      <p:sp>
        <p:nvSpPr>
          <p:cNvPr id="33" name="Text 30"/>
          <p:cNvSpPr/>
          <p:nvPr/>
        </p:nvSpPr>
        <p:spPr>
          <a:xfrm>
            <a:off x="4009644" y="5971032"/>
            <a:ext cx="2903220" cy="499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Чужие заявки, внутренние учётки ИТ, административные справочники и неадресованные реплики.</a:t>
            </a:r>
            <a:endParaRPr lang="en-US" sz="870" dirty="0"/>
          </a:p>
        </p:txBody>
      </p:sp>
      <p:sp>
        <p:nvSpPr>
          <p:cNvPr id="34" name="Shape 31"/>
          <p:cNvSpPr/>
          <p:nvPr/>
        </p:nvSpPr>
        <p:spPr>
          <a:xfrm>
            <a:off x="502920" y="6689659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FF7E6"/>
          </a:solidFill>
          <a:ln w="10160">
            <a:solidFill>
              <a:srgbClr val="FFD59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58368" y="6817675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6B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Адрес компании — не учётная запись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58368" y="7046275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Уведомление приходит на общий ящик сервиса. Работайте в портале под своей учёткой, связанной с компанией.</a:t>
            </a:r>
            <a:endParaRPr lang="en-US" sz="89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СЕРВИСНАЯ КОМПАНИЯ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Принять или отказаться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начала работ проверьте предмет, место, доступ и гарантийный источник.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Инструкция сервисной компании · актуальная версия приложения · редакция 3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4279392" cy="4160520"/>
          </a:xfrm>
          <a:prstGeom prst="roundRect">
            <a:avLst>
              <a:gd name="adj" fmla="val 879"/>
            </a:avLst>
          </a:prstGeom>
          <a:solidFill>
            <a:srgbClr val="F5F7FB"/>
          </a:solidFill>
          <a:ln w="8890">
            <a:solidFill>
              <a:srgbClr val="E7EA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" y="1371600"/>
            <a:ext cx="40599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9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АКТУАЛЬНЫЙ ЭКРАН · ДЕМОНСТРАЦИОННЫЕ ДАННЫЕ</a:t>
            </a:r>
            <a:endParaRPr lang="en-US" sz="590" dirty="0"/>
          </a:p>
        </p:txBody>
      </p:sp>
      <p:pic>
        <p:nvPicPr>
          <p:cNvPr id="12" name="Image 0" descr="/root/projects/technic/docs/image/office-equipment-latest/request-card-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2371186"/>
            <a:ext cx="4133088" cy="2207069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946904" y="1298448"/>
            <a:ext cx="2112264" cy="1319784"/>
          </a:xfrm>
          <a:prstGeom prst="roundRect">
            <a:avLst>
              <a:gd name="adj" fmla="val 2771"/>
            </a:avLst>
          </a:prstGeom>
          <a:solidFill>
            <a:srgbClr val="F0F7FF"/>
          </a:solidFill>
          <a:ln w="8890">
            <a:solidFill>
              <a:srgbClr val="BAE0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56632" y="1408176"/>
            <a:ext cx="256032" cy="25603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56632" y="1440180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20" dirty="0"/>
          </a:p>
        </p:txBody>
      </p:sp>
      <p:sp>
        <p:nvSpPr>
          <p:cNvPr id="16" name="Text 13"/>
          <p:cNvSpPr/>
          <p:nvPr/>
        </p:nvSpPr>
        <p:spPr>
          <a:xfrm>
            <a:off x="5394960" y="138074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Откройте карточку</a:t>
            </a:r>
            <a:endParaRPr lang="en-US" sz="780" dirty="0"/>
          </a:p>
        </p:txBody>
      </p:sp>
      <p:sp>
        <p:nvSpPr>
          <p:cNvPr id="17" name="Text 14"/>
          <p:cNvSpPr/>
          <p:nvPr/>
        </p:nvSpPr>
        <p:spPr>
          <a:xfrm>
            <a:off x="5394960" y="1609344"/>
            <a:ext cx="155448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Сверьте модель, номера, фактическое место, заявителя и описание.</a:t>
            </a:r>
            <a:endParaRPr lang="en-US" sz="670" dirty="0"/>
          </a:p>
        </p:txBody>
      </p:sp>
      <p:sp>
        <p:nvSpPr>
          <p:cNvPr id="18" name="Shape 15"/>
          <p:cNvSpPr/>
          <p:nvPr/>
        </p:nvSpPr>
        <p:spPr>
          <a:xfrm>
            <a:off x="4946904" y="2718816"/>
            <a:ext cx="2112264" cy="1319784"/>
          </a:xfrm>
          <a:prstGeom prst="roundRect">
            <a:avLst>
              <a:gd name="adj" fmla="val 2771"/>
            </a:avLst>
          </a:prstGeom>
          <a:solidFill>
            <a:srgbClr val="F9F0FF"/>
          </a:solidFill>
          <a:ln w="8890">
            <a:solidFill>
              <a:srgbClr val="D3ADF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56632" y="2828544"/>
            <a:ext cx="256032" cy="256032"/>
          </a:xfrm>
          <a:prstGeom prst="ellipse">
            <a:avLst/>
          </a:prstGeom>
          <a:solidFill>
            <a:srgbClr val="722ED1"/>
          </a:solidFill>
          <a:ln w="12700">
            <a:solidFill>
              <a:srgbClr val="722ED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56632" y="2860548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20" dirty="0"/>
          </a:p>
        </p:txBody>
      </p:sp>
      <p:sp>
        <p:nvSpPr>
          <p:cNvPr id="21" name="Text 18"/>
          <p:cNvSpPr/>
          <p:nvPr/>
        </p:nvSpPr>
        <p:spPr>
          <a:xfrm>
            <a:off x="5394960" y="28011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Сверьте назначение</a:t>
            </a:r>
            <a:endParaRPr lang="en-US" sz="780" dirty="0"/>
          </a:p>
        </p:txBody>
      </p:sp>
      <p:sp>
        <p:nvSpPr>
          <p:cNvPr id="22" name="Text 19"/>
          <p:cNvSpPr/>
          <p:nvPr/>
        </p:nvSpPr>
        <p:spPr>
          <a:xfrm>
            <a:off x="5394960" y="3029712"/>
            <a:ext cx="155448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Компания назначается целиком; отказ снимает всю компанию с заявки.</a:t>
            </a:r>
            <a:endParaRPr lang="en-US" sz="670" dirty="0"/>
          </a:p>
        </p:txBody>
      </p:sp>
      <p:sp>
        <p:nvSpPr>
          <p:cNvPr id="23" name="Shape 20"/>
          <p:cNvSpPr/>
          <p:nvPr/>
        </p:nvSpPr>
        <p:spPr>
          <a:xfrm>
            <a:off x="4946904" y="4139184"/>
            <a:ext cx="2112264" cy="1319784"/>
          </a:xfrm>
          <a:prstGeom prst="roundRect">
            <a:avLst>
              <a:gd name="adj" fmla="val 2771"/>
            </a:avLst>
          </a:prstGeom>
          <a:solidFill>
            <a:srgbClr val="F6FFED"/>
          </a:solidFill>
          <a:ln w="8890">
            <a:solidFill>
              <a:srgbClr val="B7EB8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056632" y="4248912"/>
            <a:ext cx="256032" cy="256032"/>
          </a:xfrm>
          <a:prstGeom prst="ellipse">
            <a:avLst/>
          </a:prstGeom>
          <a:solidFill>
            <a:srgbClr val="389E0D"/>
          </a:solidFill>
          <a:ln w="12700">
            <a:solidFill>
              <a:srgbClr val="389E0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056632" y="4280916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20" dirty="0"/>
          </a:p>
        </p:txBody>
      </p:sp>
      <p:sp>
        <p:nvSpPr>
          <p:cNvPr id="26" name="Text 23"/>
          <p:cNvSpPr/>
          <p:nvPr/>
        </p:nvSpPr>
        <p:spPr>
          <a:xfrm>
            <a:off x="5394960" y="42214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Свяжитесь с заявителем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5394960" y="4450080"/>
            <a:ext cx="155448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Согласуйте доступ и время; итог договорённости запишите в обсуждении.</a:t>
            </a:r>
            <a:endParaRPr lang="en-US" sz="670" dirty="0"/>
          </a:p>
        </p:txBody>
      </p:sp>
      <p:sp>
        <p:nvSpPr>
          <p:cNvPr id="28" name="Shape 25"/>
          <p:cNvSpPr/>
          <p:nvPr/>
        </p:nvSpPr>
        <p:spPr>
          <a:xfrm>
            <a:off x="502920" y="5641848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02920" y="5664708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30" dirty="0"/>
          </a:p>
        </p:txBody>
      </p:sp>
      <p:sp>
        <p:nvSpPr>
          <p:cNvPr id="30" name="Text 27"/>
          <p:cNvSpPr/>
          <p:nvPr/>
        </p:nvSpPr>
        <p:spPr>
          <a:xfrm>
            <a:off x="813816" y="5623560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Готовы выполнять — нажмите «Принять в работу»: статус станет «В работе».</a:t>
            </a:r>
            <a:endParaRPr lang="en-US" sz="930" dirty="0"/>
          </a:p>
        </p:txBody>
      </p:sp>
      <p:sp>
        <p:nvSpPr>
          <p:cNvPr id="31" name="Shape 28"/>
          <p:cNvSpPr/>
          <p:nvPr/>
        </p:nvSpPr>
        <p:spPr>
          <a:xfrm>
            <a:off x="502920" y="5989320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02920" y="6012180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30" dirty="0"/>
          </a:p>
        </p:txBody>
      </p:sp>
      <p:sp>
        <p:nvSpPr>
          <p:cNvPr id="33" name="Text 30"/>
          <p:cNvSpPr/>
          <p:nvPr/>
        </p:nvSpPr>
        <p:spPr>
          <a:xfrm>
            <a:off x="813816" y="5971032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Выполнить нельзя — «Отказаться от заявки» и укажите конкретную причину.</a:t>
            </a:r>
            <a:endParaRPr lang="en-US" sz="930" dirty="0"/>
          </a:p>
        </p:txBody>
      </p:sp>
      <p:sp>
        <p:nvSpPr>
          <p:cNvPr id="34" name="Shape 31"/>
          <p:cNvSpPr/>
          <p:nvPr/>
        </p:nvSpPr>
        <p:spPr>
          <a:xfrm>
            <a:off x="502920" y="6336792"/>
            <a:ext cx="210312" cy="21031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02920" y="6359652"/>
            <a:ext cx="2103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30" dirty="0"/>
          </a:p>
        </p:txBody>
      </p:sp>
      <p:sp>
        <p:nvSpPr>
          <p:cNvPr id="36" name="Text 33"/>
          <p:cNvSpPr/>
          <p:nvPr/>
        </p:nvSpPr>
        <p:spPr>
          <a:xfrm>
            <a:off x="813816" y="6318504"/>
            <a:ext cx="6245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начала работ отказ этой кнопкой закрыт: сообщите оператору, чтобы он изменил состав.</a:t>
            </a:r>
            <a:endParaRPr lang="en-US" sz="930" dirty="0"/>
          </a:p>
        </p:txBody>
      </p:sp>
      <p:sp>
        <p:nvSpPr>
          <p:cNvPr id="37" name="Shape 34"/>
          <p:cNvSpPr/>
          <p:nvPr/>
        </p:nvSpPr>
        <p:spPr>
          <a:xfrm>
            <a:off x="502920" y="6684264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FF7E6"/>
          </a:solidFill>
          <a:ln w="10160">
            <a:solidFill>
              <a:srgbClr val="FFD59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58368" y="6812280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6B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подменяйте аппарат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58368" y="7040880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расхождении серийного или инвентарного номера остановитесь и напишите оператору. Фактическое место фиксируйте в обсуждении.</a:t>
            </a:r>
            <a:endParaRPr lang="en-US" sz="89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СЕРВИСНАЯ КОМПАНИЯ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Составить объём работ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Строки — план работ и материалов. Предъявление создаёт ревизию и переводит ожидание к согласующему.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Инструкция сервисной компании · актуальная версия приложения · редакция 3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4279392" cy="4160520"/>
          </a:xfrm>
          <a:prstGeom prst="roundRect">
            <a:avLst>
              <a:gd name="adj" fmla="val 879"/>
            </a:avLst>
          </a:prstGeom>
          <a:solidFill>
            <a:srgbClr val="F5F7FB"/>
          </a:solidFill>
          <a:ln w="8890">
            <a:solidFill>
              <a:srgbClr val="E7EA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" y="1371600"/>
            <a:ext cx="40599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9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АКТУАЛЬНЫЙ ЭКРАН · ДЕМОНСТРАЦИОННЫЕ ДАННЫЕ</a:t>
            </a:r>
            <a:endParaRPr lang="en-US" sz="590" dirty="0"/>
          </a:p>
        </p:txBody>
      </p:sp>
      <p:pic>
        <p:nvPicPr>
          <p:cNvPr id="12" name="Image 0" descr="/root/projects/technic/docs/image/office-equipment-latest/estimate-edi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2321300"/>
            <a:ext cx="4133088" cy="23068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946904" y="1298448"/>
            <a:ext cx="2112264" cy="1319784"/>
          </a:xfrm>
          <a:prstGeom prst="roundRect">
            <a:avLst>
              <a:gd name="adj" fmla="val 2771"/>
            </a:avLst>
          </a:prstGeom>
          <a:solidFill>
            <a:srgbClr val="F0F7FF"/>
          </a:solidFill>
          <a:ln w="8890">
            <a:solidFill>
              <a:srgbClr val="BAE0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56632" y="1408176"/>
            <a:ext cx="256032" cy="25603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56632" y="1440180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20" dirty="0"/>
          </a:p>
        </p:txBody>
      </p:sp>
      <p:sp>
        <p:nvSpPr>
          <p:cNvPr id="16" name="Text 13"/>
          <p:cNvSpPr/>
          <p:nvPr/>
        </p:nvSpPr>
        <p:spPr>
          <a:xfrm>
            <a:off x="5394960" y="138074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Заполните строки</a:t>
            </a:r>
            <a:endParaRPr lang="en-US" sz="780" dirty="0"/>
          </a:p>
        </p:txBody>
      </p:sp>
      <p:sp>
        <p:nvSpPr>
          <p:cNvPr id="17" name="Text 14"/>
          <p:cNvSpPr/>
          <p:nvPr/>
        </p:nvSpPr>
        <p:spPr>
          <a:xfrm>
            <a:off x="5394960" y="1609344"/>
            <a:ext cx="155448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Название, количество, цена и сумма должны позволять понять, за что платят.</a:t>
            </a:r>
            <a:endParaRPr lang="en-US" sz="670" dirty="0"/>
          </a:p>
        </p:txBody>
      </p:sp>
      <p:sp>
        <p:nvSpPr>
          <p:cNvPr id="18" name="Shape 15"/>
          <p:cNvSpPr/>
          <p:nvPr/>
        </p:nvSpPr>
        <p:spPr>
          <a:xfrm>
            <a:off x="4946904" y="2718816"/>
            <a:ext cx="2112264" cy="1319784"/>
          </a:xfrm>
          <a:prstGeom prst="roundRect">
            <a:avLst>
              <a:gd name="adj" fmla="val 2771"/>
            </a:avLst>
          </a:prstGeom>
          <a:solidFill>
            <a:srgbClr val="F9F0FF"/>
          </a:solidFill>
          <a:ln w="8890">
            <a:solidFill>
              <a:srgbClr val="D3ADF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56632" y="2828544"/>
            <a:ext cx="256032" cy="256032"/>
          </a:xfrm>
          <a:prstGeom prst="ellipse">
            <a:avLst/>
          </a:prstGeom>
          <a:solidFill>
            <a:srgbClr val="722ED1"/>
          </a:solidFill>
          <a:ln w="12700">
            <a:solidFill>
              <a:srgbClr val="722ED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56632" y="2860548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20" dirty="0"/>
          </a:p>
        </p:txBody>
      </p:sp>
      <p:sp>
        <p:nvSpPr>
          <p:cNvPr id="21" name="Text 18"/>
          <p:cNvSpPr/>
          <p:nvPr/>
        </p:nvSpPr>
        <p:spPr>
          <a:xfrm>
            <a:off x="5394960" y="28011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Проверьте итог</a:t>
            </a:r>
            <a:endParaRPr lang="en-US" sz="780" dirty="0"/>
          </a:p>
        </p:txBody>
      </p:sp>
      <p:sp>
        <p:nvSpPr>
          <p:cNvPr id="22" name="Text 19"/>
          <p:cNvSpPr/>
          <p:nvPr/>
        </p:nvSpPr>
        <p:spPr>
          <a:xfrm>
            <a:off x="5394960" y="3029712"/>
            <a:ext cx="155448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предъявления сохраните черновик; после предъявления редакция запирается.</a:t>
            </a:r>
            <a:endParaRPr lang="en-US" sz="670" dirty="0"/>
          </a:p>
        </p:txBody>
      </p:sp>
      <p:sp>
        <p:nvSpPr>
          <p:cNvPr id="23" name="Shape 20"/>
          <p:cNvSpPr/>
          <p:nvPr/>
        </p:nvSpPr>
        <p:spPr>
          <a:xfrm>
            <a:off x="4946904" y="4139184"/>
            <a:ext cx="2112264" cy="1319784"/>
          </a:xfrm>
          <a:prstGeom prst="roundRect">
            <a:avLst>
              <a:gd name="adj" fmla="val 2771"/>
            </a:avLst>
          </a:prstGeom>
          <a:solidFill>
            <a:srgbClr val="F6FFED"/>
          </a:solidFill>
          <a:ln w="8890">
            <a:solidFill>
              <a:srgbClr val="B7EB8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056632" y="4248912"/>
            <a:ext cx="256032" cy="256032"/>
          </a:xfrm>
          <a:prstGeom prst="ellipse">
            <a:avLst/>
          </a:prstGeom>
          <a:solidFill>
            <a:srgbClr val="389E0D"/>
          </a:solidFill>
          <a:ln w="12700">
            <a:solidFill>
              <a:srgbClr val="389E0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056632" y="4280916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20" dirty="0"/>
          </a:p>
        </p:txBody>
      </p:sp>
      <p:sp>
        <p:nvSpPr>
          <p:cNvPr id="26" name="Text 23"/>
          <p:cNvSpPr/>
          <p:nvPr/>
        </p:nvSpPr>
        <p:spPr>
          <a:xfrm>
            <a:off x="5394960" y="42214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Предъявите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5394960" y="4450080"/>
            <a:ext cx="155448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 или оператор согласует, не согласует либо вернёт ревизию в правку.</a:t>
            </a:r>
            <a:endParaRPr lang="en-US" sz="670" dirty="0"/>
          </a:p>
        </p:txBody>
      </p:sp>
      <p:sp>
        <p:nvSpPr>
          <p:cNvPr id="28" name="Shape 25"/>
          <p:cNvSpPr/>
          <p:nvPr/>
        </p:nvSpPr>
        <p:spPr>
          <a:xfrm>
            <a:off x="502920" y="5678424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13232" y="5623560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Сервис не согласует собственный объём работ.</a:t>
            </a:r>
            <a:endParaRPr lang="en-US" sz="930" dirty="0"/>
          </a:p>
        </p:txBody>
      </p:sp>
      <p:sp>
        <p:nvSpPr>
          <p:cNvPr id="30" name="Shape 27"/>
          <p:cNvSpPr/>
          <p:nvPr/>
        </p:nvSpPr>
        <p:spPr>
          <a:xfrm>
            <a:off x="502920" y="5989320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13232" y="5934456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Новая редакция после возврата получает следующий номер ревизии.</a:t>
            </a:r>
            <a:endParaRPr lang="en-US" sz="930" dirty="0"/>
          </a:p>
        </p:txBody>
      </p:sp>
      <p:sp>
        <p:nvSpPr>
          <p:cNvPr id="32" name="Shape 29"/>
          <p:cNvSpPr/>
          <p:nvPr/>
        </p:nvSpPr>
        <p:spPr>
          <a:xfrm>
            <a:off x="502920" y="6300216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13232" y="6245352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Несогласование закрывает заявку и сохраняет причину и решение по дальнейшим действиям.</a:t>
            </a:r>
            <a:endParaRPr lang="en-US" sz="930" dirty="0"/>
          </a:p>
        </p:txBody>
      </p:sp>
      <p:sp>
        <p:nvSpPr>
          <p:cNvPr id="34" name="Shape 31"/>
          <p:cNvSpPr/>
          <p:nvPr/>
        </p:nvSpPr>
        <p:spPr>
          <a:xfrm>
            <a:off x="502920" y="6574536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0F7FF"/>
          </a:solidFill>
          <a:ln w="10160">
            <a:solidFill>
              <a:srgbClr val="BAE0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58368" y="6702552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 остаётся «В работе»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58368" y="6931152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согласования виден подписью «Ждёт согласования» и состоянием ревизии, а не отдельным статусом заявки.</a:t>
            </a:r>
            <a:endParaRPr lang="en-US" sz="89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СЕРВИСНАЯ КОМПАНИЯ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Подшить документы и закрыть работы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06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Перед завершением внешнего ремонта добавьте закрывающий документ и заполните фактический результат.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Инструкция сервисной компании · актуальная версия приложения · редакция 3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4279392" cy="4160520"/>
          </a:xfrm>
          <a:prstGeom prst="roundRect">
            <a:avLst>
              <a:gd name="adj" fmla="val 879"/>
            </a:avLst>
          </a:prstGeom>
          <a:solidFill>
            <a:srgbClr val="F5F7FB"/>
          </a:solidFill>
          <a:ln w="8890">
            <a:solidFill>
              <a:srgbClr val="E7EA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" y="1371600"/>
            <a:ext cx="40599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9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АКТУАЛЬНЫЙ ЭКРАН · ДЕМОНСТРАЦИОННЫЕ ДАННЫЕ</a:t>
            </a:r>
            <a:endParaRPr lang="en-US" sz="590" dirty="0"/>
          </a:p>
        </p:txBody>
      </p:sp>
      <p:pic>
        <p:nvPicPr>
          <p:cNvPr id="12" name="Image 0" descr="/root/projects/technic/docs/image/office-equipment-latest/documents-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2962217"/>
            <a:ext cx="4133088" cy="1025006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946904" y="1298448"/>
            <a:ext cx="2112264" cy="1319784"/>
          </a:xfrm>
          <a:prstGeom prst="roundRect">
            <a:avLst>
              <a:gd name="adj" fmla="val 2771"/>
            </a:avLst>
          </a:prstGeom>
          <a:solidFill>
            <a:srgbClr val="F0F7FF"/>
          </a:solidFill>
          <a:ln w="8890">
            <a:solidFill>
              <a:srgbClr val="BAE0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56632" y="1408176"/>
            <a:ext cx="256032" cy="25603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56632" y="1440180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20" dirty="0"/>
          </a:p>
        </p:txBody>
      </p:sp>
      <p:sp>
        <p:nvSpPr>
          <p:cNvPr id="16" name="Text 13"/>
          <p:cNvSpPr/>
          <p:nvPr/>
        </p:nvSpPr>
        <p:spPr>
          <a:xfrm>
            <a:off x="5394960" y="138074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Добавьте файлы</a:t>
            </a:r>
            <a:endParaRPr lang="en-US" sz="780" dirty="0"/>
          </a:p>
        </p:txBody>
      </p:sp>
      <p:sp>
        <p:nvSpPr>
          <p:cNvPr id="17" name="Text 14"/>
          <p:cNvSpPr/>
          <p:nvPr/>
        </p:nvSpPr>
        <p:spPr>
          <a:xfrm>
            <a:off x="5394960" y="1609344"/>
            <a:ext cx="155448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Выберите правильный вид: акт, счёт, гарантийный талон, объём работ или обычное вложение.</a:t>
            </a:r>
            <a:endParaRPr lang="en-US" sz="670" dirty="0"/>
          </a:p>
        </p:txBody>
      </p:sp>
      <p:sp>
        <p:nvSpPr>
          <p:cNvPr id="18" name="Shape 15"/>
          <p:cNvSpPr/>
          <p:nvPr/>
        </p:nvSpPr>
        <p:spPr>
          <a:xfrm>
            <a:off x="4946904" y="2718816"/>
            <a:ext cx="2112264" cy="1319784"/>
          </a:xfrm>
          <a:prstGeom prst="roundRect">
            <a:avLst>
              <a:gd name="adj" fmla="val 2771"/>
            </a:avLst>
          </a:prstGeom>
          <a:solidFill>
            <a:srgbClr val="F9F0FF"/>
          </a:solidFill>
          <a:ln w="8890">
            <a:solidFill>
              <a:srgbClr val="D3ADF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56632" y="2828544"/>
            <a:ext cx="256032" cy="256032"/>
          </a:xfrm>
          <a:prstGeom prst="ellipse">
            <a:avLst/>
          </a:prstGeom>
          <a:solidFill>
            <a:srgbClr val="722ED1"/>
          </a:solidFill>
          <a:ln w="12700">
            <a:solidFill>
              <a:srgbClr val="722ED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56632" y="2860548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20" dirty="0"/>
          </a:p>
        </p:txBody>
      </p:sp>
      <p:sp>
        <p:nvSpPr>
          <p:cNvPr id="21" name="Text 18"/>
          <p:cNvSpPr/>
          <p:nvPr/>
        </p:nvSpPr>
        <p:spPr>
          <a:xfrm>
            <a:off x="5394960" y="28011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Проверьте планку</a:t>
            </a:r>
            <a:endParaRPr lang="en-US" sz="780" dirty="0"/>
          </a:p>
        </p:txBody>
      </p:sp>
      <p:sp>
        <p:nvSpPr>
          <p:cNvPr id="22" name="Text 19"/>
          <p:cNvSpPr/>
          <p:nvPr/>
        </p:nvSpPr>
        <p:spPr>
          <a:xfrm>
            <a:off x="5394960" y="3029712"/>
            <a:ext cx="155448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Хотя бы один закрывающий документ обязателен для внешнего ремонта.</a:t>
            </a:r>
            <a:endParaRPr lang="en-US" sz="670" dirty="0"/>
          </a:p>
        </p:txBody>
      </p:sp>
      <p:sp>
        <p:nvSpPr>
          <p:cNvPr id="23" name="Shape 20"/>
          <p:cNvSpPr/>
          <p:nvPr/>
        </p:nvSpPr>
        <p:spPr>
          <a:xfrm>
            <a:off x="4946904" y="4139184"/>
            <a:ext cx="2112264" cy="1319784"/>
          </a:xfrm>
          <a:prstGeom prst="roundRect">
            <a:avLst>
              <a:gd name="adj" fmla="val 2771"/>
            </a:avLst>
          </a:prstGeom>
          <a:solidFill>
            <a:srgbClr val="F6FFED"/>
          </a:solidFill>
          <a:ln w="8890">
            <a:solidFill>
              <a:srgbClr val="B7EB8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056632" y="4248912"/>
            <a:ext cx="256032" cy="256032"/>
          </a:xfrm>
          <a:prstGeom prst="ellipse">
            <a:avLst/>
          </a:prstGeom>
          <a:solidFill>
            <a:srgbClr val="389E0D"/>
          </a:solidFill>
          <a:ln w="12700">
            <a:solidFill>
              <a:srgbClr val="389E0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056632" y="4280916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20" dirty="0"/>
          </a:p>
        </p:txBody>
      </p:sp>
      <p:sp>
        <p:nvSpPr>
          <p:cNvPr id="26" name="Text 23"/>
          <p:cNvSpPr/>
          <p:nvPr/>
        </p:nvSpPr>
        <p:spPr>
          <a:xfrm>
            <a:off x="5394960" y="42214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Закройте работы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5394960" y="4450080"/>
            <a:ext cx="155448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Запишите результат, факт по строкам, рекомендации и гарантию.</a:t>
            </a:r>
            <a:endParaRPr lang="en-US" sz="670" dirty="0"/>
          </a:p>
        </p:txBody>
      </p:sp>
      <p:sp>
        <p:nvSpPr>
          <p:cNvPr id="28" name="Shape 25"/>
          <p:cNvSpPr/>
          <p:nvPr/>
        </p:nvSpPr>
        <p:spPr>
          <a:xfrm>
            <a:off x="502920" y="5678424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13232" y="5623560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заявки на расходники укажите, что фактически выдано; движение склада записывается отдельно.</a:t>
            </a:r>
            <a:endParaRPr lang="en-US" sz="930" dirty="0"/>
          </a:p>
        </p:txBody>
      </p:sp>
      <p:sp>
        <p:nvSpPr>
          <p:cNvPr id="30" name="Shape 27"/>
          <p:cNvSpPr/>
          <p:nvPr/>
        </p:nvSpPr>
        <p:spPr>
          <a:xfrm>
            <a:off x="502920" y="5989320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13232" y="5934456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Файл можно добавить позже, пока заявка открыта и право сохраняется.</a:t>
            </a:r>
            <a:endParaRPr lang="en-US" sz="930" dirty="0"/>
          </a:p>
        </p:txBody>
      </p:sp>
      <p:sp>
        <p:nvSpPr>
          <p:cNvPr id="32" name="Shape 29"/>
          <p:cNvSpPr/>
          <p:nvPr/>
        </p:nvSpPr>
        <p:spPr>
          <a:xfrm>
            <a:off x="502920" y="6300216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13232" y="6245352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Удалить использованный закрывающий или гарантийный документ нельзя.</a:t>
            </a:r>
            <a:endParaRPr lang="en-US" sz="930" dirty="0"/>
          </a:p>
        </p:txBody>
      </p:sp>
      <p:sp>
        <p:nvSpPr>
          <p:cNvPr id="34" name="Shape 31"/>
          <p:cNvSpPr/>
          <p:nvPr/>
        </p:nvSpPr>
        <p:spPr>
          <a:xfrm>
            <a:off x="502920" y="6574536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FF7E6"/>
          </a:solidFill>
          <a:ln w="10160">
            <a:solidFill>
              <a:srgbClr val="FFD591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58368" y="6702552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46B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Проверьте кандидата аппарата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58368" y="6931152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заявка создана с пометкой «Аппарат на проверке», результат нельзя окончательно принять до решения проверяющего.</a:t>
            </a:r>
            <a:endParaRPr lang="en-US" sz="8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СЕРВИСНАЯ КОМПАНИЯ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выполнения и гарантия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06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статусе «Решена» результат ждёт приёмки. Новую гарантийную проблему оформляют из реестра гарантий.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Инструкция сервисной компании · актуальная версия приложения · редакция 3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4279392" cy="4160520"/>
          </a:xfrm>
          <a:prstGeom prst="roundRect">
            <a:avLst>
              <a:gd name="adj" fmla="val 879"/>
            </a:avLst>
          </a:prstGeom>
          <a:solidFill>
            <a:srgbClr val="F5F7FB"/>
          </a:solidFill>
          <a:ln w="8890">
            <a:solidFill>
              <a:srgbClr val="E7EA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" y="1371600"/>
            <a:ext cx="40599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9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АКТУАЛЬНЫЙ ЭКРАН · ДЕМОНСТРАЦИОННЫЕ ДАННЫЕ</a:t>
            </a:r>
            <a:endParaRPr lang="en-US" sz="590" dirty="0"/>
          </a:p>
        </p:txBody>
      </p:sp>
      <p:pic>
        <p:nvPicPr>
          <p:cNvPr id="12" name="Image 0" descr="/root/projects/technic/docs/image/office-equipment-latest/warran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835148"/>
            <a:ext cx="4133088" cy="3279144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946904" y="1298448"/>
            <a:ext cx="2112264" cy="2029968"/>
          </a:xfrm>
          <a:prstGeom prst="roundRect">
            <a:avLst>
              <a:gd name="adj" fmla="val 1802"/>
            </a:avLst>
          </a:prstGeom>
          <a:solidFill>
            <a:srgbClr val="F6FFED"/>
          </a:solidFill>
          <a:ln w="8890">
            <a:solidFill>
              <a:srgbClr val="B7EB8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56632" y="1408176"/>
            <a:ext cx="256032" cy="256032"/>
          </a:xfrm>
          <a:prstGeom prst="ellipse">
            <a:avLst/>
          </a:prstGeom>
          <a:solidFill>
            <a:srgbClr val="389E0D"/>
          </a:solidFill>
          <a:ln w="12700">
            <a:solidFill>
              <a:srgbClr val="389E0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56632" y="1440180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20" dirty="0"/>
          </a:p>
        </p:txBody>
      </p:sp>
      <p:sp>
        <p:nvSpPr>
          <p:cNvPr id="16" name="Text 13"/>
          <p:cNvSpPr/>
          <p:nvPr/>
        </p:nvSpPr>
        <p:spPr>
          <a:xfrm>
            <a:off x="5394960" y="138074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Откройте гарантию ремонта</a:t>
            </a:r>
            <a:endParaRPr lang="en-US" sz="780" dirty="0"/>
          </a:p>
        </p:txBody>
      </p:sp>
      <p:sp>
        <p:nvSpPr>
          <p:cNvPr id="17" name="Text 14"/>
          <p:cNvSpPr/>
          <p:nvPr/>
        </p:nvSpPr>
        <p:spPr>
          <a:xfrm>
            <a:off x="5394960" y="1609344"/>
            <a:ext cx="1554480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Кнопка создаёт новую заявку с точной ссылкой на исходную работу.</a:t>
            </a:r>
            <a:endParaRPr lang="en-US" sz="670" dirty="0"/>
          </a:p>
        </p:txBody>
      </p:sp>
      <p:sp>
        <p:nvSpPr>
          <p:cNvPr id="18" name="Shape 15"/>
          <p:cNvSpPr/>
          <p:nvPr/>
        </p:nvSpPr>
        <p:spPr>
          <a:xfrm>
            <a:off x="4946904" y="3429000"/>
            <a:ext cx="2112264" cy="2029968"/>
          </a:xfrm>
          <a:prstGeom prst="roundRect">
            <a:avLst>
              <a:gd name="adj" fmla="val 1802"/>
            </a:avLst>
          </a:prstGeom>
          <a:solidFill>
            <a:srgbClr val="FFF7E6"/>
          </a:solidFill>
          <a:ln w="8890">
            <a:solidFill>
              <a:srgbClr val="FFD59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56632" y="3538728"/>
            <a:ext cx="256032" cy="256032"/>
          </a:xfrm>
          <a:prstGeom prst="ellipse">
            <a:avLst/>
          </a:prstGeom>
          <a:solidFill>
            <a:srgbClr val="D46B08"/>
          </a:solidFill>
          <a:ln w="12700">
            <a:solidFill>
              <a:srgbClr val="D46B0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56632" y="3570732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20" dirty="0"/>
          </a:p>
        </p:txBody>
      </p:sp>
      <p:sp>
        <p:nvSpPr>
          <p:cNvPr id="21" name="Text 18"/>
          <p:cNvSpPr/>
          <p:nvPr/>
        </p:nvSpPr>
        <p:spPr>
          <a:xfrm>
            <a:off x="5394960" y="35112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путайте источники</a:t>
            </a:r>
            <a:endParaRPr lang="en-US" sz="780" dirty="0"/>
          </a:p>
        </p:txBody>
      </p:sp>
      <p:sp>
        <p:nvSpPr>
          <p:cNvPr id="22" name="Text 19"/>
          <p:cNvSpPr/>
          <p:nvPr/>
        </p:nvSpPr>
        <p:spPr>
          <a:xfrm>
            <a:off x="5394960" y="3739896"/>
            <a:ext cx="1554480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Гарантия поставщика выбирается в обычной форме новой заявки.</a:t>
            </a:r>
            <a:endParaRPr lang="en-US" sz="670" dirty="0"/>
          </a:p>
        </p:txBody>
      </p:sp>
      <p:sp>
        <p:nvSpPr>
          <p:cNvPr id="23" name="Shape 20"/>
          <p:cNvSpPr/>
          <p:nvPr/>
        </p:nvSpPr>
        <p:spPr>
          <a:xfrm>
            <a:off x="502920" y="5623560"/>
            <a:ext cx="3195828" cy="786933"/>
          </a:xfrm>
          <a:prstGeom prst="roundRect">
            <a:avLst>
              <a:gd name="adj" fmla="val 5810"/>
            </a:avLst>
          </a:prstGeom>
          <a:solidFill>
            <a:srgbClr val="F6FFED"/>
          </a:solidFill>
          <a:ln w="10160">
            <a:solidFill>
              <a:srgbClr val="B7EB8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9224" y="5742432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389E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Приняли</a:t>
            </a:r>
            <a:endParaRPr lang="en-US" sz="970" dirty="0"/>
          </a:p>
        </p:txBody>
      </p:sp>
      <p:sp>
        <p:nvSpPr>
          <p:cNvPr id="25" name="Text 22"/>
          <p:cNvSpPr/>
          <p:nvPr/>
        </p:nvSpPr>
        <p:spPr>
          <a:xfrm>
            <a:off x="649224" y="5971032"/>
            <a:ext cx="2903220" cy="348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 закрыта; обсуждение и документы доступны только для чтения.</a:t>
            </a:r>
            <a:endParaRPr lang="en-US" sz="870" dirty="0"/>
          </a:p>
        </p:txBody>
      </p:sp>
      <p:sp>
        <p:nvSpPr>
          <p:cNvPr id="26" name="Shape 23"/>
          <p:cNvSpPr/>
          <p:nvPr/>
        </p:nvSpPr>
        <p:spPr>
          <a:xfrm>
            <a:off x="3863340" y="5623560"/>
            <a:ext cx="3195828" cy="786933"/>
          </a:xfrm>
          <a:prstGeom prst="roundRect">
            <a:avLst>
              <a:gd name="adj" fmla="val 5810"/>
            </a:avLst>
          </a:prstGeom>
          <a:solidFill>
            <a:srgbClr val="FFF7E6"/>
          </a:solidFill>
          <a:ln w="10160">
            <a:solidFill>
              <a:srgbClr val="FFD59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009644" y="5742432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D46B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Вернули</a:t>
            </a:r>
            <a:endParaRPr lang="en-US" sz="970" dirty="0"/>
          </a:p>
        </p:txBody>
      </p:sp>
      <p:sp>
        <p:nvSpPr>
          <p:cNvPr id="28" name="Text 25"/>
          <p:cNvSpPr/>
          <p:nvPr/>
        </p:nvSpPr>
        <p:spPr>
          <a:xfrm>
            <a:off x="4009644" y="5971032"/>
            <a:ext cx="2903220" cy="348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Заявка снова «В работе» у прежних исполнителей; устраните замечание.</a:t>
            </a:r>
            <a:endParaRPr lang="en-US" sz="870" dirty="0"/>
          </a:p>
        </p:txBody>
      </p:sp>
      <p:sp>
        <p:nvSpPr>
          <p:cNvPr id="29" name="Shape 26"/>
          <p:cNvSpPr/>
          <p:nvPr/>
        </p:nvSpPr>
        <p:spPr>
          <a:xfrm>
            <a:off x="502920" y="6538509"/>
            <a:ext cx="3195828" cy="786933"/>
          </a:xfrm>
          <a:prstGeom prst="roundRect">
            <a:avLst>
              <a:gd name="adj" fmla="val 5810"/>
            </a:avLst>
          </a:prstGeom>
          <a:solidFill>
            <a:srgbClr val="F0F7FF"/>
          </a:solidFill>
          <a:ln w="10160">
            <a:solidFill>
              <a:srgbClr val="BAE0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9224" y="6657381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Автоприёмка</a:t>
            </a:r>
            <a:endParaRPr lang="en-US" sz="970" dirty="0"/>
          </a:p>
        </p:txBody>
      </p:sp>
      <p:sp>
        <p:nvSpPr>
          <p:cNvPr id="31" name="Text 28"/>
          <p:cNvSpPr/>
          <p:nvPr/>
        </p:nvSpPr>
        <p:spPr>
          <a:xfrm>
            <a:off x="649224" y="6885981"/>
            <a:ext cx="2903220" cy="348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Через 24 часа без возражений портал принимает результат автоматически.</a:t>
            </a:r>
            <a:endParaRPr lang="en-US" sz="870" dirty="0"/>
          </a:p>
        </p:txBody>
      </p:sp>
      <p:sp>
        <p:nvSpPr>
          <p:cNvPr id="32" name="Shape 29"/>
          <p:cNvSpPr/>
          <p:nvPr/>
        </p:nvSpPr>
        <p:spPr>
          <a:xfrm>
            <a:off x="3863340" y="6538509"/>
            <a:ext cx="3195828" cy="786933"/>
          </a:xfrm>
          <a:prstGeom prst="roundRect">
            <a:avLst>
              <a:gd name="adj" fmla="val 5810"/>
            </a:avLst>
          </a:prstGeom>
          <a:solidFill>
            <a:srgbClr val="F9F0FF"/>
          </a:solidFill>
          <a:ln w="10160">
            <a:solidFill>
              <a:srgbClr val="D3ADF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009644" y="6657381"/>
            <a:ext cx="29032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722E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Сломалось снова</a:t>
            </a:r>
            <a:endParaRPr lang="en-US" sz="970" dirty="0"/>
          </a:p>
        </p:txBody>
      </p:sp>
      <p:sp>
        <p:nvSpPr>
          <p:cNvPr id="34" name="Text 31"/>
          <p:cNvSpPr/>
          <p:nvPr/>
        </p:nvSpPr>
        <p:spPr>
          <a:xfrm>
            <a:off x="4009644" y="6885981"/>
            <a:ext cx="2903220" cy="348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Портал помечает повторную заявку «Повтор ×N»; метка не меняет маршрут.</a:t>
            </a:r>
            <a:endParaRPr lang="en-US" sz="87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5641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b="1" spc="25" kern="0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ОРГТЕХНИКА · СЕРВИСНАЯ КОМПАНИЯ</a:t>
            </a:r>
            <a:endParaRPr lang="en-US" sz="78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57332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Частые проблемы сервиса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327648" y="35661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06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005840"/>
            <a:ext cx="6556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667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Перед обращением в поддержку обновите карточку и прочитайте причину недоступного действия.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502920" y="10131552"/>
            <a:ext cx="6556248" cy="0"/>
          </a:xfrm>
          <a:prstGeom prst="line">
            <a:avLst/>
          </a:prstGeom>
          <a:noFill/>
          <a:ln w="9525">
            <a:solidFill>
              <a:srgbClr val="E7EA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213848"/>
            <a:ext cx="59161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3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Инструкция сервисной компании · актуальная версия приложения · редакция 3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19088" y="1021384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>
            <a:off x="502920" y="1298448"/>
            <a:ext cx="4279392" cy="4160520"/>
          </a:xfrm>
          <a:prstGeom prst="roundRect">
            <a:avLst>
              <a:gd name="adj" fmla="val 879"/>
            </a:avLst>
          </a:prstGeom>
          <a:solidFill>
            <a:srgbClr val="F5F7FB"/>
          </a:solidFill>
          <a:ln w="8890">
            <a:solidFill>
              <a:srgbClr val="E7EA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" y="1371600"/>
            <a:ext cx="405993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90" b="1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АКТУАЛЬНЫЙ ЭКРАН · ДЕМОНСТРАЦИОННЫЕ ДАННЫЕ</a:t>
            </a:r>
            <a:endParaRPr lang="en-US" sz="590" dirty="0"/>
          </a:p>
        </p:txBody>
      </p:sp>
      <p:pic>
        <p:nvPicPr>
          <p:cNvPr id="12" name="Image 0" descr="/root/projects/technic/docs/image/office-equipment-latest/request-card-ser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2371186"/>
            <a:ext cx="4133088" cy="2207069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946904" y="1298448"/>
            <a:ext cx="2112264" cy="1319784"/>
          </a:xfrm>
          <a:prstGeom prst="roundRect">
            <a:avLst>
              <a:gd name="adj" fmla="val 2771"/>
            </a:avLst>
          </a:prstGeom>
          <a:solidFill>
            <a:srgbClr val="F0F7FF"/>
          </a:solidFill>
          <a:ln w="8890">
            <a:solidFill>
              <a:srgbClr val="BAE0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56632" y="1408176"/>
            <a:ext cx="256032" cy="256032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56632" y="1440180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20" dirty="0"/>
          </a:p>
        </p:txBody>
      </p:sp>
      <p:sp>
        <p:nvSpPr>
          <p:cNvPr id="16" name="Text 13"/>
          <p:cNvSpPr/>
          <p:nvPr/>
        </p:nvSpPr>
        <p:spPr>
          <a:xfrm>
            <a:off x="5394960" y="138074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Карточка пропала</a:t>
            </a:r>
            <a:endParaRPr lang="en-US" sz="780" dirty="0"/>
          </a:p>
        </p:txBody>
      </p:sp>
      <p:sp>
        <p:nvSpPr>
          <p:cNvPr id="17" name="Text 14"/>
          <p:cNvSpPr/>
          <p:nvPr/>
        </p:nvSpPr>
        <p:spPr>
          <a:xfrm>
            <a:off x="5394960" y="1609344"/>
            <a:ext cx="155448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Проверьте, не сняли ли назначение вашей компании и не закрылась ли заявка.</a:t>
            </a:r>
            <a:endParaRPr lang="en-US" sz="670" dirty="0"/>
          </a:p>
        </p:txBody>
      </p:sp>
      <p:sp>
        <p:nvSpPr>
          <p:cNvPr id="18" name="Shape 15"/>
          <p:cNvSpPr/>
          <p:nvPr/>
        </p:nvSpPr>
        <p:spPr>
          <a:xfrm>
            <a:off x="4946904" y="2718816"/>
            <a:ext cx="2112264" cy="1319784"/>
          </a:xfrm>
          <a:prstGeom prst="roundRect">
            <a:avLst>
              <a:gd name="adj" fmla="val 2771"/>
            </a:avLst>
          </a:prstGeom>
          <a:solidFill>
            <a:srgbClr val="F9F0FF"/>
          </a:solidFill>
          <a:ln w="8890">
            <a:solidFill>
              <a:srgbClr val="D3ADF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56632" y="2828544"/>
            <a:ext cx="256032" cy="256032"/>
          </a:xfrm>
          <a:prstGeom prst="ellipse">
            <a:avLst/>
          </a:prstGeom>
          <a:solidFill>
            <a:srgbClr val="722ED1"/>
          </a:solidFill>
          <a:ln w="12700">
            <a:solidFill>
              <a:srgbClr val="722ED1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56632" y="2860548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20" dirty="0"/>
          </a:p>
        </p:txBody>
      </p:sp>
      <p:sp>
        <p:nvSpPr>
          <p:cNvPr id="21" name="Text 18"/>
          <p:cNvSpPr/>
          <p:nvPr/>
        </p:nvSpPr>
        <p:spPr>
          <a:xfrm>
            <a:off x="5394960" y="28011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Действие недоступно</a:t>
            </a:r>
            <a:endParaRPr lang="en-US" sz="780" dirty="0"/>
          </a:p>
        </p:txBody>
      </p:sp>
      <p:sp>
        <p:nvSpPr>
          <p:cNvPr id="22" name="Text 19"/>
          <p:cNvSpPr/>
          <p:nvPr/>
        </p:nvSpPr>
        <p:spPr>
          <a:xfrm>
            <a:off x="5394960" y="3029712"/>
            <a:ext cx="155448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Причина обычно в статусе, ожидании, незавершённой ревизии или обязательном документе.</a:t>
            </a:r>
            <a:endParaRPr lang="en-US" sz="670" dirty="0"/>
          </a:p>
        </p:txBody>
      </p:sp>
      <p:sp>
        <p:nvSpPr>
          <p:cNvPr id="23" name="Shape 20"/>
          <p:cNvSpPr/>
          <p:nvPr/>
        </p:nvSpPr>
        <p:spPr>
          <a:xfrm>
            <a:off x="4946904" y="4139184"/>
            <a:ext cx="2112264" cy="1319784"/>
          </a:xfrm>
          <a:prstGeom prst="roundRect">
            <a:avLst>
              <a:gd name="adj" fmla="val 2771"/>
            </a:avLst>
          </a:prstGeom>
          <a:solidFill>
            <a:srgbClr val="F6FFED"/>
          </a:solidFill>
          <a:ln w="8890">
            <a:solidFill>
              <a:srgbClr val="B7EB8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056632" y="4248912"/>
            <a:ext cx="256032" cy="256032"/>
          </a:xfrm>
          <a:prstGeom prst="ellipse">
            <a:avLst/>
          </a:prstGeom>
          <a:solidFill>
            <a:srgbClr val="389E0D"/>
          </a:solidFill>
          <a:ln w="12700">
            <a:solidFill>
              <a:srgbClr val="389E0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056632" y="4280916"/>
            <a:ext cx="2560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20" dirty="0"/>
          </a:p>
        </p:txBody>
      </p:sp>
      <p:sp>
        <p:nvSpPr>
          <p:cNvPr id="26" name="Text 23"/>
          <p:cNvSpPr/>
          <p:nvPr/>
        </p:nvSpPr>
        <p:spPr>
          <a:xfrm>
            <a:off x="5394960" y="42214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Письмо не пришло</a:t>
            </a:r>
            <a:endParaRPr lang="en-US" sz="780" dirty="0"/>
          </a:p>
        </p:txBody>
      </p:sp>
      <p:sp>
        <p:nvSpPr>
          <p:cNvPr id="27" name="Text 24"/>
          <p:cNvSpPr/>
          <p:nvPr/>
        </p:nvSpPr>
        <p:spPr>
          <a:xfrm>
            <a:off x="5394960" y="4450080"/>
            <a:ext cx="1554480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Проверьте очередь портала. События включаются раздельно и могут собираться в сводку.</a:t>
            </a:r>
            <a:endParaRPr lang="en-US" sz="670" dirty="0"/>
          </a:p>
        </p:txBody>
      </p:sp>
      <p:sp>
        <p:nvSpPr>
          <p:cNvPr id="28" name="Text 25"/>
          <p:cNvSpPr/>
          <p:nvPr/>
        </p:nvSpPr>
        <p:spPr>
          <a:xfrm>
            <a:off x="502920" y="5623560"/>
            <a:ext cx="6556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передать оператору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502920" y="5989320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13232" y="5934456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 заявки, время действия и полный текст сообщения.</a:t>
            </a:r>
            <a:endParaRPr lang="en-US" sz="930" dirty="0"/>
          </a:p>
        </p:txBody>
      </p:sp>
      <p:sp>
        <p:nvSpPr>
          <p:cNvPr id="31" name="Shape 28"/>
          <p:cNvSpPr/>
          <p:nvPr/>
        </p:nvSpPr>
        <p:spPr>
          <a:xfrm>
            <a:off x="502920" y="6300216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13232" y="6245352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ожидали сделать и в какой вкладке находились.</a:t>
            </a:r>
            <a:endParaRPr lang="en-US" sz="930" dirty="0"/>
          </a:p>
        </p:txBody>
      </p:sp>
      <p:sp>
        <p:nvSpPr>
          <p:cNvPr id="33" name="Shape 30"/>
          <p:cNvSpPr/>
          <p:nvPr/>
        </p:nvSpPr>
        <p:spPr>
          <a:xfrm>
            <a:off x="502920" y="6611112"/>
            <a:ext cx="109728" cy="109728"/>
          </a:xfrm>
          <a:prstGeom prst="ellipse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13232" y="6556248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3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Безопасный снимок экрана без паролей и чужих персональных данных.</a:t>
            </a:r>
            <a:endParaRPr lang="en-US" sz="930" dirty="0"/>
          </a:p>
        </p:txBody>
      </p:sp>
      <p:sp>
        <p:nvSpPr>
          <p:cNvPr id="35" name="Shape 32"/>
          <p:cNvSpPr/>
          <p:nvPr/>
        </p:nvSpPr>
        <p:spPr>
          <a:xfrm>
            <a:off x="502920" y="6885432"/>
            <a:ext cx="6556248" cy="729874"/>
          </a:xfrm>
          <a:prstGeom prst="roundRect">
            <a:avLst>
              <a:gd name="adj" fmla="val 7517"/>
            </a:avLst>
          </a:prstGeom>
          <a:solidFill>
            <a:srgbClr val="F0F7FF"/>
          </a:solidFill>
          <a:ln w="10160">
            <a:solidFill>
              <a:srgbClr val="BAE0F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58368" y="7013448"/>
            <a:ext cx="6245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7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 истины — карточка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58368" y="7242048"/>
            <a:ext cx="6245352" cy="281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90" dirty="0">
                <a:solidFill>
                  <a:srgbClr val="2F34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Телефон и почта помогают договориться, но статус, ревизия, документы и результат должны остаться в портале.</a:t>
            </a:r>
            <a:endParaRPr lang="en-US" sz="89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АВТО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Оргтехника: инструкция сервисной компании</dc:title>
  <dc:subject>Работа сотрудников внешней сервисной компании с назначенными заявками оргтехники</dc:subject>
  <dc:creator>АВТО</dc:creator>
  <cp:lastModifiedBy>АВТО</cp:lastModifiedBy>
  <cp:revision>1</cp:revision>
  <dcterms:created xsi:type="dcterms:W3CDTF">2026-09-07T07:00:00Z</dcterms:created>
  <dcterms:modified xsi:type="dcterms:W3CDTF">2026-09-07T07:00:00Z</dcterms:modified>
</cp:coreProperties>
</file>