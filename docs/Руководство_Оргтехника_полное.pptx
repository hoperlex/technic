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руководстве и поэтапном вводе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объединяет действующий цикл, готовые волны рефакторинга и честные ограничения ещё не завершённых работ.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поток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9224" y="1645920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 двух видов, шесть рабочих статусов, назначение, объём работ, обсуждение, документы, автоприёмка, расходники и закупки.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863340" y="1298448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964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Вводится поэтапно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4009644" y="1645920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Быстрые действия на статусе, очищенное меню, перемещение из карточки заявки, массовые операции и блоки истории.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502920" y="2364547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248341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Собрано, но может быть выключено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649224" y="2712019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Сообщение об отсутствующем аппарате и новые почтовые события — до выдачи прав и проверки адресатов.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3863340" y="2364547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AFAFA"/>
          </a:solidFill>
          <a:ln w="10160">
            <a:solidFill>
              <a:srgbClr val="E7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09644" y="248341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план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4009644" y="2712019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Метка повторных обращений и автоматический сбор наработки. Эти функции нельзя считать доступными, пока их нет на экране.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502920" y="3430646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правило переходного периода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3741542"/>
            <a:ext cx="6556248" cy="884499"/>
          </a:xfrm>
          <a:prstGeom prst="roundRect">
            <a:avLst>
              <a:gd name="adj" fmla="val 6203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869558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Следуйте видимому действию, а не ожидаемому месту кнопки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" y="4098158"/>
            <a:ext cx="6245352" cy="436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Операция может находиться у статуса, у нужного поля или в меню «Действия». Если быстрый вход ещё не выкачен, основной маршрут остаётся в меню. Если функция помечена как не включённая, используйте указанный запасной процесс.</a:t>
            </a:r>
            <a:endParaRPr lang="en-US" sz="890" dirty="0"/>
          </a:p>
        </p:txBody>
      </p:sp>
      <p:sp>
        <p:nvSpPr>
          <p:cNvPr id="26" name="Text 24"/>
          <p:cNvSpPr/>
          <p:nvPr/>
        </p:nvSpPr>
        <p:spPr>
          <a:xfrm>
            <a:off x="502920" y="4735769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Словарь модуля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101529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046665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«Обслуживание» — ремонт, настройка, диагностика, перемещение и иная работа с аппаратом.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02920" y="5412425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5357561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«Расходники» — выдача картриджа, тонера или запаса со склада.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502920" y="5723321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5668457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«Объём работ» — строки услуг и деталей с ценами; прежнее слово «Смета» осталось только в старой истории и технических именах.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502920" y="615619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6101334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«Оператор» в руководстве — профиль «Ведение оргтехники»; «сервис» — внешний подрядчик.</a:t>
            </a:r>
            <a:endParaRPr lang="en-US" sz="9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и границы доступа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Права отвечают на «что можно», область — «над какими строками», назначение — «чей сейчас ход».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471811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32550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74731" y="1298448"/>
            <a:ext cx="1962414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47883" y="1389888"/>
            <a:ext cx="181611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Область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937145" y="1298448"/>
            <a:ext cx="312202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10297" y="1389888"/>
            <a:ext cx="297571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действия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471811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3255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Заявитель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1974731" y="1645920"/>
            <a:ext cx="1962414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47883" y="1728216"/>
            <a:ext cx="1816110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Свои и доступные по роли заявки; собственные изменения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3937145" y="1645920"/>
            <a:ext cx="312202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10297" y="1728216"/>
            <a:ext cx="297571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Создать, уточнить до назначения, удалить новую, вложения и обсуждение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37100"/>
            <a:ext cx="1471811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9396"/>
            <a:ext cx="13255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«Ведения»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1974731" y="2037100"/>
            <a:ext cx="1962414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47883" y="2119396"/>
            <a:ext cx="1816110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Объекты/отделы роли либо администраторская область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3937145" y="2037100"/>
            <a:ext cx="312202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10297" y="2119396"/>
            <a:ext cx="297571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Парк, распределение, срочность, заморозка, согласование, приёмка, закупки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8281"/>
            <a:ext cx="1471811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10577"/>
            <a:ext cx="13255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Системный администратор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1974731" y="2428281"/>
            <a:ext cx="1962414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47883" y="2510577"/>
            <a:ext cx="1816110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просмотр модуля; исполнение только по назначению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3937145" y="2428281"/>
            <a:ext cx="312202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10297" y="2510577"/>
            <a:ext cx="297571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Назначение, заморозка, финансы, перемещения; работа при поимённом назначении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19461"/>
            <a:ext cx="1471811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901757"/>
            <a:ext cx="13255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Сервисный центр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1974731" y="2819461"/>
            <a:ext cx="1962414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47883" y="2901757"/>
            <a:ext cx="1816110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заявки, назначенные своей компании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3937145" y="2819461"/>
            <a:ext cx="312202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10297" y="2901757"/>
            <a:ext cx="297571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Принять/отказаться, объём работ, документы, закрыть работы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33865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1F0"/>
          </a:solidFill>
          <a:ln w="10160">
            <a:solidFill>
              <a:srgbClr val="FFCC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346667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F13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Сервисному центру наборы оргтехники не выдают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369527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Его профиль задаёт пара «роль operator + контрагент типа service». Попытка выдать обычный набор не создаст правильную область и может открыть лишние данные.</a:t>
            </a:r>
            <a:endParaRPr lang="en-US" sz="890" dirty="0"/>
          </a:p>
        </p:txBody>
      </p:sp>
      <p:sp>
        <p:nvSpPr>
          <p:cNvPr id="43" name="Text 41"/>
          <p:cNvSpPr/>
          <p:nvPr/>
        </p:nvSpPr>
        <p:spPr>
          <a:xfrm>
            <a:off x="502920" y="4178259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Совмещение профилей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4544019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3232" y="4489155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человек может быть заявителем и оператором; действия складываются, но ограничения предмета и аудитории сохраняются.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502920" y="497689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4922032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ИТ-профиль состоит из двух наборов. Координация без исполнителя не даёт права закрывать работы; исполнение без координации не открывает весь модуль.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502920" y="5409773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" y="5354909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Финансовая аудитория видит объём работ и суммы; заявитель получает серверную проекцию без этих полей.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502920" y="584265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3232" y="5787786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 портала может разбирать ошибки, но штатный процесс всё равно проходит бизнес-профилями.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и правка заявки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одинакова для двух видов, но предмет после отправки ведёт исполнитель.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1673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959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813816" y="129844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вид и аппарат; проверить снимок номера, места и гарантии.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66420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8706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813816" y="164592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Заполнить описание, заказчика, заявителя, телефон и при необходимости место обращения.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01168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03454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813816" y="1993392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фактическом расхождении места отметить его и назвать правильный объект.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359152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382012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813816" y="2340864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Срочность при создании требует причины; позднее её меняет только оператор.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2706624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729484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3816" y="2688336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Приложить вложения и сохранить.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3054096"/>
            <a:ext cx="206566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145536"/>
            <a:ext cx="19193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меняется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568587" y="3054096"/>
            <a:ext cx="224529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41739" y="3145536"/>
            <a:ext cx="209898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 новая без исполнителей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3878" y="3054096"/>
            <a:ext cx="224529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7030" y="3145536"/>
            <a:ext cx="209898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назначения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2920" y="3401568"/>
            <a:ext cx="206566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" y="3483864"/>
            <a:ext cx="191936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Описание, заказчик, контакт, комментарий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2568587" y="3401568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41739" y="3483864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Заявитель может исправить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4813878" y="3401568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7030" y="3483864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через обсуждение и решение службы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502920" y="3792748"/>
            <a:ext cx="206566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" y="3875044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 и категория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2568587" y="3792748"/>
            <a:ext cx="2245290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41739" y="3875044"/>
            <a:ext cx="20989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меняются правкой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4813878" y="3792748"/>
            <a:ext cx="2245290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7030" y="3875044"/>
            <a:ext cx="20989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меняются; нужна новая заявка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502920" y="4176796"/>
            <a:ext cx="206566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" y="4259092"/>
            <a:ext cx="191936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2568587" y="4176796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41739" y="4259092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Добавляются при создании и во вкладке документов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4813878" y="4176796"/>
            <a:ext cx="224529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87030" y="4259092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Добавляются по правилам аудитории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502920" y="4567977"/>
            <a:ext cx="2065667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6072" y="4650273"/>
            <a:ext cx="191936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2568587" y="4567977"/>
            <a:ext cx="224529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41739" y="4650273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 до начала работ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4813878" y="4567977"/>
            <a:ext cx="224529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87030" y="4650273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Недоступно; оператор отменяет с причиной</a:t>
            </a:r>
            <a:endParaRPr lang="en-US" sz="810" dirty="0"/>
          </a:p>
        </p:txBody>
      </p:sp>
      <p:sp>
        <p:nvSpPr>
          <p:cNvPr id="55" name="Shape 53"/>
          <p:cNvSpPr/>
          <p:nvPr/>
        </p:nvSpPr>
        <p:spPr>
          <a:xfrm>
            <a:off x="502920" y="5087173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8368" y="5215189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без аппарата — отдельное право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58368" y="5443789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Она предназначена оператору и ИТ для работ без единицы парка. Заказчик обязателен. Обычному заявителю пустой аппарат не разрешён.</a:t>
            </a:r>
            <a:endParaRPr lang="en-US" sz="8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Предмет: аппарат, кандидат или отсутствие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заявки ровно один способ назвать предмет; смешивать выбранную карточку, кандидата и отсутствие нельзя.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парка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649224" y="1645920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Обычный путь. Снимок реквизитов сохраняется в заявке, поэтому история остаётся понятной после правок справочника.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863340" y="1298448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9644" y="141732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 на проверке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4009644" y="1645920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Заявитель сообщает наблюдаемые реквизиты. Проверяющий подтверждает новой карточкой, связывает с существующей или отклоняет.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502920" y="2364547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" y="248341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аппарата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649224" y="2712019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Разрешено отдельным правом для инфраструктурной или организационной работы. Заказчик задаёт область заявки.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3863340" y="2364547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09644" y="2483419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Дубликат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4009644" y="2712019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ищет по серийному и инвентарному номерам. Открытая заявка на тот же аппарат блокирует повтор и называет существующий номер.</a:t>
            </a:r>
            <a:endParaRPr lang="en-US" sz="870" dirty="0"/>
          </a:p>
        </p:txBody>
      </p:sp>
      <p:sp>
        <p:nvSpPr>
          <p:cNvPr id="22" name="Text 20"/>
          <p:cNvSpPr/>
          <p:nvPr/>
        </p:nvSpPr>
        <p:spPr>
          <a:xfrm>
            <a:off x="502920" y="3430646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кандидата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375983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8269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25" name="Text 23"/>
          <p:cNvSpPr/>
          <p:nvPr/>
        </p:nvSpPr>
        <p:spPr>
          <a:xfrm>
            <a:off x="813816" y="3741542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видит держатель права проверки в своей области; ИТ-профиль сам по себе это право не получает.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502920" y="4210995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233855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13816" y="4192707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Сверить тип, модель, номера, объект и место; при необходимости поправить заявленные реквизиты.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02920" y="4558467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581327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31" name="Text 29"/>
          <p:cNvSpPr/>
          <p:nvPr/>
        </p:nvSpPr>
        <p:spPr>
          <a:xfrm>
            <a:off x="813816" y="4540179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Подтвердить полной карточкой парка, связать с существующей активной карточкой или отклонить с обязательной причиной.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502920" y="5009632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032492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813816" y="4991344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решения заявку можно назначать и выполнять, но принять работу и открыть гарантийное обращение нельзя.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502920" y="546079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558881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07.09 функция может быть не включена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" y="581741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Сервер, портал и тесты собраны, но выдача прав и включение событий относятся к финальной волне. Запасной процесс — обращение в техподдержку и создание карточки оператором.</a:t>
            </a:r>
            <a:endParaRPr lang="en-US" sz="8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Статусы и стороны ожидания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показывает состояние, а подпись ожидания — кто должен сделать следующий шаг.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576072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распределить / старт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164842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37994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2237994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/ согласовать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3826764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99916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Решена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899916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5488686" y="1298448"/>
            <a:ext cx="1570482" cy="658368"/>
          </a:xfrm>
          <a:prstGeom prst="roundRect">
            <a:avLst>
              <a:gd name="adj" fmla="val 8333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61838" y="1417320"/>
            <a:ext cx="1424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Закрыта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561838" y="1636776"/>
            <a:ext cx="14241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закрыто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502920" y="2084832"/>
            <a:ext cx="1167551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76272"/>
            <a:ext cx="102124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670471" y="2084832"/>
            <a:ext cx="1886044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43623" y="2176272"/>
            <a:ext cx="17397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Ожидание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556515" y="2084832"/>
            <a:ext cx="350265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29667" y="2176272"/>
            <a:ext cx="335634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Допустимый следующий шаг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2432304"/>
            <a:ext cx="1167551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14600"/>
            <a:ext cx="102124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1670471" y="2432304"/>
            <a:ext cx="1886044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43623" y="2514600"/>
            <a:ext cx="1739740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— если никого нет; исполнитель — если назначен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3556515" y="2432304"/>
            <a:ext cx="350265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29667" y="2514600"/>
            <a:ext cx="335634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Назначить, принять в работу, отказаться, отменить или отложить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23484"/>
            <a:ext cx="1167551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905780"/>
            <a:ext cx="1021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1670471" y="2823484"/>
            <a:ext cx="1886044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743623" y="2905780"/>
            <a:ext cx="1739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Исполнитель либо согласующий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3556515" y="2823484"/>
            <a:ext cx="350265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29667" y="2905780"/>
            <a:ext cx="3356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Работа, объём работ, закрытие, отмена, отложить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207532"/>
            <a:ext cx="1167551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3289828"/>
            <a:ext cx="1021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Отложена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1670471" y="3207532"/>
            <a:ext cx="1886044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43623" y="3289828"/>
            <a:ext cx="1739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Пауза с причиной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3556515" y="3207532"/>
            <a:ext cx="350265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29667" y="3289828"/>
            <a:ext cx="3356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Возобновить в сохранённое состояние либо отменить</a:t>
            </a:r>
            <a:endParaRPr lang="en-US" sz="810" dirty="0"/>
          </a:p>
        </p:txBody>
      </p:sp>
      <p:sp>
        <p:nvSpPr>
          <p:cNvPr id="46" name="Shape 44"/>
          <p:cNvSpPr/>
          <p:nvPr/>
        </p:nvSpPr>
        <p:spPr>
          <a:xfrm>
            <a:off x="502920" y="3591580"/>
            <a:ext cx="1167551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3673876"/>
            <a:ext cx="1021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Решена</a:t>
            </a:r>
            <a:endParaRPr lang="en-US" sz="810" dirty="0"/>
          </a:p>
        </p:txBody>
      </p:sp>
      <p:sp>
        <p:nvSpPr>
          <p:cNvPr id="48" name="Shape 46"/>
          <p:cNvSpPr/>
          <p:nvPr/>
        </p:nvSpPr>
        <p:spPr>
          <a:xfrm>
            <a:off x="1670471" y="3591580"/>
            <a:ext cx="1886044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43623" y="3673876"/>
            <a:ext cx="1739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/ 24 часа</a:t>
            </a:r>
            <a:endParaRPr lang="en-US" sz="810" dirty="0"/>
          </a:p>
        </p:txBody>
      </p:sp>
      <p:sp>
        <p:nvSpPr>
          <p:cNvPr id="50" name="Shape 48"/>
          <p:cNvSpPr/>
          <p:nvPr/>
        </p:nvSpPr>
        <p:spPr>
          <a:xfrm>
            <a:off x="3556515" y="3591580"/>
            <a:ext cx="350265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29667" y="3673876"/>
            <a:ext cx="3356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Принять, вернуть на доработку или отложить</a:t>
            </a:r>
            <a:endParaRPr lang="en-US" sz="810" dirty="0"/>
          </a:p>
        </p:txBody>
      </p:sp>
      <p:sp>
        <p:nvSpPr>
          <p:cNvPr id="52" name="Shape 50"/>
          <p:cNvSpPr/>
          <p:nvPr/>
        </p:nvSpPr>
        <p:spPr>
          <a:xfrm>
            <a:off x="502920" y="3975628"/>
            <a:ext cx="1167551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76072" y="4057924"/>
            <a:ext cx="1021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Закрыта</a:t>
            </a:r>
            <a:endParaRPr lang="en-US" sz="810" dirty="0"/>
          </a:p>
        </p:txBody>
      </p:sp>
      <p:sp>
        <p:nvSpPr>
          <p:cNvPr id="54" name="Shape 52"/>
          <p:cNvSpPr/>
          <p:nvPr/>
        </p:nvSpPr>
        <p:spPr>
          <a:xfrm>
            <a:off x="1670471" y="3975628"/>
            <a:ext cx="1886044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43623" y="4057924"/>
            <a:ext cx="1739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Никто</a:t>
            </a:r>
            <a:endParaRPr lang="en-US" sz="810" dirty="0"/>
          </a:p>
        </p:txBody>
      </p:sp>
      <p:sp>
        <p:nvSpPr>
          <p:cNvPr id="56" name="Shape 54"/>
          <p:cNvSpPr/>
          <p:nvPr/>
        </p:nvSpPr>
        <p:spPr>
          <a:xfrm>
            <a:off x="3556515" y="3975628"/>
            <a:ext cx="350265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29667" y="4057924"/>
            <a:ext cx="3356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Архив; администраторский откат при ошибке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4359676"/>
            <a:ext cx="1167551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" y="4441972"/>
            <a:ext cx="1021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Отменена</a:t>
            </a:r>
            <a:endParaRPr lang="en-US" sz="810" dirty="0"/>
          </a:p>
        </p:txBody>
      </p:sp>
      <p:sp>
        <p:nvSpPr>
          <p:cNvPr id="60" name="Shape 58"/>
          <p:cNvSpPr/>
          <p:nvPr/>
        </p:nvSpPr>
        <p:spPr>
          <a:xfrm>
            <a:off x="1670471" y="4359676"/>
            <a:ext cx="1886044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743623" y="4441972"/>
            <a:ext cx="1739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Никто</a:t>
            </a:r>
            <a:endParaRPr lang="en-US" sz="810" dirty="0"/>
          </a:p>
        </p:txBody>
      </p:sp>
      <p:sp>
        <p:nvSpPr>
          <p:cNvPr id="62" name="Shape 60"/>
          <p:cNvSpPr/>
          <p:nvPr/>
        </p:nvSpPr>
        <p:spPr>
          <a:xfrm>
            <a:off x="3556515" y="4359676"/>
            <a:ext cx="350265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29667" y="4441972"/>
            <a:ext cx="3356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Архив; администраторский возврат при ошибке</a:t>
            </a:r>
            <a:endParaRPr lang="en-US" sz="810" dirty="0"/>
          </a:p>
        </p:txBody>
      </p:sp>
      <p:sp>
        <p:nvSpPr>
          <p:cNvPr id="64" name="Shape 62"/>
          <p:cNvSpPr/>
          <p:nvPr/>
        </p:nvSpPr>
        <p:spPr>
          <a:xfrm>
            <a:off x="502920" y="4871740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AFAFA"/>
          </a:solidFill>
          <a:ln w="10160">
            <a:solidFill>
              <a:srgbClr val="E7EA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999756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старых статуса — только для истории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58368" y="5228356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«Согласована ИТ», «Назначена», «Диагностика» и «Смета на согласовании» больше не получают новые заявки. Их подписи сохранены для правдивой ленты прошлых переходов.</a:t>
            </a:r>
            <a:endParaRPr lang="en-US" sz="8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 и очереди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 — изменение состава, а не смена статуса.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53312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29844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Назначить можно несколько внутренних сотрудников и не более одной сервисной компании.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166420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09344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Первое назначение не требует причины; замена состава требует причину и попадает в историю.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1975104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1920240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Поимённый сотрудник работает только по своему назначению. Сотрудник сервиса действует за всю назначенную компанию.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407981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353117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до старта снимает себя или компанию; после старта состав меняет оператор/ИТ.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2718877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664013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висящем предъявлении объёма работ переназначение закрыто: сначала решают текущую ревизию.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02920" y="2993197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очереди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304093"/>
            <a:ext cx="1616609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6072" y="3395533"/>
            <a:ext cx="147030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Очередь/отбор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19529" y="3304093"/>
            <a:ext cx="1796232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92681" y="3395533"/>
            <a:ext cx="16499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915761" y="3304093"/>
            <a:ext cx="314340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88913" y="3395533"/>
            <a:ext cx="29971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02920" y="3651565"/>
            <a:ext cx="1616609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" y="3733861"/>
            <a:ext cx="147030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Ждут меня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2119529" y="3651565"/>
            <a:ext cx="1796232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92681" y="3733861"/>
            <a:ext cx="1649928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Оператор, согласующий, исполнитель</a:t>
            </a:r>
            <a:endParaRPr lang="en-US" sz="810" dirty="0"/>
          </a:p>
        </p:txBody>
      </p:sp>
      <p:sp>
        <p:nvSpPr>
          <p:cNvPr id="31" name="Shape 29"/>
          <p:cNvSpPr/>
          <p:nvPr/>
        </p:nvSpPr>
        <p:spPr>
          <a:xfrm>
            <a:off x="3915761" y="3651565"/>
            <a:ext cx="314340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88913" y="3733861"/>
            <a:ext cx="299710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ход относится к моей стороне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502920" y="4042745"/>
            <a:ext cx="1616609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" y="4125041"/>
            <a:ext cx="1470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Срочные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2119529" y="4042745"/>
            <a:ext cx="1796232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92681" y="4125041"/>
            <a:ext cx="164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и видящие модуль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3915761" y="4042745"/>
            <a:ext cx="314340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88913" y="4125041"/>
            <a:ext cx="29971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Приоритет, заданный при создании или службой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502920" y="4426793"/>
            <a:ext cx="1616609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6072" y="4509089"/>
            <a:ext cx="147030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Ожидание по дням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2119529" y="4426793"/>
            <a:ext cx="1796232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2681" y="4509089"/>
            <a:ext cx="1649928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рабочие профили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3915761" y="4426793"/>
            <a:ext cx="314340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8913" y="4509089"/>
            <a:ext cx="299710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длится текущая сторона ожидания, а не просто статус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502920" y="4817974"/>
            <a:ext cx="1616609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" y="4900270"/>
            <a:ext cx="147030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Архив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2119529" y="4817974"/>
            <a:ext cx="1796232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92681" y="4900270"/>
            <a:ext cx="1649928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отдельному праву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3915761" y="4817974"/>
            <a:ext cx="3143407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88913" y="4900270"/>
            <a:ext cx="299710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Мягко удалённые/закрытые записи без расширения аудитории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502920" y="5337170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8368" y="5465186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Повторные обращения пока не рабочая очередь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58368" y="5693786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метки повторного обращения подготовлен, но порог и включение ещё не согласованы. Отсутствие метки не означает, что похожих заявок нет.</a:t>
            </a:r>
            <a:endParaRPr lang="en-US" sz="8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исполнителя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сотрудник и внешний сервис используют общий исполнительский коридор, но имеют разную область.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1673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959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813816" y="129844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«Новая» назначенный исполнитель выбирает «Принять в работу».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66420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8706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813816" y="164592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Сверяет предмет, место, контакт, гарантийный источник и приложения.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01168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03454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813816" y="1993392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«Обслуживание» ведёт объём работ; для «Расходники» — номенклатуру и факт выдачи.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359152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382012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813816" y="2340864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Уточнения пишет в обсуждение с адресатом; документы подшивает правильным видом.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2706624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729484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3816" y="2688336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Закрывает фактический результат и гарантии, переводя заявку в «Решена».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3054096"/>
            <a:ext cx="2424914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145536"/>
            <a:ext cx="227861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927834" y="3054096"/>
            <a:ext cx="206566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00986" y="3145536"/>
            <a:ext cx="19193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исполнитель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993501" y="3054096"/>
            <a:ext cx="206566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66653" y="3145536"/>
            <a:ext cx="191936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Внешний сервис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2920" y="3401568"/>
            <a:ext cx="2424914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" y="3483864"/>
            <a:ext cx="2278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Видит заявку</a:t>
            </a:r>
            <a:endParaRPr lang="en-US" sz="810" dirty="0"/>
          </a:p>
        </p:txBody>
      </p:sp>
      <p:sp>
        <p:nvSpPr>
          <p:cNvPr id="33" name="Shape 31"/>
          <p:cNvSpPr/>
          <p:nvPr/>
        </p:nvSpPr>
        <p:spPr>
          <a:xfrm>
            <a:off x="2927834" y="3401568"/>
            <a:ext cx="206566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00986" y="3483864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Поимённое назначение</a:t>
            </a:r>
            <a:endParaRPr lang="en-US" sz="810" dirty="0"/>
          </a:p>
        </p:txBody>
      </p:sp>
      <p:sp>
        <p:nvSpPr>
          <p:cNvPr id="35" name="Shape 33"/>
          <p:cNvSpPr/>
          <p:nvPr/>
        </p:nvSpPr>
        <p:spPr>
          <a:xfrm>
            <a:off x="4993501" y="3401568"/>
            <a:ext cx="206566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66653" y="3483864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 своей компании</a:t>
            </a:r>
            <a:endParaRPr lang="en-US" sz="810" dirty="0"/>
          </a:p>
        </p:txBody>
      </p:sp>
      <p:sp>
        <p:nvSpPr>
          <p:cNvPr id="37" name="Shape 35"/>
          <p:cNvSpPr/>
          <p:nvPr/>
        </p:nvSpPr>
        <p:spPr>
          <a:xfrm>
            <a:off x="502920" y="3785616"/>
            <a:ext cx="2424914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" y="3867912"/>
            <a:ext cx="2278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 суммы</a:t>
            </a:r>
            <a:endParaRPr lang="en-US" sz="810" dirty="0"/>
          </a:p>
        </p:txBody>
      </p:sp>
      <p:sp>
        <p:nvSpPr>
          <p:cNvPr id="39" name="Shape 37"/>
          <p:cNvSpPr/>
          <p:nvPr/>
        </p:nvSpPr>
        <p:spPr>
          <a:xfrm>
            <a:off x="2927834" y="3785616"/>
            <a:ext cx="206566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00986" y="3867912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назначенной заявки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4993501" y="3785616"/>
            <a:ext cx="206566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6653" y="3867912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заявки своей компании</a:t>
            </a:r>
            <a:endParaRPr lang="en-US" sz="810" dirty="0"/>
          </a:p>
        </p:txBody>
      </p:sp>
      <p:sp>
        <p:nvSpPr>
          <p:cNvPr id="43" name="Shape 41"/>
          <p:cNvSpPr/>
          <p:nvPr/>
        </p:nvSpPr>
        <p:spPr>
          <a:xfrm>
            <a:off x="502920" y="4169664"/>
            <a:ext cx="2424914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" y="4251960"/>
            <a:ext cx="2278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до старта</a:t>
            </a:r>
            <a:endParaRPr lang="en-US" sz="810" dirty="0"/>
          </a:p>
        </p:txBody>
      </p:sp>
      <p:sp>
        <p:nvSpPr>
          <p:cNvPr id="45" name="Shape 43"/>
          <p:cNvSpPr/>
          <p:nvPr/>
        </p:nvSpPr>
        <p:spPr>
          <a:xfrm>
            <a:off x="2927834" y="4169664"/>
            <a:ext cx="206566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00986" y="4251960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Снимает себя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4993501" y="4169664"/>
            <a:ext cx="206566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66653" y="4251960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Снимает компанию</a:t>
            </a:r>
            <a:endParaRPr lang="en-US" sz="810" dirty="0"/>
          </a:p>
        </p:txBody>
      </p:sp>
      <p:sp>
        <p:nvSpPr>
          <p:cNvPr id="49" name="Shape 47"/>
          <p:cNvSpPr/>
          <p:nvPr/>
        </p:nvSpPr>
        <p:spPr>
          <a:xfrm>
            <a:off x="502920" y="4553712"/>
            <a:ext cx="2424914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6072" y="4636008"/>
            <a:ext cx="2278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Закрывающий документ</a:t>
            </a:r>
            <a:endParaRPr lang="en-US" sz="810" dirty="0"/>
          </a:p>
        </p:txBody>
      </p:sp>
      <p:sp>
        <p:nvSpPr>
          <p:cNvPr id="51" name="Shape 49"/>
          <p:cNvSpPr/>
          <p:nvPr/>
        </p:nvSpPr>
        <p:spPr>
          <a:xfrm>
            <a:off x="2927834" y="4553712"/>
            <a:ext cx="206566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00986" y="4636008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обязателен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4993501" y="4553712"/>
            <a:ext cx="206566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66653" y="4636008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Обязателен для обслуживания</a:t>
            </a:r>
            <a:endParaRPr lang="en-US" sz="810" dirty="0"/>
          </a:p>
        </p:txBody>
      </p:sp>
      <p:sp>
        <p:nvSpPr>
          <p:cNvPr id="55" name="Shape 53"/>
          <p:cNvSpPr/>
          <p:nvPr/>
        </p:nvSpPr>
        <p:spPr>
          <a:xfrm>
            <a:off x="502920" y="4937760"/>
            <a:ext cx="2424914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6072" y="5020056"/>
            <a:ext cx="2278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работу</a:t>
            </a:r>
            <a:endParaRPr lang="en-US" sz="810" dirty="0"/>
          </a:p>
        </p:txBody>
      </p:sp>
      <p:sp>
        <p:nvSpPr>
          <p:cNvPr id="57" name="Shape 55"/>
          <p:cNvSpPr/>
          <p:nvPr/>
        </p:nvSpPr>
        <p:spPr>
          <a:xfrm>
            <a:off x="2927834" y="4937760"/>
            <a:ext cx="206566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00986" y="5020056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4993501" y="4937760"/>
            <a:ext cx="206566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66653" y="5020056"/>
            <a:ext cx="1919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</a:t>
            </a:r>
            <a:endParaRPr lang="en-US" sz="810" dirty="0"/>
          </a:p>
        </p:txBody>
      </p:sp>
      <p:sp>
        <p:nvSpPr>
          <p:cNvPr id="61" name="Shape 59"/>
          <p:cNvSpPr/>
          <p:nvPr/>
        </p:nvSpPr>
        <p:spPr>
          <a:xfrm>
            <a:off x="502920" y="5449824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8368" y="5577840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Исполнение не даёт права вести парк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58368" y="5806440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Фактическое перемещение или ошибка номера сообщаются оператору/ИТ. Исполнитель не исправляет карточку аппарата обходом заявки.</a:t>
            </a:r>
            <a:endParaRPr lang="en-US" sz="89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работ и ревизии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относится к конкретной ревизии. Правка после предъявления требует явного возврата.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1673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959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813816" y="129844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Исполнитель заполняет услуги/детали, количества, цены и обещанные месяцы гарантии.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66420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8706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813816" y="164592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Предъявляет объём; заявка остаётся «В работе», ожидание меняется на «Ждёт согласования».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01168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03454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813816" y="1993392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или доступный поимённый согласующий принимает ревизию либо отклоняет с причиной и решением.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462845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485705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813816" y="2444557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исправления исполнитель возвращает объём в правку; предъявление и согласование снимаются.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2810317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833177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3816" y="2792029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 ревизия требует нового решения. Старые строки и причины сохраняются в истории.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3157789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" y="3276661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Согласовано</a:t>
            </a:r>
            <a:endParaRPr lang="en-US" sz="970" dirty="0"/>
          </a:p>
        </p:txBody>
      </p:sp>
      <p:sp>
        <p:nvSpPr>
          <p:cNvPr id="27" name="Text 25"/>
          <p:cNvSpPr/>
          <p:nvPr/>
        </p:nvSpPr>
        <p:spPr>
          <a:xfrm>
            <a:off x="649224" y="3505261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не меняется. Исполнитель продолжает работы по подписанной ревизии.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3863340" y="3157789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FF1F0"/>
          </a:solidFill>
          <a:ln w="10160">
            <a:solidFill>
              <a:srgbClr val="FFCC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9644" y="3276661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CF13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согласовано</a:t>
            </a:r>
            <a:endParaRPr lang="en-US" sz="970" dirty="0"/>
          </a:p>
        </p:txBody>
      </p:sp>
      <p:sp>
        <p:nvSpPr>
          <p:cNvPr id="30" name="Text 28"/>
          <p:cNvSpPr/>
          <p:nvPr/>
        </p:nvSpPr>
        <p:spPr>
          <a:xfrm>
            <a:off x="4009644" y="3505261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отменяется с причиной и решением по предмету; это не возврат в прежний статус.</a:t>
            </a:r>
            <a:endParaRPr lang="en-US" sz="870" dirty="0"/>
          </a:p>
        </p:txBody>
      </p:sp>
      <p:sp>
        <p:nvSpPr>
          <p:cNvPr id="31" name="Shape 29"/>
          <p:cNvSpPr/>
          <p:nvPr/>
        </p:nvSpPr>
        <p:spPr>
          <a:xfrm>
            <a:off x="502920" y="4072738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" y="419161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Вернуть в правку</a:t>
            </a:r>
            <a:endParaRPr lang="en-US" sz="970" dirty="0"/>
          </a:p>
        </p:txBody>
      </p:sp>
      <p:sp>
        <p:nvSpPr>
          <p:cNvPr id="33" name="Text 31"/>
          <p:cNvSpPr/>
          <p:nvPr/>
        </p:nvSpPr>
        <p:spPr>
          <a:xfrm>
            <a:off x="649224" y="4420210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Исполнитель отзывает предъявление и подпись, затем меняет состав.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3863340" y="4072738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09644" y="4191610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не согласует себя</a:t>
            </a:r>
            <a:endParaRPr lang="en-US" sz="970" dirty="0"/>
          </a:p>
        </p:txBody>
      </p:sp>
      <p:sp>
        <p:nvSpPr>
          <p:cNvPr id="36" name="Text 34"/>
          <p:cNvSpPr/>
          <p:nvPr/>
        </p:nvSpPr>
        <p:spPr>
          <a:xfrm>
            <a:off x="4009644" y="4420210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Контрагент-сервис исключён из стороны согласования, даже если у него есть права статуса.</a:t>
            </a:r>
            <a:endParaRPr lang="en-US" sz="8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Документы, результат и автоприёмка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 файла влияет на видимость, планку закрытия и гарантийный контур.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302268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1559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05188" y="1298448"/>
            <a:ext cx="3727182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8340" y="1389888"/>
            <a:ext cx="358087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532371" y="1298448"/>
            <a:ext cx="152679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523" y="1389888"/>
            <a:ext cx="138049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Заявителю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30226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155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Вложение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1805188" y="1645920"/>
            <a:ext cx="3727182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78340" y="1728216"/>
            <a:ext cx="3580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и общие материалы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5532371" y="1645920"/>
            <a:ext cx="152679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05523" y="1728216"/>
            <a:ext cx="1380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Видно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29968"/>
            <a:ext cx="1302268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2264"/>
            <a:ext cx="1155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работ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1805188" y="2029968"/>
            <a:ext cx="3727182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78340" y="2112264"/>
            <a:ext cx="3580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и приложение к ревизии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5532371" y="2029968"/>
            <a:ext cx="152679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05523" y="2112264"/>
            <a:ext cx="1380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Скрыто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14016"/>
            <a:ext cx="130226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496312"/>
            <a:ext cx="1155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1805188" y="2414016"/>
            <a:ext cx="3727182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78340" y="2496312"/>
            <a:ext cx="3580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 выполненных работ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5532371" y="2414016"/>
            <a:ext cx="152679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05523" y="2496312"/>
            <a:ext cx="1380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Скрыто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798064"/>
            <a:ext cx="1302268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880360"/>
            <a:ext cx="1155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Счёт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1805188" y="2798064"/>
            <a:ext cx="3727182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78340" y="2880360"/>
            <a:ext cx="3580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Финансовый документ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5532371" y="2798064"/>
            <a:ext cx="152679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05523" y="2880360"/>
            <a:ext cx="1380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Скрыто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182112"/>
            <a:ext cx="130226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3264408"/>
            <a:ext cx="1155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Гарантийный талон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1805188" y="3182112"/>
            <a:ext cx="3727182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78340" y="3264408"/>
            <a:ext cx="3580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 срока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5532371" y="3182112"/>
            <a:ext cx="152679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05523" y="3264408"/>
            <a:ext cx="1380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Видно</a:t>
            </a:r>
            <a:endParaRPr lang="en-US" sz="810" dirty="0"/>
          </a:p>
        </p:txBody>
      </p:sp>
      <p:sp>
        <p:nvSpPr>
          <p:cNvPr id="46" name="Shape 44"/>
          <p:cNvSpPr/>
          <p:nvPr/>
        </p:nvSpPr>
        <p:spPr>
          <a:xfrm>
            <a:off x="502920" y="374904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369417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внешнего обслуживания до «Решена» нужен хотя бы акт, счёт или гарантийный талон.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502920" y="405993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" y="400507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Закрытие фиксирует выполненные, частичные и невыполненные строки, фактические суммы и гарантии.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502920" y="4370832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3232" y="431596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принимает работу либо возвращает её на доработку с причиной.</a:t>
            </a:r>
            <a:endParaRPr lang="en-US" sz="930" dirty="0"/>
          </a:p>
        </p:txBody>
      </p:sp>
      <p:sp>
        <p:nvSpPr>
          <p:cNvPr id="52" name="Shape 50"/>
          <p:cNvSpPr/>
          <p:nvPr/>
        </p:nvSpPr>
        <p:spPr>
          <a:xfrm>
            <a:off x="502920" y="468172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" y="4626864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24 часа «Решена» принимается автоматически, если не отложена и документная планка выполнена.</a:t>
            </a:r>
            <a:endParaRPr lang="en-US" sz="930" dirty="0"/>
          </a:p>
        </p:txBody>
      </p:sp>
      <p:sp>
        <p:nvSpPr>
          <p:cNvPr id="54" name="Shape 52"/>
          <p:cNvSpPr/>
          <p:nvPr/>
        </p:nvSpPr>
        <p:spPr>
          <a:xfrm>
            <a:off x="502920" y="5114605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5059741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 на доработку снимает рассчитанные гарантийные даты; повторное закрытие пересчитывает их.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502920" y="5510906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8368" y="5638922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Непроверенный кандидат блокирует приёмку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58368" y="5867522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Работу можно выполнить и предъявить, но окончательно принять заявку с аппаратом «на проверке» нельзя до решения по карточке.</a:t>
            </a:r>
            <a:endParaRPr lang="en-US" sz="8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Расходники и плановая закупка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Номенклатура, складской остаток, потребность и закупка — разные сущности.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52679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38049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Контур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029717" y="1298448"/>
            <a:ext cx="197585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2869" y="1389888"/>
            <a:ext cx="18295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ведёт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005573" y="1298448"/>
            <a:ext cx="3053595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78725" y="1389888"/>
            <a:ext cx="290729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меняет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52679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38049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Номенклатура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2029717" y="1645920"/>
            <a:ext cx="197585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2869" y="1728216"/>
            <a:ext cx="182955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Набор «Оргтехника: номенклатура»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005573" y="1645920"/>
            <a:ext cx="3053595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78725" y="1728216"/>
            <a:ext cx="290729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картриджей/тонеров и совместимость моделей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37100"/>
            <a:ext cx="152679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9396"/>
            <a:ext cx="1380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Остаток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2029717" y="2037100"/>
            <a:ext cx="1975856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02869" y="2119396"/>
            <a:ext cx="182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набор, отдельное право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005573" y="2037100"/>
            <a:ext cx="3053595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78725" y="2119396"/>
            <a:ext cx="2907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Ручная корректировка с причиной и журналом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1148"/>
            <a:ext cx="152679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03444"/>
            <a:ext cx="138049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2029717" y="2421148"/>
            <a:ext cx="197585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02869" y="2503444"/>
            <a:ext cx="182955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Заявитель + назначенный исполнитель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005573" y="2421148"/>
            <a:ext cx="3053595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78725" y="2503444"/>
            <a:ext cx="290729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Описание → выбранные позиции → фактически выдано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12329"/>
            <a:ext cx="152679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894625"/>
            <a:ext cx="1380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2029717" y="2812329"/>
            <a:ext cx="1975856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02869" y="2894625"/>
            <a:ext cx="182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номенклатуру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005573" y="2812329"/>
            <a:ext cx="3053595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078725" y="2894625"/>
            <a:ext cx="2907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держать на полке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196377"/>
            <a:ext cx="1526797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3278673"/>
            <a:ext cx="1380493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Закупка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2029717" y="3196377"/>
            <a:ext cx="197585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02869" y="3278673"/>
            <a:ext cx="182955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 «Ведения»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4005573" y="3196377"/>
            <a:ext cx="3053595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78725" y="3278673"/>
            <a:ext cx="290729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Черновик, отправка, закрытие/отмена документа; склад не меняет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502920" y="3715573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Цикл заявки на расходники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02920" y="4044757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067617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49" name="Text 47"/>
          <p:cNvSpPr/>
          <p:nvPr/>
        </p:nvSpPr>
        <p:spPr>
          <a:xfrm>
            <a:off x="813816" y="4026469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Заявитель словами описывает, чего не хватает.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502920" y="4392229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2920" y="4415089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52" name="Text 50"/>
          <p:cNvSpPr/>
          <p:nvPr/>
        </p:nvSpPr>
        <p:spPr>
          <a:xfrm>
            <a:off x="813816" y="4373941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Исполнитель подбирает позиции справочника и количество.</a:t>
            </a:r>
            <a:endParaRPr lang="en-US" sz="930" dirty="0"/>
          </a:p>
        </p:txBody>
      </p:sp>
      <p:sp>
        <p:nvSpPr>
          <p:cNvPr id="53" name="Shape 51"/>
          <p:cNvSpPr/>
          <p:nvPr/>
        </p:nvSpPr>
        <p:spPr>
          <a:xfrm>
            <a:off x="502920" y="4739701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4762561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55" name="Text 53"/>
          <p:cNvSpPr/>
          <p:nvPr/>
        </p:nvSpPr>
        <p:spPr>
          <a:xfrm>
            <a:off x="813816" y="4721413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«В работе» или «Решена» отмечает фактическую выдачу; расхождение требует причины.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502920" y="5087173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5110033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58" name="Text 56"/>
          <p:cNvSpPr/>
          <p:nvPr/>
        </p:nvSpPr>
        <p:spPr>
          <a:xfrm>
            <a:off x="813816" y="5068885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Списание/возврат пишется событием склада и ссылкой на строку заявки.</a:t>
            </a:r>
            <a:endParaRPr lang="en-US" sz="930" dirty="0"/>
          </a:p>
        </p:txBody>
      </p:sp>
      <p:sp>
        <p:nvSpPr>
          <p:cNvPr id="59" name="Shape 57"/>
          <p:cNvSpPr/>
          <p:nvPr/>
        </p:nvSpPr>
        <p:spPr>
          <a:xfrm>
            <a:off x="502920" y="5434645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2920" y="5457505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61" name="Text 59"/>
          <p:cNvSpPr/>
          <p:nvPr/>
        </p:nvSpPr>
        <p:spPr>
          <a:xfrm>
            <a:off x="813816" y="5416357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Объёма работ и согласования стоимости у такого вида нет.</a:t>
            </a:r>
            <a:endParaRPr lang="en-US" sz="930" dirty="0"/>
          </a:p>
        </p:txBody>
      </p:sp>
      <p:sp>
        <p:nvSpPr>
          <p:cNvPr id="62" name="Shape 60"/>
          <p:cNvSpPr/>
          <p:nvPr/>
        </p:nvSpPr>
        <p:spPr>
          <a:xfrm>
            <a:off x="502920" y="578211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8368" y="591013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Закупка не пополняет остаток автоматически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58368" y="613873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Закрытый документ закупки означает, что процесс снабжения завершён. Фактическое поступление отражается отдельной операцией склада.</a:t>
            </a:r>
            <a:endParaRPr lang="en-US" sz="89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Парк, модели и характеристики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аппарата отделена от модели; цветность и другие характеристики принадлежат модели.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39208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2457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Сущность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95000" y="1298448"/>
            <a:ext cx="3053595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8152" y="1389888"/>
            <a:ext cx="290729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поля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48595" y="1298448"/>
            <a:ext cx="211057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1747" y="1389888"/>
            <a:ext cx="196426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Правило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39208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24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1895000" y="1645920"/>
            <a:ext cx="3053595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68152" y="1728216"/>
            <a:ext cx="29072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МФУ, принтер и другие классы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948595" y="1645920"/>
            <a:ext cx="211057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1747" y="1728216"/>
            <a:ext cx="19642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Область справочника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29968"/>
            <a:ext cx="139208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2264"/>
            <a:ext cx="124577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1895000" y="2029968"/>
            <a:ext cx="3053595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68152" y="2112264"/>
            <a:ext cx="290729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Производитель, наименование, характеристики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948595" y="2029968"/>
            <a:ext cx="211057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1747" y="2112264"/>
            <a:ext cx="196426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канон для аппаратов и совместимости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1148"/>
            <a:ext cx="1392080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03444"/>
            <a:ext cx="124577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Аппарат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1895000" y="2421148"/>
            <a:ext cx="3053595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68152" y="2503444"/>
            <a:ext cx="290729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Серийный/инвентарный номер, объект, отдел, место, покупка, гарантия, состояние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948595" y="2421148"/>
            <a:ext cx="211057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1747" y="2503444"/>
            <a:ext cx="196426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единица парка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12329"/>
            <a:ext cx="139208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894625"/>
            <a:ext cx="124577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Расходник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1895000" y="2812329"/>
            <a:ext cx="3053595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68152" y="2894625"/>
            <a:ext cx="2907291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Код, название, цвет, остаток, потребность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948595" y="2812329"/>
            <a:ext cx="211057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1747" y="2894625"/>
            <a:ext cx="196426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Совместимость многие-ко-многим с моделями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386389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3331525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Выключенная карточка не принимает новые заявки; открытые заявки сначала доводят или отменяют.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502920" y="3697285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3642421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Цветность показывается второй строкой у типа модели; «н/д» означает отсутствие подтверждённых данных, а не чёрно-белую печать.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502920" y="4130162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3232" y="407529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Серийный и инвентарный номера защищены от дублей; поиск в форме заявки выполняется на сервере.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502920" y="444105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4386194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Справочник и история сохраняют мягкое удаление/архив; физическое удаление — отдельное административное право.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502920" y="4837359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AFAFA"/>
          </a:solidFill>
          <a:ln w="10160">
            <a:solidFill>
              <a:srgbClr val="E7EA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" y="4965375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Автоматический сбор наработки — не пользовательская функция текущей версии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58368" y="5193975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SNMP/IPP, локальный коллектор, показания и статистика описаны планами и требуют пилота в сети объекта. Не ищите эти показатели в карточке, пока модуль не выпущен отдельно.</a:t>
            </a:r>
            <a:endParaRPr lang="en-US" sz="89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Перемещения и агрегированная история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Текущее место — состояние карточки, каждое перемещение — отдельное событие с причиной.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1673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959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813816" y="129844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аппарат из заявки или справочника и выбрать перемещение.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66420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8706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813816" y="164592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Зафиксировать откуда, куда, дату, состояние, причину и комментарий.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01168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03454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813816" y="1993392"/>
            <a:ext cx="6245352" cy="396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заявленном расхождении подтвердить совпадение нового места с заявлением либо объяснить отличия.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462845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485705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813816" y="2444557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конфликте обновить карточку: параллельное перемещение уже изменило исходную точку.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2810317"/>
            <a:ext cx="1616609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901757"/>
            <a:ext cx="147030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 истории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19529" y="2810317"/>
            <a:ext cx="296378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681" y="2901757"/>
            <a:ext cx="281747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отвечает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083312" y="2810317"/>
            <a:ext cx="197585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56464" y="2901757"/>
            <a:ext cx="18295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волны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3157789"/>
            <a:ext cx="1616609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3240085"/>
            <a:ext cx="147030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Изменения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2119529" y="3157789"/>
            <a:ext cx="296378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92681" y="3240085"/>
            <a:ext cx="281747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менялись реквизиты карточки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5083312" y="3157789"/>
            <a:ext cx="197585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56464" y="3240085"/>
            <a:ext cx="182955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Контракты и сервер готовы; портал вводится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3548969"/>
            <a:ext cx="1616609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3631265"/>
            <a:ext cx="147030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Перемещения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2119529" y="3548969"/>
            <a:ext cx="2963783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92681" y="3631265"/>
            <a:ext cx="281747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→ куда, дата, причина, состояние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5083312" y="3548969"/>
            <a:ext cx="197585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56464" y="3631265"/>
            <a:ext cx="182955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Вводится вместе с карточкой истории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940150"/>
            <a:ext cx="1616609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4022446"/>
            <a:ext cx="1470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</a:t>
            </a:r>
            <a:endParaRPr lang="en-US" sz="810" dirty="0"/>
          </a:p>
        </p:txBody>
      </p:sp>
      <p:sp>
        <p:nvSpPr>
          <p:cNvPr id="42" name="Shape 40"/>
          <p:cNvSpPr/>
          <p:nvPr/>
        </p:nvSpPr>
        <p:spPr>
          <a:xfrm>
            <a:off x="2119529" y="3940150"/>
            <a:ext cx="296378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92681" y="4022446"/>
            <a:ext cx="2817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Обслуживание и расходники по аппарату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5083312" y="3940150"/>
            <a:ext cx="1975856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56464" y="4022446"/>
            <a:ext cx="182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Серверная выборка готова</a:t>
            </a:r>
            <a:endParaRPr lang="en-US" sz="810" dirty="0"/>
          </a:p>
        </p:txBody>
      </p:sp>
      <p:sp>
        <p:nvSpPr>
          <p:cNvPr id="46" name="Shape 44"/>
          <p:cNvSpPr/>
          <p:nvPr/>
        </p:nvSpPr>
        <p:spPr>
          <a:xfrm>
            <a:off x="502920" y="4324198"/>
            <a:ext cx="1616609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4406494"/>
            <a:ext cx="1470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история</a:t>
            </a:r>
            <a:endParaRPr lang="en-US" sz="810" dirty="0"/>
          </a:p>
        </p:txBody>
      </p:sp>
      <p:sp>
        <p:nvSpPr>
          <p:cNvPr id="48" name="Shape 46"/>
          <p:cNvSpPr/>
          <p:nvPr/>
        </p:nvSpPr>
        <p:spPr>
          <a:xfrm>
            <a:off x="2119529" y="4324198"/>
            <a:ext cx="296378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681" y="4406494"/>
            <a:ext cx="2817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Общий хронологический журнал и выгрузка</a:t>
            </a:r>
            <a:endParaRPr lang="en-US" sz="810" dirty="0"/>
          </a:p>
        </p:txBody>
      </p:sp>
      <p:sp>
        <p:nvSpPr>
          <p:cNvPr id="50" name="Shape 48"/>
          <p:cNvSpPr/>
          <p:nvPr/>
        </p:nvSpPr>
        <p:spPr>
          <a:xfrm>
            <a:off x="5083312" y="4324198"/>
            <a:ext cx="1975856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56464" y="4406494"/>
            <a:ext cx="182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Действующий запасной источник</a:t>
            </a:r>
            <a:endParaRPr lang="en-US" sz="810" dirty="0"/>
          </a:p>
        </p:txBody>
      </p:sp>
      <p:sp>
        <p:nvSpPr>
          <p:cNvPr id="52" name="Shape 50"/>
          <p:cNvSpPr/>
          <p:nvPr/>
        </p:nvSpPr>
        <p:spPr>
          <a:xfrm>
            <a:off x="502920" y="4836262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" y="4964278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путать историю заявки и аппарата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58368" y="5192878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объясняет решения по одному обращению. Вторая собирает изменения, переезды и все заявки одной единицы. Ссылка из блока заявки открывает карточку исходного обращения.</a:t>
            </a:r>
            <a:endParaRPr lang="en-US" sz="8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гарантия единицы техники и гарантия результата ремонта/детали. Их источники и жизненный цикл различаются.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616609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47030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Гарантия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19529" y="1298448"/>
            <a:ext cx="2694348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2681" y="1389888"/>
            <a:ext cx="25480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 даты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13878" y="1298448"/>
            <a:ext cx="2245290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7030" y="1389888"/>
            <a:ext cx="209898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используется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616609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470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Техники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2119529" y="1645920"/>
            <a:ext cx="269434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92681" y="1728216"/>
            <a:ext cx="254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аппарата / документы поставки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813878" y="1645920"/>
            <a:ext cx="224529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87030" y="1728216"/>
            <a:ext cx="20989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Обращение «Гарантия на технику»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29968"/>
            <a:ext cx="1616609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2264"/>
            <a:ext cx="147030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Ремонта или детали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2119529" y="2029968"/>
            <a:ext cx="2694348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681" y="2112264"/>
            <a:ext cx="2548044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Обещанные месяцы + дата завершения либо дата талона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813878" y="2029968"/>
            <a:ext cx="2245290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87030" y="2112264"/>
            <a:ext cx="2098986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гарантий и новая заявка по прошлой работе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1148"/>
            <a:ext cx="1616609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03444"/>
            <a:ext cx="1470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Гарантийный талон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2119529" y="2421148"/>
            <a:ext cx="2694348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92681" y="2503444"/>
            <a:ext cx="254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Файл заявки с правильным видом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813878" y="2421148"/>
            <a:ext cx="2245290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7030" y="2503444"/>
            <a:ext cx="20989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Подтверждает срок и виден заявителю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98807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293321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Пограничный день считается действующим по единому календарю модуля.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02920" y="3298972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324410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 на доработку очищает даты результата; повторное закрытие требует новой проверки.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502920" y="360986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3555004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Архивирование не должно расширять аудиторию и не должно стирать бизнес-факт выполненной работы.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502920" y="3920764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" y="3865900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Отдельная волна ещё завершает исправление ошибочной даты, полный реестр, архив, выгрузку и предупреждения.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502920" y="4317065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4445081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Работайте по текущему экрану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8368" y="4673681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в реестре нет фильтра, выгрузки или действия исправления даты, не подменяйте их обычной правкой заявки. Зафиксируйте ошибку и передайте оператору до выпуска гарантийной волны.</a:t>
            </a:r>
            <a:endParaRPr lang="en-US" sz="89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Обсуждение, письма и аудит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Обсуждение — адресная лента внутри заявки; почта — производное уведомление; история и аудит — доказательство действий.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43698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29068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39906" y="1298448"/>
            <a:ext cx="296378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3058" y="1389888"/>
            <a:ext cx="281747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03689" y="1298448"/>
            <a:ext cx="2155479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76841" y="1389888"/>
            <a:ext cx="20091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использовать как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43698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29068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Обсуждение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1939906" y="1645920"/>
            <a:ext cx="2963783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13058" y="1728216"/>
            <a:ext cx="2817479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 и ответы участникам заявки, непрочитанные реплики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903689" y="1645920"/>
            <a:ext cx="2155479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76841" y="1728216"/>
            <a:ext cx="2009175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Поле для финансовых строк вместо объёма работ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37100"/>
            <a:ext cx="1436986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9396"/>
            <a:ext cx="12906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Документы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1939906" y="2037100"/>
            <a:ext cx="296378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13058" y="2119396"/>
            <a:ext cx="2817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Файлы с явным видом и правилами аудитории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903689" y="2037100"/>
            <a:ext cx="2155479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6841" y="2119396"/>
            <a:ext cx="200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Комментарий без объяснения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1148"/>
            <a:ext cx="1436986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03444"/>
            <a:ext cx="12906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История заявки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1939906" y="2421148"/>
            <a:ext cx="296378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13058" y="2503444"/>
            <a:ext cx="2817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Бизнес-события, причины, изменения и переходы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903689" y="2421148"/>
            <a:ext cx="2155479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76841" y="2503444"/>
            <a:ext cx="200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технический аудит системы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05196"/>
            <a:ext cx="1436986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887492"/>
            <a:ext cx="12906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Почта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1939906" y="2805196"/>
            <a:ext cx="296378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3058" y="2887492"/>
            <a:ext cx="2817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Оповещение адресатов о событии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903689" y="2805196"/>
            <a:ext cx="2155479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76841" y="2887492"/>
            <a:ext cx="200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Единственное подтверждение операции</a:t>
            </a:r>
            <a:endParaRPr lang="en-US" sz="810" dirty="0"/>
          </a:p>
        </p:txBody>
      </p:sp>
      <p:sp>
        <p:nvSpPr>
          <p:cNvPr id="40" name="Text 38"/>
          <p:cNvSpPr/>
          <p:nvPr/>
        </p:nvSpPr>
        <p:spPr>
          <a:xfrm>
            <a:off x="502920" y="3317260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Почтовая волна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02920" y="368302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3232" y="3628156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 переходов, объёма работ, документов, комментариев и кандидатов собраны через атомарную очередь.</a:t>
            </a:r>
            <a:endParaRPr lang="en-US" sz="930" dirty="0"/>
          </a:p>
        </p:txBody>
      </p:sp>
      <p:sp>
        <p:nvSpPr>
          <p:cNvPr id="43" name="Shape 41"/>
          <p:cNvSpPr/>
          <p:nvPr/>
        </p:nvSpPr>
        <p:spPr>
          <a:xfrm>
            <a:off x="502920" y="4115897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" y="4061033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виды остаются выключенными до проверки адресатов и живой отправки.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502920" y="4426793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3232" y="4371929"/>
            <a:ext cx="6345936" cy="378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 действия не получает бессмысленную копию; участники и копии считаются после блокировки заявки.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502920" y="485967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480480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Массовая операция формирует сводку, а не десятки одинаковых писем одному человеку.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502920" y="5133990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" y="5262006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письмо не пришло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8368" y="5490606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Операция могла завершиться успешно при выключенном событии или отсутствии адресата. Смотрите тост результата и карточку заявки; администратор проверяет исход уведомления и настройки события.</a:t>
            </a:r>
            <a:endParaRPr lang="en-US" sz="89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Быстрые и массовые действия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 волны используют те же доменные проверки, что одиночные операции, и не расширяют права.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516411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37010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019331" y="1298448"/>
            <a:ext cx="2899021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92483" y="1389888"/>
            <a:ext cx="2752717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готово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18352" y="1298448"/>
            <a:ext cx="2140816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91504" y="1389888"/>
            <a:ext cx="1994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Ограничение/запасной путь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516411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3701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как кнопка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2019331" y="1645920"/>
            <a:ext cx="2899021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92483" y="1728216"/>
            <a:ext cx="275271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Быстрый вход в строке и карточке, причины неактивности, фокус/мобильность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4918352" y="1645920"/>
            <a:ext cx="214081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91504" y="1728216"/>
            <a:ext cx="199451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не завершён; меню «Действия» остаётся</a:t>
            </a:r>
            <a:endParaRPr lang="en-US" sz="810" dirty="0"/>
          </a:p>
        </p:txBody>
      </p:sp>
      <p:sp>
        <p:nvSpPr>
          <p:cNvPr id="22" name="Shape 20"/>
          <p:cNvSpPr/>
          <p:nvPr/>
        </p:nvSpPr>
        <p:spPr>
          <a:xfrm>
            <a:off x="502920" y="2037100"/>
            <a:ext cx="1516411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9396"/>
            <a:ext cx="13701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Очистка меню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2019331" y="2037100"/>
            <a:ext cx="2899021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92483" y="2119396"/>
            <a:ext cx="275271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Повторы сняты или перенесены к полю/статусу</a:t>
            </a:r>
            <a:endParaRPr lang="en-US" sz="810" dirty="0"/>
          </a:p>
        </p:txBody>
      </p:sp>
      <p:sp>
        <p:nvSpPr>
          <p:cNvPr id="26" name="Shape 24"/>
          <p:cNvSpPr/>
          <p:nvPr/>
        </p:nvSpPr>
        <p:spPr>
          <a:xfrm>
            <a:off x="4918352" y="2037100"/>
            <a:ext cx="214081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91504" y="2119396"/>
            <a:ext cx="199451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волн ждёт наблюдения и приёмки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502920" y="2428281"/>
            <a:ext cx="1516411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510577"/>
            <a:ext cx="13701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Массовые операции</a:t>
            </a:r>
            <a:endParaRPr lang="en-US" sz="810" dirty="0"/>
          </a:p>
        </p:txBody>
      </p:sp>
      <p:sp>
        <p:nvSpPr>
          <p:cNvPr id="30" name="Shape 28"/>
          <p:cNvSpPr/>
          <p:nvPr/>
        </p:nvSpPr>
        <p:spPr>
          <a:xfrm>
            <a:off x="2019331" y="2428281"/>
            <a:ext cx="2899021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92483" y="2510577"/>
            <a:ext cx="275271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Отмена, пауза, возобновление, срочность, назначение, старт, приёмка, архив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4918352" y="2428281"/>
            <a:ext cx="2140816" cy="391180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91504" y="2510577"/>
            <a:ext cx="199451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Выкат/пилот впереди; на телефоне полоса выбора не показывается</a:t>
            </a:r>
            <a:endParaRPr lang="en-US" sz="810" dirty="0"/>
          </a:p>
        </p:txBody>
      </p:sp>
      <p:sp>
        <p:nvSpPr>
          <p:cNvPr id="34" name="Shape 32"/>
          <p:cNvSpPr/>
          <p:nvPr/>
        </p:nvSpPr>
        <p:spPr>
          <a:xfrm>
            <a:off x="502920" y="2819461"/>
            <a:ext cx="1516411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901757"/>
            <a:ext cx="137010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пачки</a:t>
            </a:r>
            <a:endParaRPr lang="en-US" sz="810" dirty="0"/>
          </a:p>
        </p:txBody>
      </p:sp>
      <p:sp>
        <p:nvSpPr>
          <p:cNvPr id="36" name="Shape 34"/>
          <p:cNvSpPr/>
          <p:nvPr/>
        </p:nvSpPr>
        <p:spPr>
          <a:xfrm>
            <a:off x="2019331" y="2819461"/>
            <a:ext cx="2899021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92483" y="2901757"/>
            <a:ext cx="2752717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Построчный результат, повтор неудачных, восстановление по ключу</a:t>
            </a:r>
            <a:endParaRPr lang="en-US" sz="810" dirty="0"/>
          </a:p>
        </p:txBody>
      </p:sp>
      <p:sp>
        <p:nvSpPr>
          <p:cNvPr id="38" name="Shape 36"/>
          <p:cNvSpPr/>
          <p:nvPr/>
        </p:nvSpPr>
        <p:spPr>
          <a:xfrm>
            <a:off x="4918352" y="2819461"/>
            <a:ext cx="2140816" cy="391180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91504" y="2901757"/>
            <a:ext cx="1994512" cy="281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1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одних строк не откатывается из-за отказа других</a:t>
            </a:r>
            <a:endParaRPr lang="en-US" sz="810" dirty="0"/>
          </a:p>
        </p:txBody>
      </p:sp>
      <p:sp>
        <p:nvSpPr>
          <p:cNvPr id="40" name="Shape 38"/>
          <p:cNvSpPr/>
          <p:nvPr/>
        </p:nvSpPr>
        <p:spPr>
          <a:xfrm>
            <a:off x="502920" y="3338657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1F0"/>
          </a:solidFill>
          <a:ln w="10160">
            <a:solidFill>
              <a:srgbClr val="FFCC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3466673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F13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массово не делается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3695273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Закрытие работ, возврат на доработку, объём работ и административные откаты требуют строчных фактов, документов или разных причин. Их выполняют по одной заявке.</a:t>
            </a:r>
            <a:endParaRPr lang="en-US" sz="890" dirty="0"/>
          </a:p>
        </p:txBody>
      </p:sp>
      <p:sp>
        <p:nvSpPr>
          <p:cNvPr id="43" name="Text 41"/>
          <p:cNvSpPr/>
          <p:nvPr/>
        </p:nvSpPr>
        <p:spPr>
          <a:xfrm>
            <a:off x="502920" y="4178259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 пачки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4544019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3232" y="4489155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Выбираются только видимые строки текущего набора фильтров; смена области сбрасывает выбор.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502920" y="4854915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4800051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строка отправляется с версией; изменившаяся заявка получает отдельный отказ.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502920" y="5165811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" y="5110947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массового назначения, отмены, паузы и срочности относится ко всем выбранным строкам.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502920" y="5476707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3232" y="5421843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ввода волны выполняйте эти действия по одной заявке через обычные окна.</a:t>
            </a:r>
            <a:endParaRPr lang="en-US" sz="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готовности рефакторинга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приведено по рабочему дереву на дату сверки, а не как обещание конкретного прод-контура.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1828613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1389888"/>
            <a:ext cx="168230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Область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533" y="1298448"/>
            <a:ext cx="236381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04685" y="1389888"/>
            <a:ext cx="221751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95351" y="1298448"/>
            <a:ext cx="2363817" cy="347472"/>
          </a:xfrm>
          <a:prstGeom prst="rect">
            <a:avLst/>
          </a:prstGeom>
          <a:solidFill>
            <a:srgbClr val="172033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8503" y="1389888"/>
            <a:ext cx="221751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Пользовательское правило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1645920"/>
            <a:ext cx="182861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1728216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и аудитории карточки</a:t>
            </a:r>
            <a:endParaRPr lang="en-US" sz="770" dirty="0"/>
          </a:p>
        </p:txBody>
      </p:sp>
      <p:sp>
        <p:nvSpPr>
          <p:cNvPr id="18" name="Shape 16"/>
          <p:cNvSpPr/>
          <p:nvPr/>
        </p:nvSpPr>
        <p:spPr>
          <a:xfrm>
            <a:off x="2331533" y="1645920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04685" y="1728216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и портал реализованы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4695351" y="1645920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8503" y="1728216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Использовать новую матрицу ролей и скрытие финансов заявителю</a:t>
            </a:r>
            <a:endParaRPr lang="en-US" sz="770" dirty="0"/>
          </a:p>
        </p:txBody>
      </p:sp>
      <p:sp>
        <p:nvSpPr>
          <p:cNvPr id="22" name="Shape 20"/>
          <p:cNvSpPr/>
          <p:nvPr/>
        </p:nvSpPr>
        <p:spPr>
          <a:xfrm>
            <a:off x="502920" y="2029968"/>
            <a:ext cx="182861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2112264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Упрощённый цикл и объём работ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2331533" y="2029968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04685" y="2112264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Реализованы</a:t>
            </a:r>
            <a:endParaRPr lang="en-US" sz="770" dirty="0"/>
          </a:p>
        </p:txBody>
      </p:sp>
      <p:sp>
        <p:nvSpPr>
          <p:cNvPr id="26" name="Shape 24"/>
          <p:cNvSpPr/>
          <p:nvPr/>
        </p:nvSpPr>
        <p:spPr>
          <a:xfrm>
            <a:off x="4695351" y="2029968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68503" y="2112264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ждать старых статусов; смотреть сторону ожидания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502920" y="2414016"/>
            <a:ext cx="182861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2496312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Кандидаты техники</a:t>
            </a:r>
            <a:endParaRPr lang="en-US" sz="770" dirty="0"/>
          </a:p>
        </p:txBody>
      </p:sp>
      <p:sp>
        <p:nvSpPr>
          <p:cNvPr id="30" name="Shape 28"/>
          <p:cNvSpPr/>
          <p:nvPr/>
        </p:nvSpPr>
        <p:spPr>
          <a:xfrm>
            <a:off x="2331533" y="2414016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04685" y="2496312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Собраны, включение прав впереди</a:t>
            </a:r>
            <a:endParaRPr lang="en-US" sz="770" dirty="0"/>
          </a:p>
        </p:txBody>
      </p:sp>
      <p:sp>
        <p:nvSpPr>
          <p:cNvPr id="32" name="Shape 30"/>
          <p:cNvSpPr/>
          <p:nvPr/>
        </p:nvSpPr>
        <p:spPr>
          <a:xfrm>
            <a:off x="4695351" y="2414016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68503" y="2496312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окна нет — техподдержка</a:t>
            </a:r>
            <a:endParaRPr lang="en-US" sz="770" dirty="0"/>
          </a:p>
        </p:txBody>
      </p:sp>
      <p:sp>
        <p:nvSpPr>
          <p:cNvPr id="34" name="Shape 32"/>
          <p:cNvSpPr/>
          <p:nvPr/>
        </p:nvSpPr>
        <p:spPr>
          <a:xfrm>
            <a:off x="502920" y="2798064"/>
            <a:ext cx="182861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880360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Быстрый статус и меню</a:t>
            </a:r>
            <a:endParaRPr lang="en-US" sz="770" dirty="0"/>
          </a:p>
        </p:txBody>
      </p:sp>
      <p:sp>
        <p:nvSpPr>
          <p:cNvPr id="36" name="Shape 34"/>
          <p:cNvSpPr/>
          <p:nvPr/>
        </p:nvSpPr>
        <p:spPr>
          <a:xfrm>
            <a:off x="2331533" y="2798064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04685" y="2880360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готов/частично введён, пилот не закрыт</a:t>
            </a:r>
            <a:endParaRPr lang="en-US" sz="770" dirty="0"/>
          </a:p>
        </p:txBody>
      </p:sp>
      <p:sp>
        <p:nvSpPr>
          <p:cNvPr id="38" name="Shape 36"/>
          <p:cNvSpPr/>
          <p:nvPr/>
        </p:nvSpPr>
        <p:spPr>
          <a:xfrm>
            <a:off x="4695351" y="2798064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68503" y="2880360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Искать то же действие в меню</a:t>
            </a:r>
            <a:endParaRPr lang="en-US" sz="770" dirty="0"/>
          </a:p>
        </p:txBody>
      </p:sp>
      <p:sp>
        <p:nvSpPr>
          <p:cNvPr id="40" name="Shape 38"/>
          <p:cNvSpPr/>
          <p:nvPr/>
        </p:nvSpPr>
        <p:spPr>
          <a:xfrm>
            <a:off x="502920" y="3182112"/>
            <a:ext cx="182861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3264408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Массовые операции</a:t>
            </a:r>
            <a:endParaRPr lang="en-US" sz="770" dirty="0"/>
          </a:p>
        </p:txBody>
      </p:sp>
      <p:sp>
        <p:nvSpPr>
          <p:cNvPr id="42" name="Shape 40"/>
          <p:cNvSpPr/>
          <p:nvPr/>
        </p:nvSpPr>
        <p:spPr>
          <a:xfrm>
            <a:off x="2331533" y="3182112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04685" y="3264408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готов, выкат впереди</a:t>
            </a:r>
            <a:endParaRPr lang="en-US" sz="770" dirty="0"/>
          </a:p>
        </p:txBody>
      </p:sp>
      <p:sp>
        <p:nvSpPr>
          <p:cNvPr id="44" name="Shape 42"/>
          <p:cNvSpPr/>
          <p:nvPr/>
        </p:nvSpPr>
        <p:spPr>
          <a:xfrm>
            <a:off x="4695351" y="3182112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68503" y="3264408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 по одной заявке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502920" y="3566160"/>
            <a:ext cx="182861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3648456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Блоки истории</a:t>
            </a:r>
            <a:endParaRPr lang="en-US" sz="770" dirty="0"/>
          </a:p>
        </p:txBody>
      </p:sp>
      <p:sp>
        <p:nvSpPr>
          <p:cNvPr id="48" name="Shape 46"/>
          <p:cNvSpPr/>
          <p:nvPr/>
        </p:nvSpPr>
        <p:spPr>
          <a:xfrm>
            <a:off x="2331533" y="3566160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04685" y="3648456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Контракты/сервер готовы; портал и выгрузка в работе</a:t>
            </a:r>
            <a:endParaRPr lang="en-US" sz="770" dirty="0"/>
          </a:p>
        </p:txBody>
      </p:sp>
      <p:sp>
        <p:nvSpPr>
          <p:cNvPr id="50" name="Shape 48"/>
          <p:cNvSpPr/>
          <p:nvPr/>
        </p:nvSpPr>
        <p:spPr>
          <a:xfrm>
            <a:off x="4695351" y="3566160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68503" y="3648456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история — запасной источник</a:t>
            </a:r>
            <a:endParaRPr lang="en-US" sz="770" dirty="0"/>
          </a:p>
        </p:txBody>
      </p:sp>
      <p:sp>
        <p:nvSpPr>
          <p:cNvPr id="52" name="Shape 50"/>
          <p:cNvSpPr/>
          <p:nvPr/>
        </p:nvSpPr>
        <p:spPr>
          <a:xfrm>
            <a:off x="502920" y="3950208"/>
            <a:ext cx="1828613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76072" y="4032504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Гарантийное завершение</a:t>
            </a:r>
            <a:endParaRPr lang="en-US" sz="770" dirty="0"/>
          </a:p>
        </p:txBody>
      </p:sp>
      <p:sp>
        <p:nvSpPr>
          <p:cNvPr id="54" name="Shape 52"/>
          <p:cNvSpPr/>
          <p:nvPr/>
        </p:nvSpPr>
        <p:spPr>
          <a:xfrm>
            <a:off x="2331533" y="3950208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404685" y="4032504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Инвентарь и тесты; изменения впереди</a:t>
            </a:r>
            <a:endParaRPr lang="en-US" sz="770" dirty="0"/>
          </a:p>
        </p:txBody>
      </p:sp>
      <p:sp>
        <p:nvSpPr>
          <p:cNvPr id="56" name="Shape 54"/>
          <p:cNvSpPr/>
          <p:nvPr/>
        </p:nvSpPr>
        <p:spPr>
          <a:xfrm>
            <a:off x="4695351" y="3950208"/>
            <a:ext cx="2363817" cy="384048"/>
          </a:xfrm>
          <a:prstGeom prst="rect">
            <a:avLst/>
          </a:prstGeom>
          <a:solidFill>
            <a:srgbClr val="FFFFFF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68503" y="4032504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обещать ещё невидимые действия</a:t>
            </a:r>
            <a:endParaRPr lang="en-US" sz="770" dirty="0"/>
          </a:p>
        </p:txBody>
      </p:sp>
      <p:sp>
        <p:nvSpPr>
          <p:cNvPr id="58" name="Shape 56"/>
          <p:cNvSpPr/>
          <p:nvPr/>
        </p:nvSpPr>
        <p:spPr>
          <a:xfrm>
            <a:off x="502920" y="4334256"/>
            <a:ext cx="1828613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" y="4416552"/>
            <a:ext cx="16823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Повторные заявки / наработка</a:t>
            </a:r>
            <a:endParaRPr lang="en-US" sz="770" dirty="0"/>
          </a:p>
        </p:txBody>
      </p:sp>
      <p:sp>
        <p:nvSpPr>
          <p:cNvPr id="60" name="Shape 58"/>
          <p:cNvSpPr/>
          <p:nvPr/>
        </p:nvSpPr>
        <p:spPr>
          <a:xfrm>
            <a:off x="2331533" y="4334256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04685" y="4416552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Планы</a:t>
            </a:r>
            <a:endParaRPr lang="en-US" sz="770" dirty="0"/>
          </a:p>
        </p:txBody>
      </p:sp>
      <p:sp>
        <p:nvSpPr>
          <p:cNvPr id="62" name="Shape 60"/>
          <p:cNvSpPr/>
          <p:nvPr/>
        </p:nvSpPr>
        <p:spPr>
          <a:xfrm>
            <a:off x="4695351" y="4334256"/>
            <a:ext cx="2363817" cy="384048"/>
          </a:xfrm>
          <a:prstGeom prst="rect">
            <a:avLst/>
          </a:prstGeom>
          <a:solidFill>
            <a:srgbClr val="FAFAFA"/>
          </a:solidFill>
          <a:ln w="5715">
            <a:solidFill>
              <a:srgbClr val="E7EA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68503" y="4416552"/>
            <a:ext cx="22175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считать функциями текущей версии</a:t>
            </a:r>
            <a:endParaRPr lang="en-US" sz="770" dirty="0"/>
          </a:p>
        </p:txBody>
      </p:sp>
      <p:sp>
        <p:nvSpPr>
          <p:cNvPr id="64" name="Text 62"/>
          <p:cNvSpPr/>
          <p:nvPr/>
        </p:nvSpPr>
        <p:spPr>
          <a:xfrm>
            <a:off x="502920" y="4846320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Приёмка перед объявлением функции</a:t>
            </a:r>
            <a:endParaRPr lang="en-US" sz="1250" dirty="0"/>
          </a:p>
        </p:txBody>
      </p:sp>
      <p:sp>
        <p:nvSpPr>
          <p:cNvPr id="65" name="Shape 63"/>
          <p:cNvSpPr/>
          <p:nvPr/>
        </p:nvSpPr>
        <p:spPr>
          <a:xfrm>
            <a:off x="502920" y="521208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13232" y="515721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Миграции накатаны, сервер и клиент совместимы, обязательные quality-ворота зелёные.</a:t>
            </a:r>
            <a:endParaRPr lang="en-US" sz="930" dirty="0"/>
          </a:p>
        </p:txBody>
      </p:sp>
      <p:sp>
        <p:nvSpPr>
          <p:cNvPr id="67" name="Shape 65"/>
          <p:cNvSpPr/>
          <p:nvPr/>
        </p:nvSpPr>
        <p:spPr>
          <a:xfrm>
            <a:off x="502920" y="552297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3232" y="546811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Положительный и отрицательный сценарии проверены под каждым бизнес-профилем.</a:t>
            </a:r>
            <a:endParaRPr lang="en-US" sz="930" dirty="0"/>
          </a:p>
        </p:txBody>
      </p:sp>
      <p:sp>
        <p:nvSpPr>
          <p:cNvPr id="69" name="Shape 67"/>
          <p:cNvSpPr/>
          <p:nvPr/>
        </p:nvSpPr>
        <p:spPr>
          <a:xfrm>
            <a:off x="502920" y="5833872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3232" y="577900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Письма проверены на живых адресатах либо событие оставлено выключенным.</a:t>
            </a:r>
            <a:endParaRPr lang="en-US" sz="930" dirty="0"/>
          </a:p>
        </p:txBody>
      </p:sp>
      <p:sp>
        <p:nvSpPr>
          <p:cNvPr id="71" name="Shape 69"/>
          <p:cNvSpPr/>
          <p:nvPr/>
        </p:nvSpPr>
        <p:spPr>
          <a:xfrm>
            <a:off x="502920" y="6144768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3232" y="6089904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обновлена по фактическому экрану, а не только по плану.</a:t>
            </a:r>
            <a:endParaRPr lang="en-US" sz="9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ПОЛНОЕ РУКОВОДСТВО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 и контрольный список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Большинство «пропавших кнопок» объясняется статусом, назначением, аудиторией или незавершённой волной.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Полное руководство по оргтехнике · сверено 07.09.2026 · рабочая редакция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31673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3959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813816" y="129844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Обновить карточку и сверить версию, статус и подпись ожидания.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502920" y="166420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8706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813816" y="164592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профиль, область, назначение сотрудника/компании и аудиторию карточки.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01168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03454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813816" y="1993392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Посмотреть причину неактивного действия и обязательные документы.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02920" y="2359152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382012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813816" y="2340864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запасной вход: статус, нужное поле, вкладка или меню «Действия».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2706624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729484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3816" y="2688336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Сверить карту готовности: не относится ли функция к невключённой или плановой волне.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502920" y="3054096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076956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30" dirty="0"/>
          </a:p>
        </p:txBody>
      </p:sp>
      <p:sp>
        <p:nvSpPr>
          <p:cNvPr id="27" name="Text 25"/>
          <p:cNvSpPr/>
          <p:nvPr/>
        </p:nvSpPr>
        <p:spPr>
          <a:xfrm>
            <a:off x="813816" y="3035808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Передать поддержке номер заявки, действие, время, полный текст ошибки и безопасный скриншот.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502920" y="3401568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оператора модуля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3767328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712464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выданы корректно; сервисная учётка связана с правильным контрагентом.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502920" y="4078224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4023360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Нераспределённые, срочные и старые ожидания разбираются ежедневно.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502920" y="4389120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433425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Внешняя работа не уходит в «Решена» без закрывающего документа.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502920" y="4700016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64515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Кандидаты и почтовые события включаются только после приёмки соответствующей волны.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502920" y="5010912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495604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история и аудит используются при разборе спорных действий.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02920" y="5321808"/>
            <a:ext cx="109728" cy="109728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3232" y="5266944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Плановые функции не упоминаются пользователям как уже доступные.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96128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5724144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источник истины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5952744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Права и подписи определяют контракты, фактическое состояние — сервер и база, доступное действие — текущая карточка. План объясняет направление, но не заменяет проверку выпущенного поведения.</a:t>
            </a:r>
            <a:endParaRPr lang="en-US" sz="8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АВТО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Оргтехника: полное руководство</dc:title>
  <dc:subject>Единое руководство по заявкам, парку, расходникам, гарантиям и ролям</dc:subject>
  <dc:creator>АВТО</dc:creator>
  <cp:lastModifiedBy>АВТО</cp:lastModifiedBy>
  <cp:revision>1</cp:revision>
  <dcterms:created xsi:type="dcterms:W3CDTF">2026-09-07T07:00:00Z</dcterms:created>
  <dcterms:modified xsi:type="dcterms:W3CDTF">2026-09-07T07:00:00Z</dcterms:modified>
</cp:coreProperties>
</file>