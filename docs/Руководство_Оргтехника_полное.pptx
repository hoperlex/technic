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641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spc="25" kern="0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ОРГТЕХНИКА · ПОЛНОЕ РУКОВОДСТВО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733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пользоваться руководством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327648" y="3566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21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6556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Актуальная версия модуля на момент публикации: заявки, парк, расходники, закупки, гарантии, история и массовые действия.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02920" y="10131552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13848"/>
            <a:ext cx="5916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Полное руководство по оргтехнике · актуальная версия приложения · редакция 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19088" y="102138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502920" y="1298448"/>
            <a:ext cx="1570482" cy="658368"/>
          </a:xfrm>
          <a:prstGeom prst="roundRect">
            <a:avLst>
              <a:gd name="adj" fmla="val 8333"/>
            </a:avLst>
          </a:prstGeom>
          <a:solidFill>
            <a:srgbClr val="F0F7FF"/>
          </a:solidFill>
          <a:ln w="10160">
            <a:solidFill>
              <a:srgbClr val="BAE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1417320"/>
            <a:ext cx="14241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Создать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576072" y="1636776"/>
            <a:ext cx="14241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3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описать потребность</a:t>
            </a:r>
            <a:endParaRPr lang="en-US" sz="730" dirty="0"/>
          </a:p>
        </p:txBody>
      </p:sp>
      <p:sp>
        <p:nvSpPr>
          <p:cNvPr id="13" name="Shape 11"/>
          <p:cNvSpPr/>
          <p:nvPr/>
        </p:nvSpPr>
        <p:spPr>
          <a:xfrm>
            <a:off x="2164842" y="1298448"/>
            <a:ext cx="1570482" cy="658368"/>
          </a:xfrm>
          <a:prstGeom prst="roundRect">
            <a:avLst>
              <a:gd name="adj" fmla="val 8333"/>
            </a:avLst>
          </a:prstGeom>
          <a:solidFill>
            <a:srgbClr val="F9F0FF"/>
          </a:solidFill>
          <a:ln w="10160">
            <a:solidFill>
              <a:srgbClr val="D3AD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37994" y="1417320"/>
            <a:ext cx="14241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722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Распределить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2237994" y="1636776"/>
            <a:ext cx="14241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3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назначить исполнителя</a:t>
            </a:r>
            <a:endParaRPr lang="en-US" sz="730" dirty="0"/>
          </a:p>
        </p:txBody>
      </p:sp>
      <p:sp>
        <p:nvSpPr>
          <p:cNvPr id="16" name="Shape 14"/>
          <p:cNvSpPr/>
          <p:nvPr/>
        </p:nvSpPr>
        <p:spPr>
          <a:xfrm>
            <a:off x="3826764" y="1298448"/>
            <a:ext cx="1570482" cy="658368"/>
          </a:xfrm>
          <a:prstGeom prst="roundRect">
            <a:avLst>
              <a:gd name="adj" fmla="val 8333"/>
            </a:avLst>
          </a:prstGeom>
          <a:solidFill>
            <a:srgbClr val="FFF7E6"/>
          </a:solidFill>
          <a:ln w="10160">
            <a:solidFill>
              <a:srgbClr val="FFD59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99916" y="1417320"/>
            <a:ext cx="14241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D46B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Выполнить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3899916" y="1636776"/>
            <a:ext cx="14241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3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работы и документы</a:t>
            </a:r>
            <a:endParaRPr lang="en-US" sz="730" dirty="0"/>
          </a:p>
        </p:txBody>
      </p:sp>
      <p:sp>
        <p:nvSpPr>
          <p:cNvPr id="19" name="Shape 17"/>
          <p:cNvSpPr/>
          <p:nvPr/>
        </p:nvSpPr>
        <p:spPr>
          <a:xfrm>
            <a:off x="5488686" y="1298448"/>
            <a:ext cx="1570482" cy="658368"/>
          </a:xfrm>
          <a:prstGeom prst="roundRect">
            <a:avLst>
              <a:gd name="adj" fmla="val 8333"/>
            </a:avLst>
          </a:prstGeom>
          <a:solidFill>
            <a:srgbClr val="F6FFED"/>
          </a:solidFill>
          <a:ln w="10160">
            <a:solidFill>
              <a:srgbClr val="B7EB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61838" y="1417320"/>
            <a:ext cx="14241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89E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Принять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5561838" y="1636776"/>
            <a:ext cx="14241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3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 и гарантия</a:t>
            </a:r>
            <a:endParaRPr lang="en-US" sz="730" dirty="0"/>
          </a:p>
        </p:txBody>
      </p:sp>
      <p:sp>
        <p:nvSpPr>
          <p:cNvPr id="22" name="Text 20"/>
          <p:cNvSpPr/>
          <p:nvPr/>
        </p:nvSpPr>
        <p:spPr>
          <a:xfrm>
            <a:off x="502920" y="2084832"/>
            <a:ext cx="6556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Пять сущностей модуля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02920" y="2395728"/>
            <a:ext cx="3195828" cy="786933"/>
          </a:xfrm>
          <a:prstGeom prst="roundRect">
            <a:avLst>
              <a:gd name="adj" fmla="val 5810"/>
            </a:avLst>
          </a:prstGeom>
          <a:solidFill>
            <a:srgbClr val="F0F7FF"/>
          </a:solidFill>
          <a:ln w="10160">
            <a:solidFill>
              <a:srgbClr val="BAE0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" y="2514600"/>
            <a:ext cx="2903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Заявка</a:t>
            </a:r>
            <a:endParaRPr lang="en-US" sz="970" dirty="0"/>
          </a:p>
        </p:txBody>
      </p:sp>
      <p:sp>
        <p:nvSpPr>
          <p:cNvPr id="25" name="Text 23"/>
          <p:cNvSpPr/>
          <p:nvPr/>
        </p:nvSpPr>
        <p:spPr>
          <a:xfrm>
            <a:off x="649224" y="2743200"/>
            <a:ext cx="2903220" cy="348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Процесс от обращения до принятого результата.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3863340" y="2395728"/>
            <a:ext cx="3195828" cy="786933"/>
          </a:xfrm>
          <a:prstGeom prst="roundRect">
            <a:avLst>
              <a:gd name="adj" fmla="val 5810"/>
            </a:avLst>
          </a:prstGeom>
          <a:solidFill>
            <a:srgbClr val="F6FFED"/>
          </a:solidFill>
          <a:ln w="10160">
            <a:solidFill>
              <a:srgbClr val="B7EB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09644" y="2514600"/>
            <a:ext cx="2903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0" b="1" dirty="0">
                <a:solidFill>
                  <a:srgbClr val="389E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Аппарат</a:t>
            </a:r>
            <a:endParaRPr lang="en-US" sz="970" dirty="0"/>
          </a:p>
        </p:txBody>
      </p:sp>
      <p:sp>
        <p:nvSpPr>
          <p:cNvPr id="28" name="Text 26"/>
          <p:cNvSpPr/>
          <p:nvPr/>
        </p:nvSpPr>
        <p:spPr>
          <a:xfrm>
            <a:off x="4009644" y="2743200"/>
            <a:ext cx="2903220" cy="348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парка, модель, место, гарантия и история.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502920" y="3310677"/>
            <a:ext cx="3195828" cy="786933"/>
          </a:xfrm>
          <a:prstGeom prst="roundRect">
            <a:avLst>
              <a:gd name="adj" fmla="val 5810"/>
            </a:avLst>
          </a:prstGeom>
          <a:solidFill>
            <a:srgbClr val="F9F0FF"/>
          </a:solidFill>
          <a:ln w="10160">
            <a:solidFill>
              <a:srgbClr val="D3AD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" y="3429549"/>
            <a:ext cx="2903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0" b="1" dirty="0">
                <a:solidFill>
                  <a:srgbClr val="722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Кандидат</a:t>
            </a:r>
            <a:endParaRPr lang="en-US" sz="970" dirty="0"/>
          </a:p>
        </p:txBody>
      </p:sp>
      <p:sp>
        <p:nvSpPr>
          <p:cNvPr id="31" name="Text 29"/>
          <p:cNvSpPr/>
          <p:nvPr/>
        </p:nvSpPr>
        <p:spPr>
          <a:xfrm>
            <a:off x="649224" y="3658149"/>
            <a:ext cx="2903220" cy="348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Сообщение об отсутствующем аппарате до решения проверяющего.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3863340" y="3310677"/>
            <a:ext cx="3195828" cy="786933"/>
          </a:xfrm>
          <a:prstGeom prst="roundRect">
            <a:avLst>
              <a:gd name="adj" fmla="val 5810"/>
            </a:avLst>
          </a:prstGeom>
          <a:solidFill>
            <a:srgbClr val="FFF7E6"/>
          </a:solidFill>
          <a:ln w="10160">
            <a:solidFill>
              <a:srgbClr val="FFD59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09644" y="3429549"/>
            <a:ext cx="2903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0" b="1" dirty="0">
                <a:solidFill>
                  <a:srgbClr val="D46B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Расходник</a:t>
            </a:r>
            <a:endParaRPr lang="en-US" sz="970" dirty="0"/>
          </a:p>
        </p:txBody>
      </p:sp>
      <p:sp>
        <p:nvSpPr>
          <p:cNvPr id="34" name="Text 32"/>
          <p:cNvSpPr/>
          <p:nvPr/>
        </p:nvSpPr>
        <p:spPr>
          <a:xfrm>
            <a:off x="4009644" y="3658149"/>
            <a:ext cx="2903220" cy="348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Номенклатура, совместимость, потребность и движение остатка.</a:t>
            </a:r>
            <a:endParaRPr lang="en-US" sz="870" dirty="0"/>
          </a:p>
        </p:txBody>
      </p:sp>
      <p:sp>
        <p:nvSpPr>
          <p:cNvPr id="35" name="Shape 33"/>
          <p:cNvSpPr/>
          <p:nvPr/>
        </p:nvSpPr>
        <p:spPr>
          <a:xfrm>
            <a:off x="502920" y="4225625"/>
            <a:ext cx="3195828" cy="786933"/>
          </a:xfrm>
          <a:prstGeom prst="roundRect">
            <a:avLst>
              <a:gd name="adj" fmla="val 5810"/>
            </a:avLst>
          </a:prstGeom>
          <a:solidFill>
            <a:srgbClr val="FAFAFA"/>
          </a:solidFill>
          <a:ln w="10160">
            <a:solidFill>
              <a:srgbClr val="E7EA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" y="4344497"/>
            <a:ext cx="2903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закупки</a:t>
            </a:r>
            <a:endParaRPr lang="en-US" sz="970" dirty="0"/>
          </a:p>
        </p:txBody>
      </p:sp>
      <p:sp>
        <p:nvSpPr>
          <p:cNvPr id="37" name="Text 35"/>
          <p:cNvSpPr/>
          <p:nvPr/>
        </p:nvSpPr>
        <p:spPr>
          <a:xfrm>
            <a:off x="649224" y="4573097"/>
            <a:ext cx="2903220" cy="348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Самостоятельный документ; проведение не меняет остаток склада.</a:t>
            </a:r>
            <a:endParaRPr lang="en-US" sz="870" dirty="0"/>
          </a:p>
        </p:txBody>
      </p:sp>
      <p:sp>
        <p:nvSpPr>
          <p:cNvPr id="38" name="Shape 36"/>
          <p:cNvSpPr/>
          <p:nvPr/>
        </p:nvSpPr>
        <p:spPr>
          <a:xfrm>
            <a:off x="3863340" y="4225625"/>
            <a:ext cx="3195828" cy="786933"/>
          </a:xfrm>
          <a:prstGeom prst="roundRect">
            <a:avLst>
              <a:gd name="adj" fmla="val 5810"/>
            </a:avLst>
          </a:prstGeom>
          <a:solidFill>
            <a:srgbClr val="FFF1F0"/>
          </a:solidFill>
          <a:ln w="10160">
            <a:solidFill>
              <a:srgbClr val="FFCCC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09644" y="4344497"/>
            <a:ext cx="2903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0" b="1" dirty="0">
                <a:solidFill>
                  <a:srgbClr val="CF1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Гарантия</a:t>
            </a:r>
            <a:endParaRPr lang="en-US" sz="970" dirty="0"/>
          </a:p>
        </p:txBody>
      </p:sp>
      <p:sp>
        <p:nvSpPr>
          <p:cNvPr id="40" name="Text 38"/>
          <p:cNvSpPr/>
          <p:nvPr/>
        </p:nvSpPr>
        <p:spPr>
          <a:xfrm>
            <a:off x="4009644" y="4573097"/>
            <a:ext cx="2903220" cy="348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Поставщик аппарата или конкретная выполненная работа.</a:t>
            </a:r>
            <a:endParaRPr lang="en-US" sz="870" dirty="0"/>
          </a:p>
        </p:txBody>
      </p:sp>
      <p:sp>
        <p:nvSpPr>
          <p:cNvPr id="41" name="Text 39"/>
          <p:cNvSpPr/>
          <p:nvPr/>
        </p:nvSpPr>
        <p:spPr>
          <a:xfrm>
            <a:off x="502920" y="5140574"/>
            <a:ext cx="6556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читать интерфейс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502920" y="5506334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3232" y="5451470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 отвечает «где заявка», подпись ожидания — «кто делает следующий шаг».</a:t>
            </a:r>
            <a:endParaRPr lang="en-US" sz="930" dirty="0"/>
          </a:p>
        </p:txBody>
      </p:sp>
      <p:sp>
        <p:nvSpPr>
          <p:cNvPr id="44" name="Shape 42"/>
          <p:cNvSpPr/>
          <p:nvPr/>
        </p:nvSpPr>
        <p:spPr>
          <a:xfrm>
            <a:off x="502920" y="5817230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3232" y="5762366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Доступное действие определяется профилем, областью, назначением, статусом и содержимым заявки.</a:t>
            </a:r>
            <a:endParaRPr lang="en-US" sz="930" dirty="0"/>
          </a:p>
        </p:txBody>
      </p:sp>
      <p:sp>
        <p:nvSpPr>
          <p:cNvPr id="46" name="Shape 44"/>
          <p:cNvSpPr/>
          <p:nvPr/>
        </p:nvSpPr>
        <p:spPr>
          <a:xfrm>
            <a:off x="502920" y="6128126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3232" y="6073262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Главное действие находится у статуса или связанного поля; остальные собраны в меню «Действия».</a:t>
            </a:r>
            <a:endParaRPr lang="en-US" sz="930" dirty="0"/>
          </a:p>
        </p:txBody>
      </p:sp>
      <p:sp>
        <p:nvSpPr>
          <p:cNvPr id="48" name="Shape 46"/>
          <p:cNvSpPr/>
          <p:nvPr/>
        </p:nvSpPr>
        <p:spPr>
          <a:xfrm>
            <a:off x="502920" y="6439022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3232" y="6384158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Портал и сервер — источник истины; письмо только уведомляет.</a:t>
            </a:r>
            <a:endParaRPr lang="en-US" sz="930" dirty="0"/>
          </a:p>
        </p:txBody>
      </p:sp>
      <p:sp>
        <p:nvSpPr>
          <p:cNvPr id="50" name="Shape 48"/>
          <p:cNvSpPr/>
          <p:nvPr/>
        </p:nvSpPr>
        <p:spPr>
          <a:xfrm>
            <a:off x="502920" y="6713342"/>
            <a:ext cx="6556248" cy="729874"/>
          </a:xfrm>
          <a:prstGeom prst="roundRect">
            <a:avLst>
              <a:gd name="adj" fmla="val 7517"/>
            </a:avLst>
          </a:prstGeom>
          <a:solidFill>
            <a:srgbClr val="F0F7FF"/>
          </a:solidFill>
          <a:ln w="10160">
            <a:solidFill>
              <a:srgbClr val="BAE0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8368" y="6841358"/>
            <a:ext cx="6245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Граница руководства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58368" y="7069958"/>
            <a:ext cx="6245352" cy="28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9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 начинается с уже открытого раздела «Орг.техника» и описывает только работу с заявками, парком, расходниками и гарантиями.</a:t>
            </a:r>
            <a:endParaRPr lang="en-US" sz="89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641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spc="25" kern="0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ОРГТЕХНИКА · ПОЛНОЕ РУКОВОДСТВО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733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Профили и область доступа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327648" y="3566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21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6556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Права отвечают за действие, область — за строки, назначение — за право исполнить конкретную заявку.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02920" y="10131552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13848"/>
            <a:ext cx="5916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Полное руководство по оргтехнике · актуальная версия приложения · редакция 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19088" y="102138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502920" y="1298448"/>
            <a:ext cx="1338010" cy="347472"/>
          </a:xfrm>
          <a:prstGeom prst="rect">
            <a:avLst/>
          </a:prstGeom>
          <a:solidFill>
            <a:srgbClr val="172033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1389888"/>
            <a:ext cx="119170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Профиль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840930" y="1298448"/>
            <a:ext cx="2363817" cy="347472"/>
          </a:xfrm>
          <a:prstGeom prst="rect">
            <a:avLst/>
          </a:prstGeom>
          <a:solidFill>
            <a:srgbClr val="172033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14082" y="1389888"/>
            <a:ext cx="221751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Видит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204747" y="1298448"/>
            <a:ext cx="2854421" cy="347472"/>
          </a:xfrm>
          <a:prstGeom prst="rect">
            <a:avLst/>
          </a:prstGeom>
          <a:solidFill>
            <a:srgbClr val="172033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77899" y="1389888"/>
            <a:ext cx="270811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Главные действия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02920" y="1645920"/>
            <a:ext cx="1338010" cy="391180"/>
          </a:xfrm>
          <a:prstGeom prst="rect">
            <a:avLst/>
          </a:prstGeom>
          <a:solidFill>
            <a:srgbClr val="FFFFFF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1728216"/>
            <a:ext cx="1191706" cy="281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Заявитель</a:t>
            </a:r>
            <a:endParaRPr lang="en-US" sz="810" dirty="0"/>
          </a:p>
        </p:txBody>
      </p:sp>
      <p:sp>
        <p:nvSpPr>
          <p:cNvPr id="18" name="Shape 16"/>
          <p:cNvSpPr/>
          <p:nvPr/>
        </p:nvSpPr>
        <p:spPr>
          <a:xfrm>
            <a:off x="1840930" y="1645920"/>
            <a:ext cx="2363817" cy="391180"/>
          </a:xfrm>
          <a:prstGeom prst="rect">
            <a:avLst/>
          </a:prstGeom>
          <a:solidFill>
            <a:srgbClr val="FFFFFF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14082" y="1728216"/>
            <a:ext cx="2217513" cy="281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Свои и доступные по области заявки; без внутренних сумм</a:t>
            </a:r>
            <a:endParaRPr lang="en-US" sz="810" dirty="0"/>
          </a:p>
        </p:txBody>
      </p:sp>
      <p:sp>
        <p:nvSpPr>
          <p:cNvPr id="20" name="Shape 18"/>
          <p:cNvSpPr/>
          <p:nvPr/>
        </p:nvSpPr>
        <p:spPr>
          <a:xfrm>
            <a:off x="4204747" y="1645920"/>
            <a:ext cx="2854421" cy="391180"/>
          </a:xfrm>
          <a:prstGeom prst="rect">
            <a:avLst/>
          </a:prstGeom>
          <a:solidFill>
            <a:srgbClr val="FFFFFF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77899" y="1728216"/>
            <a:ext cx="2708117" cy="281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Создать, ограниченно править/удалить, файлы и обсуждение</a:t>
            </a:r>
            <a:endParaRPr lang="en-US" sz="810" dirty="0"/>
          </a:p>
        </p:txBody>
      </p:sp>
      <p:sp>
        <p:nvSpPr>
          <p:cNvPr id="22" name="Shape 20"/>
          <p:cNvSpPr/>
          <p:nvPr/>
        </p:nvSpPr>
        <p:spPr>
          <a:xfrm>
            <a:off x="502920" y="2037100"/>
            <a:ext cx="1338010" cy="391180"/>
          </a:xfrm>
          <a:prstGeom prst="rect">
            <a:avLst/>
          </a:prstGeom>
          <a:solidFill>
            <a:srgbClr val="FAFAFA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2119396"/>
            <a:ext cx="1191706" cy="281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Оператор</a:t>
            </a:r>
            <a:endParaRPr lang="en-US" sz="810" dirty="0"/>
          </a:p>
        </p:txBody>
      </p:sp>
      <p:sp>
        <p:nvSpPr>
          <p:cNvPr id="24" name="Shape 22"/>
          <p:cNvSpPr/>
          <p:nvPr/>
        </p:nvSpPr>
        <p:spPr>
          <a:xfrm>
            <a:off x="1840930" y="2037100"/>
            <a:ext cx="2363817" cy="391180"/>
          </a:xfrm>
          <a:prstGeom prst="rect">
            <a:avLst/>
          </a:prstGeom>
          <a:solidFill>
            <a:srgbClr val="FAFAFA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14082" y="2119396"/>
            <a:ext cx="2217513" cy="281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Заявки своей области; рабочие и финансовые данные</a:t>
            </a:r>
            <a:endParaRPr lang="en-US" sz="810" dirty="0"/>
          </a:p>
        </p:txBody>
      </p:sp>
      <p:sp>
        <p:nvSpPr>
          <p:cNvPr id="26" name="Shape 24"/>
          <p:cNvSpPr/>
          <p:nvPr/>
        </p:nvSpPr>
        <p:spPr>
          <a:xfrm>
            <a:off x="4204747" y="2037100"/>
            <a:ext cx="2854421" cy="391180"/>
          </a:xfrm>
          <a:prstGeom prst="rect">
            <a:avLst/>
          </a:prstGeom>
          <a:solidFill>
            <a:srgbClr val="FAFAFA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77899" y="2119396"/>
            <a:ext cx="2708117" cy="281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Распределить, срочность, пауза, отмена, приёмка, парк</a:t>
            </a:r>
            <a:endParaRPr lang="en-US" sz="810" dirty="0"/>
          </a:p>
        </p:txBody>
      </p:sp>
      <p:sp>
        <p:nvSpPr>
          <p:cNvPr id="28" name="Shape 26"/>
          <p:cNvSpPr/>
          <p:nvPr/>
        </p:nvSpPr>
        <p:spPr>
          <a:xfrm>
            <a:off x="502920" y="2428281"/>
            <a:ext cx="1338010" cy="391180"/>
          </a:xfrm>
          <a:prstGeom prst="rect">
            <a:avLst/>
          </a:prstGeom>
          <a:solidFill>
            <a:srgbClr val="FFFFFF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2510577"/>
            <a:ext cx="1191706" cy="281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ИТ-служба</a:t>
            </a:r>
            <a:endParaRPr lang="en-US" sz="810" dirty="0"/>
          </a:p>
        </p:txBody>
      </p:sp>
      <p:sp>
        <p:nvSpPr>
          <p:cNvPr id="30" name="Shape 28"/>
          <p:cNvSpPr/>
          <p:nvPr/>
        </p:nvSpPr>
        <p:spPr>
          <a:xfrm>
            <a:off x="1840930" y="2428281"/>
            <a:ext cx="2363817" cy="391180"/>
          </a:xfrm>
          <a:prstGeom prst="rect">
            <a:avLst/>
          </a:prstGeom>
          <a:solidFill>
            <a:srgbClr val="FFFFFF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14082" y="2510577"/>
            <a:ext cx="2217513" cy="281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Сквозная координация; исполнение при назначении</a:t>
            </a:r>
            <a:endParaRPr lang="en-US" sz="810" dirty="0"/>
          </a:p>
        </p:txBody>
      </p:sp>
      <p:sp>
        <p:nvSpPr>
          <p:cNvPr id="32" name="Shape 30"/>
          <p:cNvSpPr/>
          <p:nvPr/>
        </p:nvSpPr>
        <p:spPr>
          <a:xfrm>
            <a:off x="4204747" y="2428281"/>
            <a:ext cx="2854421" cy="391180"/>
          </a:xfrm>
          <a:prstGeom prst="rect">
            <a:avLst/>
          </a:prstGeom>
          <a:solidFill>
            <a:srgbClr val="FFFFFF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77899" y="2510577"/>
            <a:ext cx="2708117" cy="281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Назначить, согласовать, выполнить, переместить, массовые действия</a:t>
            </a:r>
            <a:endParaRPr lang="en-US" sz="810" dirty="0"/>
          </a:p>
        </p:txBody>
      </p:sp>
      <p:sp>
        <p:nvSpPr>
          <p:cNvPr id="34" name="Shape 32"/>
          <p:cNvSpPr/>
          <p:nvPr/>
        </p:nvSpPr>
        <p:spPr>
          <a:xfrm>
            <a:off x="502920" y="2819461"/>
            <a:ext cx="1338010" cy="391180"/>
          </a:xfrm>
          <a:prstGeom prst="rect">
            <a:avLst/>
          </a:prstGeom>
          <a:solidFill>
            <a:srgbClr val="FAFAFA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" y="2901757"/>
            <a:ext cx="1191706" cy="281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Сервисная компания</a:t>
            </a:r>
            <a:endParaRPr lang="en-US" sz="810" dirty="0"/>
          </a:p>
        </p:txBody>
      </p:sp>
      <p:sp>
        <p:nvSpPr>
          <p:cNvPr id="36" name="Shape 34"/>
          <p:cNvSpPr/>
          <p:nvPr/>
        </p:nvSpPr>
        <p:spPr>
          <a:xfrm>
            <a:off x="1840930" y="2819461"/>
            <a:ext cx="2363817" cy="391180"/>
          </a:xfrm>
          <a:prstGeom prst="rect">
            <a:avLst/>
          </a:prstGeom>
          <a:solidFill>
            <a:srgbClr val="FAFAFA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14082" y="2901757"/>
            <a:ext cx="2217513" cy="281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назначенные компании заявки</a:t>
            </a:r>
            <a:endParaRPr lang="en-US" sz="810" dirty="0"/>
          </a:p>
        </p:txBody>
      </p:sp>
      <p:sp>
        <p:nvSpPr>
          <p:cNvPr id="38" name="Shape 36"/>
          <p:cNvSpPr/>
          <p:nvPr/>
        </p:nvSpPr>
        <p:spPr>
          <a:xfrm>
            <a:off x="4204747" y="2819461"/>
            <a:ext cx="2854421" cy="391180"/>
          </a:xfrm>
          <a:prstGeom prst="rect">
            <a:avLst/>
          </a:prstGeom>
          <a:solidFill>
            <a:srgbClr val="FAFAFA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77899" y="2901757"/>
            <a:ext cx="2708117" cy="281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Принять/отказаться, объём работ, документы, закрытие</a:t>
            </a:r>
            <a:endParaRPr lang="en-US" sz="810" dirty="0"/>
          </a:p>
        </p:txBody>
      </p:sp>
      <p:sp>
        <p:nvSpPr>
          <p:cNvPr id="40" name="Shape 38"/>
          <p:cNvSpPr/>
          <p:nvPr/>
        </p:nvSpPr>
        <p:spPr>
          <a:xfrm>
            <a:off x="502920" y="3210641"/>
            <a:ext cx="133801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6072" y="3292937"/>
            <a:ext cx="1191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Наблюдатель</a:t>
            </a:r>
            <a:endParaRPr lang="en-US" sz="810" dirty="0"/>
          </a:p>
        </p:txBody>
      </p:sp>
      <p:sp>
        <p:nvSpPr>
          <p:cNvPr id="42" name="Shape 40"/>
          <p:cNvSpPr/>
          <p:nvPr/>
        </p:nvSpPr>
        <p:spPr>
          <a:xfrm>
            <a:off x="1840930" y="3210641"/>
            <a:ext cx="2363817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14082" y="3292937"/>
            <a:ext cx="22175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Разрешённые строки без ведения</a:t>
            </a:r>
            <a:endParaRPr lang="en-US" sz="810" dirty="0"/>
          </a:p>
        </p:txBody>
      </p:sp>
      <p:sp>
        <p:nvSpPr>
          <p:cNvPr id="44" name="Shape 42"/>
          <p:cNvSpPr/>
          <p:nvPr/>
        </p:nvSpPr>
        <p:spPr>
          <a:xfrm>
            <a:off x="4204747" y="3210641"/>
            <a:ext cx="2854421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77899" y="3292937"/>
            <a:ext cx="27081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чтение</a:t>
            </a:r>
            <a:endParaRPr lang="en-US" sz="810" dirty="0"/>
          </a:p>
        </p:txBody>
      </p:sp>
      <p:sp>
        <p:nvSpPr>
          <p:cNvPr id="46" name="Text 44"/>
          <p:cNvSpPr/>
          <p:nvPr/>
        </p:nvSpPr>
        <p:spPr>
          <a:xfrm>
            <a:off x="502920" y="3722705"/>
            <a:ext cx="6556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Четыре проверки перед поиском «пропавшей» кнопки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502920" y="4051889"/>
            <a:ext cx="210312" cy="210312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4074749"/>
            <a:ext cx="210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30" dirty="0"/>
          </a:p>
        </p:txBody>
      </p:sp>
      <p:sp>
        <p:nvSpPr>
          <p:cNvPr id="49" name="Text 47"/>
          <p:cNvSpPr/>
          <p:nvPr/>
        </p:nvSpPr>
        <p:spPr>
          <a:xfrm>
            <a:off x="813816" y="4033601"/>
            <a:ext cx="6245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Есть ли у учётки нужный профиль оргтехники.</a:t>
            </a:r>
            <a:endParaRPr lang="en-US" sz="930" dirty="0"/>
          </a:p>
        </p:txBody>
      </p:sp>
      <p:sp>
        <p:nvSpPr>
          <p:cNvPr id="50" name="Shape 48"/>
          <p:cNvSpPr/>
          <p:nvPr/>
        </p:nvSpPr>
        <p:spPr>
          <a:xfrm>
            <a:off x="502920" y="4399361"/>
            <a:ext cx="210312" cy="210312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" y="4422221"/>
            <a:ext cx="210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30" dirty="0"/>
          </a:p>
        </p:txBody>
      </p:sp>
      <p:sp>
        <p:nvSpPr>
          <p:cNvPr id="52" name="Text 50"/>
          <p:cNvSpPr/>
          <p:nvPr/>
        </p:nvSpPr>
        <p:spPr>
          <a:xfrm>
            <a:off x="813816" y="4381073"/>
            <a:ext cx="6245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Попадает ли заявка или аппарат в область учётки.</a:t>
            </a:r>
            <a:endParaRPr lang="en-US" sz="930" dirty="0"/>
          </a:p>
        </p:txBody>
      </p:sp>
      <p:sp>
        <p:nvSpPr>
          <p:cNvPr id="53" name="Shape 51"/>
          <p:cNvSpPr/>
          <p:nvPr/>
        </p:nvSpPr>
        <p:spPr>
          <a:xfrm>
            <a:off x="502920" y="4746833"/>
            <a:ext cx="210312" cy="210312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2920" y="4769693"/>
            <a:ext cx="210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30" dirty="0"/>
          </a:p>
        </p:txBody>
      </p:sp>
      <p:sp>
        <p:nvSpPr>
          <p:cNvPr id="55" name="Text 53"/>
          <p:cNvSpPr/>
          <p:nvPr/>
        </p:nvSpPr>
        <p:spPr>
          <a:xfrm>
            <a:off x="813816" y="4728545"/>
            <a:ext cx="6245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Назначен ли сотрудник либо сервисная компания на эту заявку.</a:t>
            </a:r>
            <a:endParaRPr lang="en-US" sz="930" dirty="0"/>
          </a:p>
        </p:txBody>
      </p:sp>
      <p:sp>
        <p:nvSpPr>
          <p:cNvPr id="56" name="Shape 54"/>
          <p:cNvSpPr/>
          <p:nvPr/>
        </p:nvSpPr>
        <p:spPr>
          <a:xfrm>
            <a:off x="502920" y="5094305"/>
            <a:ext cx="210312" cy="210312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2920" y="5117165"/>
            <a:ext cx="210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30" dirty="0"/>
          </a:p>
        </p:txBody>
      </p:sp>
      <p:sp>
        <p:nvSpPr>
          <p:cNvPr id="58" name="Text 56"/>
          <p:cNvSpPr/>
          <p:nvPr/>
        </p:nvSpPr>
        <p:spPr>
          <a:xfrm>
            <a:off x="813816" y="5076017"/>
            <a:ext cx="6245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Разрешено ли действие текущим статусом, ожиданием и документами.</a:t>
            </a:r>
            <a:endParaRPr lang="en-US" sz="930" dirty="0"/>
          </a:p>
        </p:txBody>
      </p:sp>
      <p:sp>
        <p:nvSpPr>
          <p:cNvPr id="59" name="Shape 57"/>
          <p:cNvSpPr/>
          <p:nvPr/>
        </p:nvSpPr>
        <p:spPr>
          <a:xfrm>
            <a:off x="502920" y="5441777"/>
            <a:ext cx="6556248" cy="729874"/>
          </a:xfrm>
          <a:prstGeom prst="roundRect">
            <a:avLst>
              <a:gd name="adj" fmla="val 7517"/>
            </a:avLst>
          </a:prstGeom>
          <a:solidFill>
            <a:srgbClr val="FFF7E6"/>
          </a:solidFill>
          <a:ln w="10160">
            <a:solidFill>
              <a:srgbClr val="FFD59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8368" y="5569793"/>
            <a:ext cx="6245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46B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Сервисный доступ устроен иначе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58368" y="5798393"/>
            <a:ext cx="6245352" cy="28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9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Сервисному центру не выдают внутренние профили оргтехники: его область возникает из назначения контрагента на заявку.</a:t>
            </a:r>
            <a:endParaRPr lang="en-US" sz="89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641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spc="25" kern="0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ОРГТЕХНИКА · ПОЛНОЕ РУКОВОДСТВО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733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Навигация, поиск и очереди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327648" y="3566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21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6556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вкладки: Заявки, Техника, Расходники, Гарантии; состав зависит от профиля.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02920" y="10131552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13848"/>
            <a:ext cx="5916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Полное руководство по оргтехнике · актуальная версия приложения · редакция 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19088" y="102138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502920" y="1298448"/>
            <a:ext cx="4279392" cy="4160520"/>
          </a:xfrm>
          <a:prstGeom prst="roundRect">
            <a:avLst>
              <a:gd name="adj" fmla="val 879"/>
            </a:avLst>
          </a:prstGeom>
          <a:solidFill>
            <a:srgbClr val="F5F7FB"/>
          </a:solidFill>
          <a:ln w="8890">
            <a:solidFill>
              <a:srgbClr val="E7EA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371600"/>
            <a:ext cx="4059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АКТУАЛЬНЫЙ ЭКРАН · ДЕМОНСТРАЦИОННЫЕ ДАННЫЕ</a:t>
            </a:r>
            <a:endParaRPr lang="en-US" sz="590" dirty="0"/>
          </a:p>
        </p:txBody>
      </p:sp>
      <p:pic>
        <p:nvPicPr>
          <p:cNvPr id="12" name="Image 0" descr="/root/projects/technic/docs/image/office-equipment-latest/requests-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835148"/>
            <a:ext cx="4133088" cy="327914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946904" y="1298448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0F7FF"/>
          </a:solidFill>
          <a:ln w="8890">
            <a:solidFill>
              <a:srgbClr val="BAE0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56632" y="1408176"/>
            <a:ext cx="256032" cy="256032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56632" y="144018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5394960" y="13807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Фильтруйте список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5394960" y="1609344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Поиск, рабочая/закрытая очередь, статус, категория, исполнитель, объект и «Ждут меня».</a:t>
            </a:r>
            <a:endParaRPr lang="en-US" sz="670" dirty="0"/>
          </a:p>
        </p:txBody>
      </p:sp>
      <p:sp>
        <p:nvSpPr>
          <p:cNvPr id="18" name="Shape 15"/>
          <p:cNvSpPr/>
          <p:nvPr/>
        </p:nvSpPr>
        <p:spPr>
          <a:xfrm>
            <a:off x="4946904" y="2718816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FF7E6"/>
          </a:solidFill>
          <a:ln w="8890">
            <a:solidFill>
              <a:srgbClr val="FFD59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56632" y="2828544"/>
            <a:ext cx="256032" cy="256032"/>
          </a:xfrm>
          <a:prstGeom prst="ellipse">
            <a:avLst/>
          </a:prstGeom>
          <a:solidFill>
            <a:srgbClr val="D46B08"/>
          </a:solidFill>
          <a:ln w="12700">
            <a:solidFill>
              <a:srgbClr val="D46B0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56632" y="286054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5394960" y="28011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Читайте строку целиком</a:t>
            </a:r>
            <a:endParaRPr lang="en-US" sz="780" dirty="0"/>
          </a:p>
        </p:txBody>
      </p:sp>
      <p:sp>
        <p:nvSpPr>
          <p:cNvPr id="22" name="Text 19"/>
          <p:cNvSpPr/>
          <p:nvPr/>
        </p:nvSpPr>
        <p:spPr>
          <a:xfrm>
            <a:off x="5394960" y="3029712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Номер, аппарат, статус, ожидание, срочность, повтор и непрочитанное отвечают на разные вопросы.</a:t>
            </a:r>
            <a:endParaRPr lang="en-US" sz="670" dirty="0"/>
          </a:p>
        </p:txBody>
      </p:sp>
      <p:sp>
        <p:nvSpPr>
          <p:cNvPr id="23" name="Shape 20"/>
          <p:cNvSpPr/>
          <p:nvPr/>
        </p:nvSpPr>
        <p:spPr>
          <a:xfrm>
            <a:off x="4946904" y="4139184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6FFED"/>
          </a:solidFill>
          <a:ln w="8890">
            <a:solidFill>
              <a:srgbClr val="B7EB8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56632" y="4248912"/>
            <a:ext cx="256032" cy="256032"/>
          </a:xfrm>
          <a:prstGeom prst="ellipse">
            <a:avLst/>
          </a:prstGeom>
          <a:solidFill>
            <a:srgbClr val="389E0D"/>
          </a:solidFill>
          <a:ln w="12700">
            <a:solidFill>
              <a:srgbClr val="389E0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56632" y="428091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5394960" y="42214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Открывайте карточку</a:t>
            </a:r>
            <a:endParaRPr lang="en-US" sz="780" dirty="0"/>
          </a:p>
        </p:txBody>
      </p:sp>
      <p:sp>
        <p:nvSpPr>
          <p:cNvPr id="27" name="Text 24"/>
          <p:cNvSpPr/>
          <p:nvPr/>
        </p:nvSpPr>
        <p:spPr>
          <a:xfrm>
            <a:off x="5394960" y="4450080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Строка ведёт в детальный экран; действия строки доступны также с клавиатуры и телефона.</a:t>
            </a:r>
            <a:endParaRPr lang="en-US" sz="670" dirty="0"/>
          </a:p>
        </p:txBody>
      </p:sp>
      <p:sp>
        <p:nvSpPr>
          <p:cNvPr id="28" name="Shape 25"/>
          <p:cNvSpPr/>
          <p:nvPr/>
        </p:nvSpPr>
        <p:spPr>
          <a:xfrm>
            <a:off x="502920" y="5678424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13232" y="5623560"/>
            <a:ext cx="6345936" cy="378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Фильтры сохраняются между открытиями; режим «Предыдущие заявки» у повтора — отдельный режим списка.</a:t>
            </a:r>
            <a:endParaRPr lang="en-US" sz="930" dirty="0"/>
          </a:p>
        </p:txBody>
      </p:sp>
      <p:sp>
        <p:nvSpPr>
          <p:cNvPr id="30" name="Shape 27"/>
          <p:cNvSpPr/>
          <p:nvPr/>
        </p:nvSpPr>
        <p:spPr>
          <a:xfrm>
            <a:off x="502920" y="6111301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13232" y="6056437"/>
            <a:ext cx="6345936" cy="378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Порядок строк задаёт выбранная сортировка: срочные наверх не поднимаются, их собирают пресет «Срочные» и отбор.</a:t>
            </a:r>
            <a:endParaRPr lang="en-US" sz="930" dirty="0"/>
          </a:p>
        </p:txBody>
      </p:sp>
      <p:sp>
        <p:nvSpPr>
          <p:cNvPr id="32" name="Shape 29"/>
          <p:cNvSpPr/>
          <p:nvPr/>
        </p:nvSpPr>
        <p:spPr>
          <a:xfrm>
            <a:off x="502920" y="6544178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13232" y="6489314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Закрытые и отменённые записи не должны смешиваться с рабочей очередью.</a:t>
            </a:r>
            <a:endParaRPr lang="en-US" sz="930" dirty="0"/>
          </a:p>
        </p:txBody>
      </p:sp>
      <p:sp>
        <p:nvSpPr>
          <p:cNvPr id="34" name="Shape 31"/>
          <p:cNvSpPr/>
          <p:nvPr/>
        </p:nvSpPr>
        <p:spPr>
          <a:xfrm>
            <a:off x="502920" y="6855074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13232" y="6800210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телефоне создание и действия показываются крупными кнопками или нижней панелью.</a:t>
            </a:r>
            <a:endParaRPr lang="en-US" sz="9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641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spc="25" kern="0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ОРГТЕХНИКА · ПОЛНОЕ РУКОВОДСТВО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733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и правка заявки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327648" y="3566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21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6556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снимке — нижняя часть заполненной формы: описание, заказчик, контакт, срочность и вложения.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02920" y="10131552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13848"/>
            <a:ext cx="5916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Полное руководство по оргтехнике · актуальная версия приложения · редакция 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19088" y="102138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502920" y="1298448"/>
            <a:ext cx="4279392" cy="4160520"/>
          </a:xfrm>
          <a:prstGeom prst="roundRect">
            <a:avLst>
              <a:gd name="adj" fmla="val 879"/>
            </a:avLst>
          </a:prstGeom>
          <a:solidFill>
            <a:srgbClr val="F5F7FB"/>
          </a:solidFill>
          <a:ln w="8890">
            <a:solidFill>
              <a:srgbClr val="E7EA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371600"/>
            <a:ext cx="4059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АКТУАЛЬНЫЙ ЭКРАН · ДЕМОНСТРАЦИОННЫЕ ДАННЫЕ</a:t>
            </a:r>
            <a:endParaRPr lang="en-US" sz="590" dirty="0"/>
          </a:p>
        </p:txBody>
      </p:sp>
      <p:pic>
        <p:nvPicPr>
          <p:cNvPr id="12" name="Image 0" descr="/root/projects/technic/docs/image/office-equipment-latest/request-cre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3406" y="1563624"/>
            <a:ext cx="2598420" cy="3822192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946904" y="1298448"/>
            <a:ext cx="2112264" cy="964692"/>
          </a:xfrm>
          <a:prstGeom prst="roundRect">
            <a:avLst>
              <a:gd name="adj" fmla="val 3791"/>
            </a:avLst>
          </a:prstGeom>
          <a:solidFill>
            <a:srgbClr val="F0F7FF"/>
          </a:solidFill>
          <a:ln w="8890">
            <a:solidFill>
              <a:srgbClr val="BAE0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56632" y="1408176"/>
            <a:ext cx="256032" cy="256032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56632" y="144018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5394960" y="13807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Описание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5394960" y="1609344"/>
            <a:ext cx="155448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Зафиксируйте симптом, частоту и влияние на работу.</a:t>
            </a:r>
            <a:endParaRPr lang="en-US" sz="670" dirty="0"/>
          </a:p>
        </p:txBody>
      </p:sp>
      <p:sp>
        <p:nvSpPr>
          <p:cNvPr id="18" name="Shape 15"/>
          <p:cNvSpPr/>
          <p:nvPr/>
        </p:nvSpPr>
        <p:spPr>
          <a:xfrm>
            <a:off x="4946904" y="2363724"/>
            <a:ext cx="2112264" cy="964692"/>
          </a:xfrm>
          <a:prstGeom prst="roundRect">
            <a:avLst>
              <a:gd name="adj" fmla="val 3791"/>
            </a:avLst>
          </a:prstGeom>
          <a:solidFill>
            <a:srgbClr val="F9F0FF"/>
          </a:solidFill>
          <a:ln w="8890">
            <a:solidFill>
              <a:srgbClr val="D3AD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56632" y="2473452"/>
            <a:ext cx="256032" cy="256032"/>
          </a:xfrm>
          <a:prstGeom prst="ellipse">
            <a:avLst/>
          </a:prstGeom>
          <a:solidFill>
            <a:srgbClr val="722ED1"/>
          </a:solidFill>
          <a:ln w="12700">
            <a:solidFill>
              <a:srgbClr val="722ED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56632" y="250545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5394960" y="24460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Заказчик и контакт</a:t>
            </a:r>
            <a:endParaRPr lang="en-US" sz="780" dirty="0"/>
          </a:p>
        </p:txBody>
      </p:sp>
      <p:sp>
        <p:nvSpPr>
          <p:cNvPr id="22" name="Text 19"/>
          <p:cNvSpPr/>
          <p:nvPr/>
        </p:nvSpPr>
        <p:spPr>
          <a:xfrm>
            <a:off x="5394960" y="2674620"/>
            <a:ext cx="155448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Площадка/отдел, имя и телефон фиксируются снимком заявки.</a:t>
            </a:r>
            <a:endParaRPr lang="en-US" sz="670" dirty="0"/>
          </a:p>
        </p:txBody>
      </p:sp>
      <p:sp>
        <p:nvSpPr>
          <p:cNvPr id="23" name="Shape 20"/>
          <p:cNvSpPr/>
          <p:nvPr/>
        </p:nvSpPr>
        <p:spPr>
          <a:xfrm>
            <a:off x="4946904" y="3429000"/>
            <a:ext cx="2112264" cy="964692"/>
          </a:xfrm>
          <a:prstGeom prst="roundRect">
            <a:avLst>
              <a:gd name="adj" fmla="val 3791"/>
            </a:avLst>
          </a:prstGeom>
          <a:solidFill>
            <a:srgbClr val="FFF7E6"/>
          </a:solidFill>
          <a:ln w="8890">
            <a:solidFill>
              <a:srgbClr val="FFD59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56632" y="3538728"/>
            <a:ext cx="256032" cy="256032"/>
          </a:xfrm>
          <a:prstGeom prst="ellipse">
            <a:avLst/>
          </a:prstGeom>
          <a:solidFill>
            <a:srgbClr val="D46B08"/>
          </a:solidFill>
          <a:ln w="12700">
            <a:solidFill>
              <a:srgbClr val="D46B0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56632" y="357073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5394960" y="351129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Срочность</a:t>
            </a:r>
            <a:endParaRPr lang="en-US" sz="780" dirty="0"/>
          </a:p>
        </p:txBody>
      </p:sp>
      <p:sp>
        <p:nvSpPr>
          <p:cNvPr id="27" name="Text 24"/>
          <p:cNvSpPr/>
          <p:nvPr/>
        </p:nvSpPr>
        <p:spPr>
          <a:xfrm>
            <a:off x="5394960" y="3739896"/>
            <a:ext cx="155448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Причина обязательна и должна объяснять остановку работы.</a:t>
            </a:r>
            <a:endParaRPr lang="en-US" sz="670" dirty="0"/>
          </a:p>
        </p:txBody>
      </p:sp>
      <p:sp>
        <p:nvSpPr>
          <p:cNvPr id="28" name="Shape 25"/>
          <p:cNvSpPr/>
          <p:nvPr/>
        </p:nvSpPr>
        <p:spPr>
          <a:xfrm>
            <a:off x="4946904" y="4494276"/>
            <a:ext cx="2112264" cy="964692"/>
          </a:xfrm>
          <a:prstGeom prst="roundRect">
            <a:avLst>
              <a:gd name="adj" fmla="val 3791"/>
            </a:avLst>
          </a:prstGeom>
          <a:solidFill>
            <a:srgbClr val="F6FFED"/>
          </a:solidFill>
          <a:ln w="8890">
            <a:solidFill>
              <a:srgbClr val="B7EB8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056632" y="4604004"/>
            <a:ext cx="256032" cy="256032"/>
          </a:xfrm>
          <a:prstGeom prst="ellipse">
            <a:avLst/>
          </a:prstGeom>
          <a:solidFill>
            <a:srgbClr val="389E0D"/>
          </a:solidFill>
          <a:ln w="12700">
            <a:solidFill>
              <a:srgbClr val="389E0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56632" y="463600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20" dirty="0"/>
          </a:p>
        </p:txBody>
      </p:sp>
      <p:sp>
        <p:nvSpPr>
          <p:cNvPr id="31" name="Text 28"/>
          <p:cNvSpPr/>
          <p:nvPr/>
        </p:nvSpPr>
        <p:spPr>
          <a:xfrm>
            <a:off x="5394960" y="45765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 и отправка</a:t>
            </a:r>
            <a:endParaRPr lang="en-US" sz="780" dirty="0"/>
          </a:p>
        </p:txBody>
      </p:sp>
      <p:sp>
        <p:nvSpPr>
          <p:cNvPr id="32" name="Text 29"/>
          <p:cNvSpPr/>
          <p:nvPr/>
        </p:nvSpPr>
        <p:spPr>
          <a:xfrm>
            <a:off x="5394960" y="4805172"/>
            <a:ext cx="155448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Приложите подтверждение, проверьте форму и сохраните заявку.</a:t>
            </a:r>
            <a:endParaRPr lang="en-US" sz="670" dirty="0"/>
          </a:p>
        </p:txBody>
      </p:sp>
      <p:sp>
        <p:nvSpPr>
          <p:cNvPr id="33" name="Shape 30"/>
          <p:cNvSpPr/>
          <p:nvPr/>
        </p:nvSpPr>
        <p:spPr>
          <a:xfrm>
            <a:off x="502920" y="5678424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13232" y="5623560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правке аппарат и категорию не меняют; срочность требует отдельного права.</a:t>
            </a:r>
            <a:endParaRPr lang="en-US" sz="930" dirty="0"/>
          </a:p>
        </p:txBody>
      </p:sp>
      <p:sp>
        <p:nvSpPr>
          <p:cNvPr id="35" name="Shape 32"/>
          <p:cNvSpPr/>
          <p:nvPr/>
        </p:nvSpPr>
        <p:spPr>
          <a:xfrm>
            <a:off x="502920" y="5989320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13232" y="5934456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Заявитель правит новую неназначенную заявку и удаляет её до начала работы.</a:t>
            </a:r>
            <a:endParaRPr lang="en-US" sz="930" dirty="0"/>
          </a:p>
        </p:txBody>
      </p:sp>
      <p:sp>
        <p:nvSpPr>
          <p:cNvPr id="37" name="Shape 34"/>
          <p:cNvSpPr/>
          <p:nvPr/>
        </p:nvSpPr>
        <p:spPr>
          <a:xfrm>
            <a:off x="502920" y="6300216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13232" y="6245352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Вложения после создания добавляются на вкладке «Документы».</a:t>
            </a:r>
            <a:endParaRPr lang="en-US" sz="9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641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spc="25" kern="0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ОРГТЕХНИКА · ПОЛНОЕ РУКОВОДСТВО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733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Аппарат, кандидат или отсутствие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327648" y="3566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21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6556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Предмет заявки — карточка парка, сообщение на проверку либо заявка без аппарата при специальном праве.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02920" y="10131552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13848"/>
            <a:ext cx="5916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Полное руководство по оргтехнике · актуальная версия приложения · редакция 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19088" y="102138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502920" y="1298448"/>
            <a:ext cx="4279392" cy="4160520"/>
          </a:xfrm>
          <a:prstGeom prst="roundRect">
            <a:avLst>
              <a:gd name="adj" fmla="val 879"/>
            </a:avLst>
          </a:prstGeom>
          <a:solidFill>
            <a:srgbClr val="F5F7FB"/>
          </a:solidFill>
          <a:ln w="8890">
            <a:solidFill>
              <a:srgbClr val="E7EA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371600"/>
            <a:ext cx="4059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АКТУАЛЬНЫЙ ЭКРАН · ДЕМОНСТРАЦИОННЫЕ ДАННЫЕ</a:t>
            </a:r>
            <a:endParaRPr lang="en-US" sz="590" dirty="0"/>
          </a:p>
        </p:txBody>
      </p:sp>
      <p:pic>
        <p:nvPicPr>
          <p:cNvPr id="12" name="Image 0" descr="/root/projects/technic/docs/image/office-equipment-latest/candidate-re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3490" y="1563624"/>
            <a:ext cx="2378253" cy="3822192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946904" y="1298448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0F7FF"/>
          </a:solidFill>
          <a:ln w="8890">
            <a:solidFill>
              <a:srgbClr val="BAE0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56632" y="1408176"/>
            <a:ext cx="256032" cy="256032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56632" y="144018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5394960" y="13807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Опишите аппарат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5394960" y="1609344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 и точная модель с шильдика.</a:t>
            </a:r>
            <a:endParaRPr lang="en-US" sz="670" dirty="0"/>
          </a:p>
        </p:txBody>
      </p:sp>
      <p:sp>
        <p:nvSpPr>
          <p:cNvPr id="18" name="Shape 15"/>
          <p:cNvSpPr/>
          <p:nvPr/>
        </p:nvSpPr>
        <p:spPr>
          <a:xfrm>
            <a:off x="4946904" y="2718816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9F0FF"/>
          </a:solidFill>
          <a:ln w="8890">
            <a:solidFill>
              <a:srgbClr val="D3AD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56632" y="2828544"/>
            <a:ext cx="256032" cy="256032"/>
          </a:xfrm>
          <a:prstGeom prst="ellipse">
            <a:avLst/>
          </a:prstGeom>
          <a:solidFill>
            <a:srgbClr val="722ED1"/>
          </a:solidFill>
          <a:ln w="12700">
            <a:solidFill>
              <a:srgbClr val="722ED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56632" y="286054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5394960" y="28011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Дайте идентификатор</a:t>
            </a:r>
            <a:endParaRPr lang="en-US" sz="780" dirty="0"/>
          </a:p>
        </p:txBody>
      </p:sp>
      <p:sp>
        <p:nvSpPr>
          <p:cNvPr id="22" name="Text 19"/>
          <p:cNvSpPr/>
          <p:nvPr/>
        </p:nvSpPr>
        <p:spPr>
          <a:xfrm>
            <a:off x="5394960" y="3029712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Серийный/инвентарный номер и фото защищают от дубля.</a:t>
            </a:r>
            <a:endParaRPr lang="en-US" sz="670" dirty="0"/>
          </a:p>
        </p:txBody>
      </p:sp>
      <p:sp>
        <p:nvSpPr>
          <p:cNvPr id="23" name="Shape 20"/>
          <p:cNvSpPr/>
          <p:nvPr/>
        </p:nvSpPr>
        <p:spPr>
          <a:xfrm>
            <a:off x="4946904" y="4139184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6FFED"/>
          </a:solidFill>
          <a:ln w="8890">
            <a:solidFill>
              <a:srgbClr val="B7EB8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56632" y="4248912"/>
            <a:ext cx="256032" cy="256032"/>
          </a:xfrm>
          <a:prstGeom prst="ellipse">
            <a:avLst/>
          </a:prstGeom>
          <a:solidFill>
            <a:srgbClr val="389E0D"/>
          </a:solidFill>
          <a:ln w="12700">
            <a:solidFill>
              <a:srgbClr val="389E0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56632" y="428091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5394960" y="42214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Дождитесь решения</a:t>
            </a:r>
            <a:endParaRPr lang="en-US" sz="780" dirty="0"/>
          </a:p>
        </p:txBody>
      </p:sp>
      <p:sp>
        <p:nvSpPr>
          <p:cNvPr id="27" name="Text 24"/>
          <p:cNvSpPr/>
          <p:nvPr/>
        </p:nvSpPr>
        <p:spPr>
          <a:xfrm>
            <a:off x="5394960" y="4450080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Связать с найденной карточкой, создать новую либо отклонить сообщение.</a:t>
            </a:r>
            <a:endParaRPr lang="en-US" sz="670" dirty="0"/>
          </a:p>
        </p:txBody>
      </p:sp>
      <p:sp>
        <p:nvSpPr>
          <p:cNvPr id="28" name="Shape 25"/>
          <p:cNvSpPr/>
          <p:nvPr/>
        </p:nvSpPr>
        <p:spPr>
          <a:xfrm>
            <a:off x="502920" y="5623560"/>
            <a:ext cx="3195828" cy="786933"/>
          </a:xfrm>
          <a:prstGeom prst="roundRect">
            <a:avLst>
              <a:gd name="adj" fmla="val 5810"/>
            </a:avLst>
          </a:prstGeom>
          <a:solidFill>
            <a:srgbClr val="F6FFED"/>
          </a:solidFill>
          <a:ln w="10160">
            <a:solidFill>
              <a:srgbClr val="B7EB8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9224" y="5742432"/>
            <a:ext cx="2903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0" b="1" dirty="0">
                <a:solidFill>
                  <a:srgbClr val="389E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парка</a:t>
            </a:r>
            <a:endParaRPr lang="en-US" sz="970" dirty="0"/>
          </a:p>
        </p:txBody>
      </p:sp>
      <p:sp>
        <p:nvSpPr>
          <p:cNvPr id="30" name="Text 27"/>
          <p:cNvSpPr/>
          <p:nvPr/>
        </p:nvSpPr>
        <p:spPr>
          <a:xfrm>
            <a:off x="649224" y="5971032"/>
            <a:ext cx="2903220" cy="348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Обычный путь: место и модель берутся из справочника.</a:t>
            </a:r>
            <a:endParaRPr lang="en-US" sz="870" dirty="0"/>
          </a:p>
        </p:txBody>
      </p:sp>
      <p:sp>
        <p:nvSpPr>
          <p:cNvPr id="31" name="Shape 28"/>
          <p:cNvSpPr/>
          <p:nvPr/>
        </p:nvSpPr>
        <p:spPr>
          <a:xfrm>
            <a:off x="3863340" y="5623560"/>
            <a:ext cx="3195828" cy="786933"/>
          </a:xfrm>
          <a:prstGeom prst="roundRect">
            <a:avLst>
              <a:gd name="adj" fmla="val 5810"/>
            </a:avLst>
          </a:prstGeom>
          <a:solidFill>
            <a:srgbClr val="F9F0FF"/>
          </a:solidFill>
          <a:ln w="10160">
            <a:solidFill>
              <a:srgbClr val="D3ADF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009644" y="5742432"/>
            <a:ext cx="2903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0" b="1" dirty="0">
                <a:solidFill>
                  <a:srgbClr val="722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Кандидат</a:t>
            </a:r>
            <a:endParaRPr lang="en-US" sz="970" dirty="0"/>
          </a:p>
        </p:txBody>
      </p:sp>
      <p:sp>
        <p:nvSpPr>
          <p:cNvPr id="33" name="Text 30"/>
          <p:cNvSpPr/>
          <p:nvPr/>
        </p:nvSpPr>
        <p:spPr>
          <a:xfrm>
            <a:off x="4009644" y="5971032"/>
            <a:ext cx="2903220" cy="348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Живёт рядом с заявкой и блокирует окончательную приёмку, пока не разобран.</a:t>
            </a:r>
            <a:endParaRPr lang="en-US" sz="870" dirty="0"/>
          </a:p>
        </p:txBody>
      </p:sp>
      <p:sp>
        <p:nvSpPr>
          <p:cNvPr id="34" name="Shape 31"/>
          <p:cNvSpPr/>
          <p:nvPr/>
        </p:nvSpPr>
        <p:spPr>
          <a:xfrm>
            <a:off x="502920" y="6538509"/>
            <a:ext cx="3195828" cy="786933"/>
          </a:xfrm>
          <a:prstGeom prst="roundRect">
            <a:avLst>
              <a:gd name="adj" fmla="val 5810"/>
            </a:avLst>
          </a:prstGeom>
          <a:solidFill>
            <a:srgbClr val="F0F7FF"/>
          </a:solidFill>
          <a:ln w="10160">
            <a:solidFill>
              <a:srgbClr val="BAE0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9224" y="6657381"/>
            <a:ext cx="2903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аппарата</a:t>
            </a:r>
            <a:endParaRPr lang="en-US" sz="970" dirty="0"/>
          </a:p>
        </p:txBody>
      </p:sp>
      <p:sp>
        <p:nvSpPr>
          <p:cNvPr id="36" name="Text 33"/>
          <p:cNvSpPr/>
          <p:nvPr/>
        </p:nvSpPr>
        <p:spPr>
          <a:xfrm>
            <a:off x="649224" y="6885981"/>
            <a:ext cx="2903220" cy="348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Отдельное право службы/ИТ; заказчик обязателен.</a:t>
            </a:r>
            <a:endParaRPr lang="en-US" sz="870" dirty="0"/>
          </a:p>
        </p:txBody>
      </p:sp>
      <p:sp>
        <p:nvSpPr>
          <p:cNvPr id="37" name="Shape 34"/>
          <p:cNvSpPr/>
          <p:nvPr/>
        </p:nvSpPr>
        <p:spPr>
          <a:xfrm>
            <a:off x="3863340" y="6538509"/>
            <a:ext cx="3195828" cy="786933"/>
          </a:xfrm>
          <a:prstGeom prst="roundRect">
            <a:avLst>
              <a:gd name="adj" fmla="val 5810"/>
            </a:avLst>
          </a:prstGeom>
          <a:solidFill>
            <a:srgbClr val="FFF7E6"/>
          </a:solidFill>
          <a:ln w="10160">
            <a:solidFill>
              <a:srgbClr val="FFD59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009644" y="6657381"/>
            <a:ext cx="2903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0" b="1" dirty="0">
                <a:solidFill>
                  <a:srgbClr val="D46B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Дубликат</a:t>
            </a:r>
            <a:endParaRPr lang="en-US" sz="970" dirty="0"/>
          </a:p>
        </p:txBody>
      </p:sp>
      <p:sp>
        <p:nvSpPr>
          <p:cNvPr id="39" name="Text 36"/>
          <p:cNvSpPr/>
          <p:nvPr/>
        </p:nvSpPr>
        <p:spPr>
          <a:xfrm>
            <a:off x="4009644" y="6885981"/>
            <a:ext cx="2903220" cy="348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Портал предлагает найденную карточку или открытую заявку.</a:t>
            </a:r>
            <a:endParaRPr lang="en-US" sz="8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641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spc="25" kern="0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ОРГТЕХНИКА · ПОЛНОЕ РУКОВОДСТВО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733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Статусы и стороны ожидания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327648" y="3566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21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6556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Живых статусов шесть; назначение и согласование показаны признаками и ожиданием.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02920" y="10131552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13848"/>
            <a:ext cx="5916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Полное руководство по оргтехнике · актуальная версия приложения · редакция 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19088" y="102138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502920" y="1298448"/>
            <a:ext cx="1570482" cy="658368"/>
          </a:xfrm>
          <a:prstGeom prst="roundRect">
            <a:avLst>
              <a:gd name="adj" fmla="val 8333"/>
            </a:avLst>
          </a:prstGeom>
          <a:solidFill>
            <a:srgbClr val="F0F7FF"/>
          </a:solidFill>
          <a:ln w="10160">
            <a:solidFill>
              <a:srgbClr val="BAE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1417320"/>
            <a:ext cx="14241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Новая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576072" y="1636776"/>
            <a:ext cx="14241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3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распределить / старт</a:t>
            </a:r>
            <a:endParaRPr lang="en-US" sz="730" dirty="0"/>
          </a:p>
        </p:txBody>
      </p:sp>
      <p:sp>
        <p:nvSpPr>
          <p:cNvPr id="13" name="Shape 11"/>
          <p:cNvSpPr/>
          <p:nvPr/>
        </p:nvSpPr>
        <p:spPr>
          <a:xfrm>
            <a:off x="2164842" y="1298448"/>
            <a:ext cx="1570482" cy="658368"/>
          </a:xfrm>
          <a:prstGeom prst="roundRect">
            <a:avLst>
              <a:gd name="adj" fmla="val 8333"/>
            </a:avLst>
          </a:prstGeom>
          <a:solidFill>
            <a:srgbClr val="FFF7E6"/>
          </a:solidFill>
          <a:ln w="10160">
            <a:solidFill>
              <a:srgbClr val="FFD5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37994" y="1417320"/>
            <a:ext cx="14241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D46B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работе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2237994" y="1636776"/>
            <a:ext cx="14241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3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/ согласование</a:t>
            </a:r>
            <a:endParaRPr lang="en-US" sz="730" dirty="0"/>
          </a:p>
        </p:txBody>
      </p:sp>
      <p:sp>
        <p:nvSpPr>
          <p:cNvPr id="16" name="Shape 14"/>
          <p:cNvSpPr/>
          <p:nvPr/>
        </p:nvSpPr>
        <p:spPr>
          <a:xfrm>
            <a:off x="3826764" y="1298448"/>
            <a:ext cx="1570482" cy="658368"/>
          </a:xfrm>
          <a:prstGeom prst="roundRect">
            <a:avLst>
              <a:gd name="adj" fmla="val 8333"/>
            </a:avLst>
          </a:prstGeom>
          <a:solidFill>
            <a:srgbClr val="F9F0FF"/>
          </a:solidFill>
          <a:ln w="10160">
            <a:solidFill>
              <a:srgbClr val="D3AD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99916" y="1417320"/>
            <a:ext cx="14241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722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Решена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3899916" y="1636776"/>
            <a:ext cx="14241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3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приёмка</a:t>
            </a:r>
            <a:endParaRPr lang="en-US" sz="730" dirty="0"/>
          </a:p>
        </p:txBody>
      </p:sp>
      <p:sp>
        <p:nvSpPr>
          <p:cNvPr id="19" name="Shape 17"/>
          <p:cNvSpPr/>
          <p:nvPr/>
        </p:nvSpPr>
        <p:spPr>
          <a:xfrm>
            <a:off x="5488686" y="1298448"/>
            <a:ext cx="1570482" cy="658368"/>
          </a:xfrm>
          <a:prstGeom prst="roundRect">
            <a:avLst>
              <a:gd name="adj" fmla="val 8333"/>
            </a:avLst>
          </a:prstGeom>
          <a:solidFill>
            <a:srgbClr val="F6FFED"/>
          </a:solidFill>
          <a:ln w="10160">
            <a:solidFill>
              <a:srgbClr val="B7EB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61838" y="1417320"/>
            <a:ext cx="14241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89E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Закрыта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5561838" y="1636776"/>
            <a:ext cx="14241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3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завершено</a:t>
            </a:r>
            <a:endParaRPr lang="en-US" sz="730" dirty="0"/>
          </a:p>
        </p:txBody>
      </p:sp>
      <p:sp>
        <p:nvSpPr>
          <p:cNvPr id="22" name="Shape 20"/>
          <p:cNvSpPr/>
          <p:nvPr/>
        </p:nvSpPr>
        <p:spPr>
          <a:xfrm>
            <a:off x="502920" y="2084832"/>
            <a:ext cx="1115008" cy="347472"/>
          </a:xfrm>
          <a:prstGeom prst="rect">
            <a:avLst/>
          </a:prstGeom>
          <a:solidFill>
            <a:srgbClr val="172033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2176272"/>
            <a:ext cx="9687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617928" y="2084832"/>
            <a:ext cx="1828613" cy="347472"/>
          </a:xfrm>
          <a:prstGeom prst="rect">
            <a:avLst/>
          </a:prstGeom>
          <a:solidFill>
            <a:srgbClr val="172033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91080" y="2176272"/>
            <a:ext cx="1682309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Ожидание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446542" y="2084832"/>
            <a:ext cx="3612626" cy="347472"/>
          </a:xfrm>
          <a:prstGeom prst="rect">
            <a:avLst/>
          </a:prstGeom>
          <a:solidFill>
            <a:srgbClr val="172033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19694" y="2176272"/>
            <a:ext cx="346632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Допустимый смысл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02920" y="2432304"/>
            <a:ext cx="1115008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2514600"/>
            <a:ext cx="968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Новая</a:t>
            </a:r>
            <a:endParaRPr lang="en-US" sz="810" dirty="0"/>
          </a:p>
        </p:txBody>
      </p:sp>
      <p:sp>
        <p:nvSpPr>
          <p:cNvPr id="30" name="Shape 28"/>
          <p:cNvSpPr/>
          <p:nvPr/>
        </p:nvSpPr>
        <p:spPr>
          <a:xfrm>
            <a:off x="1617928" y="2432304"/>
            <a:ext cx="1828613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91080" y="2514600"/>
            <a:ext cx="16823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Оператор / исполнитель</a:t>
            </a:r>
            <a:endParaRPr lang="en-US" sz="810" dirty="0"/>
          </a:p>
        </p:txBody>
      </p:sp>
      <p:sp>
        <p:nvSpPr>
          <p:cNvPr id="32" name="Shape 30"/>
          <p:cNvSpPr/>
          <p:nvPr/>
        </p:nvSpPr>
        <p:spPr>
          <a:xfrm>
            <a:off x="3446542" y="2432304"/>
            <a:ext cx="3612626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19694" y="2514600"/>
            <a:ext cx="34663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назначения либо назначенный ещё не принял</a:t>
            </a:r>
            <a:endParaRPr lang="en-US" sz="810" dirty="0"/>
          </a:p>
        </p:txBody>
      </p:sp>
      <p:sp>
        <p:nvSpPr>
          <p:cNvPr id="34" name="Shape 32"/>
          <p:cNvSpPr/>
          <p:nvPr/>
        </p:nvSpPr>
        <p:spPr>
          <a:xfrm>
            <a:off x="502920" y="2816352"/>
            <a:ext cx="1115008" cy="384048"/>
          </a:xfrm>
          <a:prstGeom prst="rect">
            <a:avLst/>
          </a:prstGeom>
          <a:solidFill>
            <a:srgbClr val="FAFAFA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" y="2898648"/>
            <a:ext cx="968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работе</a:t>
            </a:r>
            <a:endParaRPr lang="en-US" sz="810" dirty="0"/>
          </a:p>
        </p:txBody>
      </p:sp>
      <p:sp>
        <p:nvSpPr>
          <p:cNvPr id="36" name="Shape 34"/>
          <p:cNvSpPr/>
          <p:nvPr/>
        </p:nvSpPr>
        <p:spPr>
          <a:xfrm>
            <a:off x="1617928" y="2816352"/>
            <a:ext cx="1828613" cy="384048"/>
          </a:xfrm>
          <a:prstGeom prst="rect">
            <a:avLst/>
          </a:prstGeom>
          <a:solidFill>
            <a:srgbClr val="FAFAFA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91080" y="2898648"/>
            <a:ext cx="16823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Исполнитель / согласование</a:t>
            </a:r>
            <a:endParaRPr lang="en-US" sz="810" dirty="0"/>
          </a:p>
        </p:txBody>
      </p:sp>
      <p:sp>
        <p:nvSpPr>
          <p:cNvPr id="38" name="Shape 36"/>
          <p:cNvSpPr/>
          <p:nvPr/>
        </p:nvSpPr>
        <p:spPr>
          <a:xfrm>
            <a:off x="3446542" y="2816352"/>
            <a:ext cx="3612626" cy="384048"/>
          </a:xfrm>
          <a:prstGeom prst="rect">
            <a:avLst/>
          </a:prstGeom>
          <a:solidFill>
            <a:srgbClr val="FAFAFA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19694" y="2898648"/>
            <a:ext cx="34663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Работа, подготовка или решение по предъявленной ревизии</a:t>
            </a:r>
            <a:endParaRPr lang="en-US" sz="810" dirty="0"/>
          </a:p>
        </p:txBody>
      </p:sp>
      <p:sp>
        <p:nvSpPr>
          <p:cNvPr id="40" name="Shape 38"/>
          <p:cNvSpPr/>
          <p:nvPr/>
        </p:nvSpPr>
        <p:spPr>
          <a:xfrm>
            <a:off x="502920" y="3200400"/>
            <a:ext cx="1115008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6072" y="3282696"/>
            <a:ext cx="968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Отложена</a:t>
            </a:r>
            <a:endParaRPr lang="en-US" sz="810" dirty="0"/>
          </a:p>
        </p:txBody>
      </p:sp>
      <p:sp>
        <p:nvSpPr>
          <p:cNvPr id="42" name="Shape 40"/>
          <p:cNvSpPr/>
          <p:nvPr/>
        </p:nvSpPr>
        <p:spPr>
          <a:xfrm>
            <a:off x="1617928" y="3200400"/>
            <a:ext cx="1828613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91080" y="3282696"/>
            <a:ext cx="16823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Отложена</a:t>
            </a:r>
            <a:endParaRPr lang="en-US" sz="810" dirty="0"/>
          </a:p>
        </p:txBody>
      </p:sp>
      <p:sp>
        <p:nvSpPr>
          <p:cNvPr id="44" name="Shape 42"/>
          <p:cNvSpPr/>
          <p:nvPr/>
        </p:nvSpPr>
        <p:spPr>
          <a:xfrm>
            <a:off x="3446542" y="3200400"/>
            <a:ext cx="3612626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19694" y="3282696"/>
            <a:ext cx="34663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Пауза с обязательной причиной и сохранённой дугой возврата</a:t>
            </a:r>
            <a:endParaRPr lang="en-US" sz="810" dirty="0"/>
          </a:p>
        </p:txBody>
      </p:sp>
      <p:sp>
        <p:nvSpPr>
          <p:cNvPr id="46" name="Shape 44"/>
          <p:cNvSpPr/>
          <p:nvPr/>
        </p:nvSpPr>
        <p:spPr>
          <a:xfrm>
            <a:off x="502920" y="3584448"/>
            <a:ext cx="1115008" cy="391180"/>
          </a:xfrm>
          <a:prstGeom prst="rect">
            <a:avLst/>
          </a:prstGeom>
          <a:solidFill>
            <a:srgbClr val="FAFAFA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6072" y="3666744"/>
            <a:ext cx="968704" cy="281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Решена</a:t>
            </a:r>
            <a:endParaRPr lang="en-US" sz="810" dirty="0"/>
          </a:p>
        </p:txBody>
      </p:sp>
      <p:sp>
        <p:nvSpPr>
          <p:cNvPr id="48" name="Shape 46"/>
          <p:cNvSpPr/>
          <p:nvPr/>
        </p:nvSpPr>
        <p:spPr>
          <a:xfrm>
            <a:off x="1617928" y="3584448"/>
            <a:ext cx="1828613" cy="391180"/>
          </a:xfrm>
          <a:prstGeom prst="rect">
            <a:avLst/>
          </a:prstGeom>
          <a:solidFill>
            <a:srgbClr val="FAFAFA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691080" y="3666744"/>
            <a:ext cx="1682309" cy="281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Оператор / 24 часа</a:t>
            </a:r>
            <a:endParaRPr lang="en-US" sz="810" dirty="0"/>
          </a:p>
        </p:txBody>
      </p:sp>
      <p:sp>
        <p:nvSpPr>
          <p:cNvPr id="50" name="Shape 48"/>
          <p:cNvSpPr/>
          <p:nvPr/>
        </p:nvSpPr>
        <p:spPr>
          <a:xfrm>
            <a:off x="3446542" y="3584448"/>
            <a:ext cx="3612626" cy="391180"/>
          </a:xfrm>
          <a:prstGeom prst="rect">
            <a:avLst/>
          </a:prstGeom>
          <a:solidFill>
            <a:srgbClr val="FAFAFA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19694" y="3666744"/>
            <a:ext cx="3466322" cy="281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 предъявлен; принять, вернуть или дождаться автоприёмки</a:t>
            </a:r>
            <a:endParaRPr lang="en-US" sz="810" dirty="0"/>
          </a:p>
        </p:txBody>
      </p:sp>
      <p:sp>
        <p:nvSpPr>
          <p:cNvPr id="52" name="Shape 50"/>
          <p:cNvSpPr/>
          <p:nvPr/>
        </p:nvSpPr>
        <p:spPr>
          <a:xfrm>
            <a:off x="502920" y="3975628"/>
            <a:ext cx="1115008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6072" y="4057924"/>
            <a:ext cx="968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Закрыта</a:t>
            </a:r>
            <a:endParaRPr lang="en-US" sz="810" dirty="0"/>
          </a:p>
        </p:txBody>
      </p:sp>
      <p:sp>
        <p:nvSpPr>
          <p:cNvPr id="54" name="Shape 52"/>
          <p:cNvSpPr/>
          <p:nvPr/>
        </p:nvSpPr>
        <p:spPr>
          <a:xfrm>
            <a:off x="1617928" y="3975628"/>
            <a:ext cx="1828613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691080" y="4057924"/>
            <a:ext cx="16823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Никто</a:t>
            </a:r>
            <a:endParaRPr lang="en-US" sz="810" dirty="0"/>
          </a:p>
        </p:txBody>
      </p:sp>
      <p:sp>
        <p:nvSpPr>
          <p:cNvPr id="56" name="Shape 54"/>
          <p:cNvSpPr/>
          <p:nvPr/>
        </p:nvSpPr>
        <p:spPr>
          <a:xfrm>
            <a:off x="3446542" y="3975628"/>
            <a:ext cx="3612626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519694" y="4057924"/>
            <a:ext cx="34663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принята; только чтение и гарантийное обращение</a:t>
            </a:r>
            <a:endParaRPr lang="en-US" sz="810" dirty="0"/>
          </a:p>
        </p:txBody>
      </p:sp>
      <p:sp>
        <p:nvSpPr>
          <p:cNvPr id="58" name="Shape 56"/>
          <p:cNvSpPr/>
          <p:nvPr/>
        </p:nvSpPr>
        <p:spPr>
          <a:xfrm>
            <a:off x="502920" y="4359676"/>
            <a:ext cx="1115008" cy="384048"/>
          </a:xfrm>
          <a:prstGeom prst="rect">
            <a:avLst/>
          </a:prstGeom>
          <a:solidFill>
            <a:srgbClr val="FAFAFA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76072" y="4441972"/>
            <a:ext cx="968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Отменена</a:t>
            </a:r>
            <a:endParaRPr lang="en-US" sz="810" dirty="0"/>
          </a:p>
        </p:txBody>
      </p:sp>
      <p:sp>
        <p:nvSpPr>
          <p:cNvPr id="60" name="Shape 58"/>
          <p:cNvSpPr/>
          <p:nvPr/>
        </p:nvSpPr>
        <p:spPr>
          <a:xfrm>
            <a:off x="1617928" y="4359676"/>
            <a:ext cx="1828613" cy="384048"/>
          </a:xfrm>
          <a:prstGeom prst="rect">
            <a:avLst/>
          </a:prstGeom>
          <a:solidFill>
            <a:srgbClr val="FAFAFA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691080" y="4441972"/>
            <a:ext cx="16823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Никто</a:t>
            </a:r>
            <a:endParaRPr lang="en-US" sz="810" dirty="0"/>
          </a:p>
        </p:txBody>
      </p:sp>
      <p:sp>
        <p:nvSpPr>
          <p:cNvPr id="62" name="Shape 60"/>
          <p:cNvSpPr/>
          <p:nvPr/>
        </p:nvSpPr>
        <p:spPr>
          <a:xfrm>
            <a:off x="3446542" y="4359676"/>
            <a:ext cx="3612626" cy="384048"/>
          </a:xfrm>
          <a:prstGeom prst="rect">
            <a:avLst/>
          </a:prstGeom>
          <a:solidFill>
            <a:srgbClr val="FAFAFA"/>
          </a:solidFill>
          <a:ln w="5715">
            <a:solidFill>
              <a:srgbClr val="E7EA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519694" y="4441972"/>
            <a:ext cx="34663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Заявка отменена с причиной</a:t>
            </a:r>
            <a:endParaRPr lang="en-US" sz="810" dirty="0"/>
          </a:p>
        </p:txBody>
      </p:sp>
      <p:sp>
        <p:nvSpPr>
          <p:cNvPr id="64" name="Shape 62"/>
          <p:cNvSpPr/>
          <p:nvPr/>
        </p:nvSpPr>
        <p:spPr>
          <a:xfrm>
            <a:off x="502920" y="4871740"/>
            <a:ext cx="6556248" cy="729874"/>
          </a:xfrm>
          <a:prstGeom prst="roundRect">
            <a:avLst>
              <a:gd name="adj" fmla="val 7517"/>
            </a:avLst>
          </a:prstGeom>
          <a:solidFill>
            <a:srgbClr val="FAFAFA"/>
          </a:solidFill>
          <a:ln w="10160">
            <a:solidFill>
              <a:srgbClr val="E7EA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58368" y="4999756"/>
            <a:ext cx="6245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Старые статусы остаются только в истории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58368" y="5228356"/>
            <a:ext cx="6245352" cy="28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9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«Согласована ИТ», «Назначена», «Диагностика» и «Смета на согласовании» не используются для новых переходов.</a:t>
            </a:r>
            <a:endParaRPr lang="en-US" sz="89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641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spc="25" kern="0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ОРГТЕХНИКА · ПОЛНОЕ РУКОВОДСТВО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733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Фильтры, повтор и предыдущие заявки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327648" y="3566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21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6556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Повторное обращение — наблюдение за недавними ремонтами того же аппарата, а не автоматический маршрут.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02920" y="10131552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13848"/>
            <a:ext cx="5916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Полное руководство по оргтехнике · актуальная версия приложения · редакция 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19088" y="102138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502920" y="1298448"/>
            <a:ext cx="4279392" cy="4160520"/>
          </a:xfrm>
          <a:prstGeom prst="roundRect">
            <a:avLst>
              <a:gd name="adj" fmla="val 879"/>
            </a:avLst>
          </a:prstGeom>
          <a:solidFill>
            <a:srgbClr val="F5F7FB"/>
          </a:solidFill>
          <a:ln w="8890">
            <a:solidFill>
              <a:srgbClr val="E7EA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371600"/>
            <a:ext cx="4059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АКТУАЛЬНЫЙ ЭКРАН · ДЕМОНСТРАЦИОННЫЕ ДАННЫЕ</a:t>
            </a:r>
            <a:endParaRPr lang="en-US" sz="590" dirty="0"/>
          </a:p>
        </p:txBody>
      </p:sp>
      <p:pic>
        <p:nvPicPr>
          <p:cNvPr id="12" name="Image 0" descr="/root/projects/technic/docs/image/office-equipment-latest/requests-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835148"/>
            <a:ext cx="4133088" cy="327914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946904" y="1298448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0F7FF"/>
          </a:solidFill>
          <a:ln w="8890">
            <a:solidFill>
              <a:srgbClr val="BAE0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56632" y="1408176"/>
            <a:ext cx="256032" cy="256032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56632" y="144018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5394960" y="13807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Найдите свою очередь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5394960" y="1609344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«Ждут меня» и сохранённые фильтры сокращают ежедневный просмотр.</a:t>
            </a:r>
            <a:endParaRPr lang="en-US" sz="670" dirty="0"/>
          </a:p>
        </p:txBody>
      </p:sp>
      <p:sp>
        <p:nvSpPr>
          <p:cNvPr id="18" name="Shape 15"/>
          <p:cNvSpPr/>
          <p:nvPr/>
        </p:nvSpPr>
        <p:spPr>
          <a:xfrm>
            <a:off x="4946904" y="2718816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FF7E6"/>
          </a:solidFill>
          <a:ln w="8890">
            <a:solidFill>
              <a:srgbClr val="FFD59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56632" y="2828544"/>
            <a:ext cx="256032" cy="256032"/>
          </a:xfrm>
          <a:prstGeom prst="ellipse">
            <a:avLst/>
          </a:prstGeom>
          <a:solidFill>
            <a:srgbClr val="D46B08"/>
          </a:solidFill>
          <a:ln w="12700">
            <a:solidFill>
              <a:srgbClr val="D46B0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56632" y="286054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5394960" y="28011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Откройте повтор</a:t>
            </a:r>
            <a:endParaRPr lang="en-US" sz="780" dirty="0"/>
          </a:p>
        </p:txBody>
      </p:sp>
      <p:sp>
        <p:nvSpPr>
          <p:cNvPr id="22" name="Text 19"/>
          <p:cNvSpPr/>
          <p:nvPr/>
        </p:nvSpPr>
        <p:spPr>
          <a:xfrm>
            <a:off x="5394960" y="3029712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«Повтор ×N» показывает число предыдущих обращений в периоде и ссылку на них.</a:t>
            </a:r>
            <a:endParaRPr lang="en-US" sz="670" dirty="0"/>
          </a:p>
        </p:txBody>
      </p:sp>
      <p:sp>
        <p:nvSpPr>
          <p:cNvPr id="23" name="Shape 20"/>
          <p:cNvSpPr/>
          <p:nvPr/>
        </p:nvSpPr>
        <p:spPr>
          <a:xfrm>
            <a:off x="4946904" y="4139184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6FFED"/>
          </a:solidFill>
          <a:ln w="8890">
            <a:solidFill>
              <a:srgbClr val="B7EB8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56632" y="4248912"/>
            <a:ext cx="256032" cy="256032"/>
          </a:xfrm>
          <a:prstGeom prst="ellipse">
            <a:avLst/>
          </a:prstGeom>
          <a:solidFill>
            <a:srgbClr val="389E0D"/>
          </a:solidFill>
          <a:ln w="12700">
            <a:solidFill>
              <a:srgbClr val="389E0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56632" y="428091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5394960" y="42214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Работайте с заявкой</a:t>
            </a:r>
            <a:endParaRPr lang="en-US" sz="780" dirty="0"/>
          </a:p>
        </p:txBody>
      </p:sp>
      <p:sp>
        <p:nvSpPr>
          <p:cNvPr id="27" name="Text 24"/>
          <p:cNvSpPr/>
          <p:nvPr/>
        </p:nvSpPr>
        <p:spPr>
          <a:xfrm>
            <a:off x="5394960" y="4450080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Метка не меняет срочность, исполнителя, статус и гарантию.</a:t>
            </a:r>
            <a:endParaRPr lang="en-US" sz="670" dirty="0"/>
          </a:p>
        </p:txBody>
      </p:sp>
      <p:sp>
        <p:nvSpPr>
          <p:cNvPr id="28" name="Shape 25"/>
          <p:cNvSpPr/>
          <p:nvPr/>
        </p:nvSpPr>
        <p:spPr>
          <a:xfrm>
            <a:off x="502920" y="5678424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13232" y="5623560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 считается только для обслуживания; совместимость сегодня означает тот же вид заявки.</a:t>
            </a:r>
            <a:endParaRPr lang="en-US" sz="930" dirty="0"/>
          </a:p>
        </p:txBody>
      </p:sp>
      <p:sp>
        <p:nvSpPr>
          <p:cNvPr id="30" name="Shape 27"/>
          <p:cNvSpPr/>
          <p:nvPr/>
        </p:nvSpPr>
        <p:spPr>
          <a:xfrm>
            <a:off x="502920" y="5989320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13232" y="5934456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Ссылка «Предыдущие заявки по аппарату» открывает режим списка с тем же правилом периода.</a:t>
            </a:r>
            <a:endParaRPr lang="en-US" sz="930" dirty="0"/>
          </a:p>
        </p:txBody>
      </p:sp>
      <p:sp>
        <p:nvSpPr>
          <p:cNvPr id="32" name="Shape 29"/>
          <p:cNvSpPr/>
          <p:nvPr/>
        </p:nvSpPr>
        <p:spPr>
          <a:xfrm>
            <a:off x="502920" y="6300216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13232" y="6245352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Возраст рядом со статусом считается в текущем ожидании, а не от даты создания целиком.</a:t>
            </a:r>
            <a:endParaRPr lang="en-US" sz="9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641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spc="25" kern="0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ОРГТЕХНИКА · ПОЛНОЕ РУКОВОДСТВО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733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и аудитории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327648" y="3566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21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6556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экран собирается сервером по аудитории; скрытые суммы не попадают в ответ заявителю.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02920" y="10131552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13848"/>
            <a:ext cx="5916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Полное руководство по оргтехнике · актуальная версия приложения · редакция 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19088" y="102138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502920" y="1298448"/>
            <a:ext cx="4279392" cy="4160520"/>
          </a:xfrm>
          <a:prstGeom prst="roundRect">
            <a:avLst>
              <a:gd name="adj" fmla="val 879"/>
            </a:avLst>
          </a:prstGeom>
          <a:solidFill>
            <a:srgbClr val="F5F7FB"/>
          </a:solidFill>
          <a:ln w="8890">
            <a:solidFill>
              <a:srgbClr val="E7EA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371600"/>
            <a:ext cx="4059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АКТУАЛЬНЫЙ ЭКРАН · ДЕМОНСТРАЦИОННЫЕ ДАННЫЕ</a:t>
            </a:r>
            <a:endParaRPr lang="en-US" sz="590" dirty="0"/>
          </a:p>
        </p:txBody>
      </p:sp>
      <p:pic>
        <p:nvPicPr>
          <p:cNvPr id="12" name="Image 0" descr="/root/projects/technic/docs/image/office-equipment-latest/request-card-reque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2317455"/>
            <a:ext cx="4133088" cy="2314529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946904" y="1298448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0F7FF"/>
          </a:solidFill>
          <a:ln w="8890">
            <a:solidFill>
              <a:srgbClr val="BAE0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56632" y="1408176"/>
            <a:ext cx="256032" cy="256032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56632" y="144018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5394960" y="13807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Вкладки по аудитории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5394960" y="1609344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Заявителю — Заявка, Документы, История; «Объём работ» добавляется службе и исполнителю только у заявок сервисной компании. У расходников обе стороны видят «Расходники».</a:t>
            </a:r>
            <a:endParaRPr lang="en-US" sz="670" dirty="0"/>
          </a:p>
        </p:txBody>
      </p:sp>
      <p:sp>
        <p:nvSpPr>
          <p:cNvPr id="18" name="Shape 15"/>
          <p:cNvSpPr/>
          <p:nvPr/>
        </p:nvSpPr>
        <p:spPr>
          <a:xfrm>
            <a:off x="4946904" y="2718816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9F0FF"/>
          </a:solidFill>
          <a:ln w="8890">
            <a:solidFill>
              <a:srgbClr val="D3AD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56632" y="2828544"/>
            <a:ext cx="256032" cy="256032"/>
          </a:xfrm>
          <a:prstGeom prst="ellipse">
            <a:avLst/>
          </a:prstGeom>
          <a:solidFill>
            <a:srgbClr val="722ED1"/>
          </a:solidFill>
          <a:ln w="12700">
            <a:solidFill>
              <a:srgbClr val="722ED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56632" y="286054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5394960" y="28011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Исполнители и место</a:t>
            </a:r>
            <a:endParaRPr lang="en-US" sz="780" dirty="0"/>
          </a:p>
        </p:txBody>
      </p:sp>
      <p:sp>
        <p:nvSpPr>
          <p:cNvPr id="22" name="Text 19"/>
          <p:cNvSpPr/>
          <p:nvPr/>
        </p:nvSpPr>
        <p:spPr>
          <a:xfrm>
            <a:off x="5394960" y="3029712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Поле состава и реквизиты аппарата — основные точки координации.</a:t>
            </a:r>
            <a:endParaRPr lang="en-US" sz="670" dirty="0"/>
          </a:p>
        </p:txBody>
      </p:sp>
      <p:sp>
        <p:nvSpPr>
          <p:cNvPr id="23" name="Shape 20"/>
          <p:cNvSpPr/>
          <p:nvPr/>
        </p:nvSpPr>
        <p:spPr>
          <a:xfrm>
            <a:off x="4946904" y="4139184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6FFED"/>
          </a:solidFill>
          <a:ln w="8890">
            <a:solidFill>
              <a:srgbClr val="B7EB8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56632" y="4248912"/>
            <a:ext cx="256032" cy="256032"/>
          </a:xfrm>
          <a:prstGeom prst="ellipse">
            <a:avLst/>
          </a:prstGeom>
          <a:solidFill>
            <a:srgbClr val="389E0D"/>
          </a:solidFill>
          <a:ln w="12700">
            <a:solidFill>
              <a:srgbClr val="389E0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56632" y="428091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5394960" y="42214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Обсуждение</a:t>
            </a:r>
            <a:endParaRPr lang="en-US" sz="780" dirty="0"/>
          </a:p>
        </p:txBody>
      </p:sp>
      <p:sp>
        <p:nvSpPr>
          <p:cNvPr id="27" name="Text 24"/>
          <p:cNvSpPr/>
          <p:nvPr/>
        </p:nvSpPr>
        <p:spPr>
          <a:xfrm>
            <a:off x="5394960" y="4450080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Адресат — пометка получателя; непрочитанное считается по ленте.</a:t>
            </a:r>
            <a:endParaRPr lang="en-US" sz="670" dirty="0"/>
          </a:p>
        </p:txBody>
      </p:sp>
      <p:sp>
        <p:nvSpPr>
          <p:cNvPr id="28" name="Shape 25"/>
          <p:cNvSpPr/>
          <p:nvPr/>
        </p:nvSpPr>
        <p:spPr>
          <a:xfrm>
            <a:off x="502920" y="5678424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13232" y="5623560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Заявитель не получает стоимость, акт, счёт и служебные поля даже через API.</a:t>
            </a:r>
            <a:endParaRPr lang="en-US" sz="930" dirty="0"/>
          </a:p>
        </p:txBody>
      </p:sp>
      <p:sp>
        <p:nvSpPr>
          <p:cNvPr id="30" name="Shape 27"/>
          <p:cNvSpPr/>
          <p:nvPr/>
        </p:nvSpPr>
        <p:spPr>
          <a:xfrm>
            <a:off x="502920" y="5989320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13232" y="5934456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заявки показывает переходы, причины, назначения, документы, переписку и перемещение.</a:t>
            </a:r>
            <a:endParaRPr lang="en-US" sz="930" dirty="0"/>
          </a:p>
        </p:txBody>
      </p:sp>
      <p:sp>
        <p:nvSpPr>
          <p:cNvPr id="32" name="Shape 29"/>
          <p:cNvSpPr/>
          <p:nvPr/>
        </p:nvSpPr>
        <p:spPr>
          <a:xfrm>
            <a:off x="502920" y="6300216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13232" y="6245352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закрытия карточка, файлы и обсуждение доступны только для чтения.</a:t>
            </a:r>
            <a:endParaRPr lang="en-US" sz="9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641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spc="25" kern="0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ОРГТЕХНИКА · ПОЛНОЕ РУКОВОДСТВО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733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Назначение исполнителей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327648" y="3566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21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6556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Поимённые сотрудники и одна сервисная компания составляют единую команду заявки.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02920" y="10131552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13848"/>
            <a:ext cx="5916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Полное руководство по оргтехнике · актуальная версия приложения · редакция 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19088" y="102138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502920" y="1298448"/>
            <a:ext cx="4279392" cy="4160520"/>
          </a:xfrm>
          <a:prstGeom prst="roundRect">
            <a:avLst>
              <a:gd name="adj" fmla="val 879"/>
            </a:avLst>
          </a:prstGeom>
          <a:solidFill>
            <a:srgbClr val="F5F7FB"/>
          </a:solidFill>
          <a:ln w="8890">
            <a:solidFill>
              <a:srgbClr val="E7EA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371600"/>
            <a:ext cx="4059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АКТУАЛЬНЫЙ ЭКРАН · ДЕМОНСТРАЦИОННЫЕ ДАННЫЕ</a:t>
            </a:r>
            <a:endParaRPr lang="en-US" sz="590" dirty="0"/>
          </a:p>
        </p:txBody>
      </p:sp>
      <p:pic>
        <p:nvPicPr>
          <p:cNvPr id="12" name="Image 0" descr="/root/projects/technic/docs/image/office-equipment-latest/assign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670468"/>
            <a:ext cx="4133088" cy="360850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946904" y="1298448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0F7FF"/>
          </a:solidFill>
          <a:ln w="8890">
            <a:solidFill>
              <a:srgbClr val="BAE0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56632" y="1408176"/>
            <a:ext cx="256032" cy="256032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56632" y="144018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5394960" y="13807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Сотрудники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5394960" y="1609344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Несколько внутренних исполнителей; действие требует назначения конкретной учётки.</a:t>
            </a:r>
            <a:endParaRPr lang="en-US" sz="670" dirty="0"/>
          </a:p>
        </p:txBody>
      </p:sp>
      <p:sp>
        <p:nvSpPr>
          <p:cNvPr id="18" name="Shape 15"/>
          <p:cNvSpPr/>
          <p:nvPr/>
        </p:nvSpPr>
        <p:spPr>
          <a:xfrm>
            <a:off x="4946904" y="2718816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9F0FF"/>
          </a:solidFill>
          <a:ln w="8890">
            <a:solidFill>
              <a:srgbClr val="D3AD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56632" y="2828544"/>
            <a:ext cx="256032" cy="256032"/>
          </a:xfrm>
          <a:prstGeom prst="ellipse">
            <a:avLst/>
          </a:prstGeom>
          <a:solidFill>
            <a:srgbClr val="722ED1"/>
          </a:solidFill>
          <a:ln w="12700">
            <a:solidFill>
              <a:srgbClr val="722ED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56632" y="286054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5394960" y="28011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</a:t>
            </a:r>
            <a:endParaRPr lang="en-US" sz="780" dirty="0"/>
          </a:p>
        </p:txBody>
      </p:sp>
      <p:sp>
        <p:nvSpPr>
          <p:cNvPr id="22" name="Text 19"/>
          <p:cNvSpPr/>
          <p:nvPr/>
        </p:nvSpPr>
        <p:spPr>
          <a:xfrm>
            <a:off x="5394960" y="3029712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более одной компании; отказ компании снимает всю её сторону.</a:t>
            </a:r>
            <a:endParaRPr lang="en-US" sz="670" dirty="0"/>
          </a:p>
        </p:txBody>
      </p:sp>
      <p:sp>
        <p:nvSpPr>
          <p:cNvPr id="23" name="Shape 20"/>
          <p:cNvSpPr/>
          <p:nvPr/>
        </p:nvSpPr>
        <p:spPr>
          <a:xfrm>
            <a:off x="4946904" y="4139184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6FFED"/>
          </a:solidFill>
          <a:ln w="8890">
            <a:solidFill>
              <a:srgbClr val="B7EB8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56632" y="4248912"/>
            <a:ext cx="256032" cy="256032"/>
          </a:xfrm>
          <a:prstGeom prst="ellipse">
            <a:avLst/>
          </a:prstGeom>
          <a:solidFill>
            <a:srgbClr val="389E0D"/>
          </a:solidFill>
          <a:ln w="12700">
            <a:solidFill>
              <a:srgbClr val="389E0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56632" y="428091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5394960" y="42214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Причина изменения</a:t>
            </a:r>
            <a:endParaRPr lang="en-US" sz="780" dirty="0"/>
          </a:p>
        </p:txBody>
      </p:sp>
      <p:sp>
        <p:nvSpPr>
          <p:cNvPr id="27" name="Text 24"/>
          <p:cNvSpPr/>
          <p:nvPr/>
        </p:nvSpPr>
        <p:spPr>
          <a:xfrm>
            <a:off x="5394960" y="4450080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замене состава обязательна и попадает в историю и аудит.</a:t>
            </a:r>
            <a:endParaRPr lang="en-US" sz="670" dirty="0"/>
          </a:p>
        </p:txBody>
      </p:sp>
      <p:sp>
        <p:nvSpPr>
          <p:cNvPr id="28" name="Shape 25"/>
          <p:cNvSpPr/>
          <p:nvPr/>
        </p:nvSpPr>
        <p:spPr>
          <a:xfrm>
            <a:off x="502920" y="5678424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13232" y="5623560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назначение не меняет статус «Новая».</a:t>
            </a:r>
            <a:endParaRPr lang="en-US" sz="930" dirty="0"/>
          </a:p>
        </p:txBody>
      </p:sp>
      <p:sp>
        <p:nvSpPr>
          <p:cNvPr id="30" name="Shape 27"/>
          <p:cNvSpPr/>
          <p:nvPr/>
        </p:nvSpPr>
        <p:spPr>
          <a:xfrm>
            <a:off x="502920" y="5989320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13232" y="5934456"/>
            <a:ext cx="6345936" cy="378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Переназначение из «В работе» возвращает новую сторону к «Новой» и очищает несогласованный объём.</a:t>
            </a:r>
            <a:endParaRPr lang="en-US" sz="930" dirty="0"/>
          </a:p>
        </p:txBody>
      </p:sp>
      <p:sp>
        <p:nvSpPr>
          <p:cNvPr id="32" name="Shape 29"/>
          <p:cNvSpPr/>
          <p:nvPr/>
        </p:nvSpPr>
        <p:spPr>
          <a:xfrm>
            <a:off x="502920" y="6422197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13232" y="6367333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 время предъявленной ревизии состав не меняют: сначала решение по ней.</a:t>
            </a:r>
            <a:endParaRPr lang="en-US" sz="9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641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spc="25" kern="0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ОРГТЕХНИКА · ПОЛНОЕ РУКОВОДСТВО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733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исполнителя и действия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327648" y="3566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6556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 открывает переходы, поле — предметное действие, меню — остальные допустимые операции.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02920" y="10131552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13848"/>
            <a:ext cx="5916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Полное руководство по оргтехнике · актуальная версия приложения · редакция 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19088" y="102138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502920" y="1298448"/>
            <a:ext cx="4279392" cy="4160520"/>
          </a:xfrm>
          <a:prstGeom prst="roundRect">
            <a:avLst>
              <a:gd name="adj" fmla="val 879"/>
            </a:avLst>
          </a:prstGeom>
          <a:solidFill>
            <a:srgbClr val="F5F7FB"/>
          </a:solidFill>
          <a:ln w="8890">
            <a:solidFill>
              <a:srgbClr val="E7EA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371600"/>
            <a:ext cx="4059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АКТУАЛЬНЫЙ ЭКРАН · ДЕМОНСТРАЦИОННЫЕ ДАННЫЕ</a:t>
            </a:r>
            <a:endParaRPr lang="en-US" sz="590" dirty="0"/>
          </a:p>
        </p:txBody>
      </p:sp>
      <p:pic>
        <p:nvPicPr>
          <p:cNvPr id="12" name="Image 0" descr="/root/projects/technic/docs/image/office-equipment-latest/request-card-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2313322"/>
            <a:ext cx="4133088" cy="2322795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946904" y="1298448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0F7FF"/>
          </a:solidFill>
          <a:ln w="8890">
            <a:solidFill>
              <a:srgbClr val="BAE0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56632" y="1408176"/>
            <a:ext cx="256032" cy="256032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56632" y="144018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5394960" y="13807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5394960" y="1609344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Нажатие показывает допустимые переходы с названием результата и действия.</a:t>
            </a:r>
            <a:endParaRPr lang="en-US" sz="670" dirty="0"/>
          </a:p>
        </p:txBody>
      </p:sp>
      <p:sp>
        <p:nvSpPr>
          <p:cNvPr id="18" name="Shape 15"/>
          <p:cNvSpPr/>
          <p:nvPr/>
        </p:nvSpPr>
        <p:spPr>
          <a:xfrm>
            <a:off x="4946904" y="2718816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9F0FF"/>
          </a:solidFill>
          <a:ln w="8890">
            <a:solidFill>
              <a:srgbClr val="D3AD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56632" y="2828544"/>
            <a:ext cx="256032" cy="256032"/>
          </a:xfrm>
          <a:prstGeom prst="ellipse">
            <a:avLst/>
          </a:prstGeom>
          <a:solidFill>
            <a:srgbClr val="722ED1"/>
          </a:solidFill>
          <a:ln w="12700">
            <a:solidFill>
              <a:srgbClr val="722ED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56632" y="286054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5394960" y="28011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Предметные входы</a:t>
            </a:r>
            <a:endParaRPr lang="en-US" sz="780" dirty="0"/>
          </a:p>
        </p:txBody>
      </p:sp>
      <p:sp>
        <p:nvSpPr>
          <p:cNvPr id="22" name="Text 19"/>
          <p:cNvSpPr/>
          <p:nvPr/>
        </p:nvSpPr>
        <p:spPr>
          <a:xfrm>
            <a:off x="5394960" y="3029712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Исполнители, перемещение и решения объёма работ находятся рядом со своими данными.</a:t>
            </a:r>
            <a:endParaRPr lang="en-US" sz="670" dirty="0"/>
          </a:p>
        </p:txBody>
      </p:sp>
      <p:sp>
        <p:nvSpPr>
          <p:cNvPr id="23" name="Shape 20"/>
          <p:cNvSpPr/>
          <p:nvPr/>
        </p:nvSpPr>
        <p:spPr>
          <a:xfrm>
            <a:off x="4946904" y="4139184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6FFED"/>
          </a:solidFill>
          <a:ln w="8890">
            <a:solidFill>
              <a:srgbClr val="B7EB8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56632" y="4248912"/>
            <a:ext cx="256032" cy="256032"/>
          </a:xfrm>
          <a:prstGeom prst="ellipse">
            <a:avLst/>
          </a:prstGeom>
          <a:solidFill>
            <a:srgbClr val="389E0D"/>
          </a:solidFill>
          <a:ln w="12700">
            <a:solidFill>
              <a:srgbClr val="389E0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56632" y="428091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5394960" y="42214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Меню действий</a:t>
            </a:r>
            <a:endParaRPr lang="en-US" sz="780" dirty="0"/>
          </a:p>
        </p:txBody>
      </p:sp>
      <p:sp>
        <p:nvSpPr>
          <p:cNvPr id="27" name="Text 24"/>
          <p:cNvSpPr/>
          <p:nvPr/>
        </p:nvSpPr>
        <p:spPr>
          <a:xfrm>
            <a:off x="5394960" y="4450080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Пауза, срочность, отмена, обсуждение и прочие операции не дублируются.</a:t>
            </a:r>
            <a:endParaRPr lang="en-US" sz="670" dirty="0"/>
          </a:p>
        </p:txBody>
      </p:sp>
      <p:sp>
        <p:nvSpPr>
          <p:cNvPr id="28" name="Shape 25"/>
          <p:cNvSpPr/>
          <p:nvPr/>
        </p:nvSpPr>
        <p:spPr>
          <a:xfrm>
            <a:off x="502920" y="5623560"/>
            <a:ext cx="3195828" cy="786933"/>
          </a:xfrm>
          <a:prstGeom prst="roundRect">
            <a:avLst>
              <a:gd name="adj" fmla="val 5810"/>
            </a:avLst>
          </a:prstGeom>
          <a:solidFill>
            <a:srgbClr val="F0F7FF"/>
          </a:solidFill>
          <a:ln w="10160">
            <a:solidFill>
              <a:srgbClr val="BAE0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9224" y="5742432"/>
            <a:ext cx="2903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Принять в работу</a:t>
            </a:r>
            <a:endParaRPr lang="en-US" sz="970" dirty="0"/>
          </a:p>
        </p:txBody>
      </p:sp>
      <p:sp>
        <p:nvSpPr>
          <p:cNvPr id="30" name="Text 27"/>
          <p:cNvSpPr/>
          <p:nvPr/>
        </p:nvSpPr>
        <p:spPr>
          <a:xfrm>
            <a:off x="649224" y="5971032"/>
            <a:ext cx="2903220" cy="348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назначенный исполнитель; «Новая» → «В работе».</a:t>
            </a:r>
            <a:endParaRPr lang="en-US" sz="870" dirty="0"/>
          </a:p>
        </p:txBody>
      </p:sp>
      <p:sp>
        <p:nvSpPr>
          <p:cNvPr id="31" name="Shape 28"/>
          <p:cNvSpPr/>
          <p:nvPr/>
        </p:nvSpPr>
        <p:spPr>
          <a:xfrm>
            <a:off x="3863340" y="5623560"/>
            <a:ext cx="3195828" cy="786933"/>
          </a:xfrm>
          <a:prstGeom prst="roundRect">
            <a:avLst>
              <a:gd name="adj" fmla="val 5810"/>
            </a:avLst>
          </a:prstGeom>
          <a:solidFill>
            <a:srgbClr val="FFF7E6"/>
          </a:solidFill>
          <a:ln w="10160">
            <a:solidFill>
              <a:srgbClr val="FFD59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009644" y="5742432"/>
            <a:ext cx="2903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0" b="1" dirty="0">
                <a:solidFill>
                  <a:srgbClr val="D46B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Отложить</a:t>
            </a:r>
            <a:endParaRPr lang="en-US" sz="970" dirty="0"/>
          </a:p>
        </p:txBody>
      </p:sp>
      <p:sp>
        <p:nvSpPr>
          <p:cNvPr id="33" name="Text 30"/>
          <p:cNvSpPr/>
          <p:nvPr/>
        </p:nvSpPr>
        <p:spPr>
          <a:xfrm>
            <a:off x="4009644" y="5971032"/>
            <a:ext cx="2903220" cy="348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Причина обязательна; возобновление вернёт сохранённый статус.</a:t>
            </a:r>
            <a:endParaRPr lang="en-US" sz="870" dirty="0"/>
          </a:p>
        </p:txBody>
      </p:sp>
      <p:sp>
        <p:nvSpPr>
          <p:cNvPr id="34" name="Shape 31"/>
          <p:cNvSpPr/>
          <p:nvPr/>
        </p:nvSpPr>
        <p:spPr>
          <a:xfrm>
            <a:off x="502920" y="6538509"/>
            <a:ext cx="3195828" cy="938083"/>
          </a:xfrm>
          <a:prstGeom prst="roundRect">
            <a:avLst>
              <a:gd name="adj" fmla="val 4874"/>
            </a:avLst>
          </a:prstGeom>
          <a:solidFill>
            <a:srgbClr val="F6FFED"/>
          </a:solidFill>
          <a:ln w="10160">
            <a:solidFill>
              <a:srgbClr val="B7EB8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9224" y="6657381"/>
            <a:ext cx="2903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0" b="1" dirty="0">
                <a:solidFill>
                  <a:srgbClr val="389E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Закрыть работы</a:t>
            </a:r>
            <a:endParaRPr lang="en-US" sz="970" dirty="0"/>
          </a:p>
        </p:txBody>
      </p:sp>
      <p:sp>
        <p:nvSpPr>
          <p:cNvPr id="36" name="Text 33"/>
          <p:cNvSpPr/>
          <p:nvPr/>
        </p:nvSpPr>
        <p:spPr>
          <a:xfrm>
            <a:off x="649224" y="6885981"/>
            <a:ext cx="2903220" cy="499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 — факт, документы и гарантия; свой сотрудник — дата и «Что сделали». «В работе» → «Решена».</a:t>
            </a:r>
            <a:endParaRPr lang="en-US" sz="870" dirty="0"/>
          </a:p>
        </p:txBody>
      </p:sp>
      <p:sp>
        <p:nvSpPr>
          <p:cNvPr id="37" name="Shape 34"/>
          <p:cNvSpPr/>
          <p:nvPr/>
        </p:nvSpPr>
        <p:spPr>
          <a:xfrm>
            <a:off x="3863340" y="6538509"/>
            <a:ext cx="3195828" cy="938083"/>
          </a:xfrm>
          <a:prstGeom prst="roundRect">
            <a:avLst>
              <a:gd name="adj" fmla="val 4874"/>
            </a:avLst>
          </a:prstGeom>
          <a:solidFill>
            <a:srgbClr val="FFF1F0"/>
          </a:solidFill>
          <a:ln w="10160">
            <a:solidFill>
              <a:srgbClr val="FFCCC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009644" y="6657381"/>
            <a:ext cx="2903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0" b="1" dirty="0">
                <a:solidFill>
                  <a:srgbClr val="CF1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Отменить</a:t>
            </a:r>
            <a:endParaRPr lang="en-US" sz="970" dirty="0"/>
          </a:p>
        </p:txBody>
      </p:sp>
      <p:sp>
        <p:nvSpPr>
          <p:cNvPr id="39" name="Text 36"/>
          <p:cNvSpPr/>
          <p:nvPr/>
        </p:nvSpPr>
        <p:spPr>
          <a:xfrm>
            <a:off x="4009644" y="6885981"/>
            <a:ext cx="2903220" cy="499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Операторский коридор с причиной; снимает исполнителей.</a:t>
            </a:r>
            <a:endParaRPr lang="en-US" sz="87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641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spc="25" kern="0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ОРГТЕХНИКА · ПОЛНОЕ РУКОВОДСТВО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733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Объём работ и ревизии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327648" y="3566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6556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Исполнитель предъявляет редакцию, согласующий принимает именно эту версию.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02920" y="10131552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13848"/>
            <a:ext cx="5916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Полное руководство по оргтехнике · актуальная версия приложения · редакция 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19088" y="102138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502920" y="1298448"/>
            <a:ext cx="4279392" cy="4160520"/>
          </a:xfrm>
          <a:prstGeom prst="roundRect">
            <a:avLst>
              <a:gd name="adj" fmla="val 879"/>
            </a:avLst>
          </a:prstGeom>
          <a:solidFill>
            <a:srgbClr val="F5F7FB"/>
          </a:solidFill>
          <a:ln w="8890">
            <a:solidFill>
              <a:srgbClr val="E7EA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371600"/>
            <a:ext cx="4059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АКТУАЛЬНЫЙ ЭКРАН · ДЕМОНСТРАЦИОННЫЕ ДАННЫЕ</a:t>
            </a:r>
            <a:endParaRPr lang="en-US" sz="590" dirty="0"/>
          </a:p>
        </p:txBody>
      </p:sp>
      <p:pic>
        <p:nvPicPr>
          <p:cNvPr id="12" name="Image 0" descr="/root/projects/technic/docs/image/office-equipment-latest/estimate-approv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2387718"/>
            <a:ext cx="4133088" cy="217400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946904" y="1298448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0F7FF"/>
          </a:solidFill>
          <a:ln w="8890">
            <a:solidFill>
              <a:srgbClr val="BAE0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56632" y="1408176"/>
            <a:ext cx="256032" cy="256032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56632" y="144018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5394960" y="13807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Состояние редакции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5394960" y="1609344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Черновик, предъявлена, согласована, не согласована или возвращена в правку.</a:t>
            </a:r>
            <a:endParaRPr lang="en-US" sz="670" dirty="0"/>
          </a:p>
        </p:txBody>
      </p:sp>
      <p:sp>
        <p:nvSpPr>
          <p:cNvPr id="18" name="Shape 15"/>
          <p:cNvSpPr/>
          <p:nvPr/>
        </p:nvSpPr>
        <p:spPr>
          <a:xfrm>
            <a:off x="4946904" y="2718816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9F0FF"/>
          </a:solidFill>
          <a:ln w="8890">
            <a:solidFill>
              <a:srgbClr val="D3AD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56632" y="2828544"/>
            <a:ext cx="256032" cy="256032"/>
          </a:xfrm>
          <a:prstGeom prst="ellipse">
            <a:avLst/>
          </a:prstGeom>
          <a:solidFill>
            <a:srgbClr val="722ED1"/>
          </a:solidFill>
          <a:ln w="12700">
            <a:solidFill>
              <a:srgbClr val="722ED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56632" y="286054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5394960" y="28011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Строки и сумма</a:t>
            </a:r>
            <a:endParaRPr lang="en-US" sz="780" dirty="0"/>
          </a:p>
        </p:txBody>
      </p:sp>
      <p:sp>
        <p:nvSpPr>
          <p:cNvPr id="22" name="Text 19"/>
          <p:cNvSpPr/>
          <p:nvPr/>
        </p:nvSpPr>
        <p:spPr>
          <a:xfrm>
            <a:off x="5394960" y="3029712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и итог видны только внутренней аудитории и назначенному сервису.</a:t>
            </a:r>
            <a:endParaRPr lang="en-US" sz="670" dirty="0"/>
          </a:p>
        </p:txBody>
      </p:sp>
      <p:sp>
        <p:nvSpPr>
          <p:cNvPr id="23" name="Shape 20"/>
          <p:cNvSpPr/>
          <p:nvPr/>
        </p:nvSpPr>
        <p:spPr>
          <a:xfrm>
            <a:off x="4946904" y="4139184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6FFED"/>
          </a:solidFill>
          <a:ln w="8890">
            <a:solidFill>
              <a:srgbClr val="B7EB8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56632" y="4248912"/>
            <a:ext cx="256032" cy="256032"/>
          </a:xfrm>
          <a:prstGeom prst="ellipse">
            <a:avLst/>
          </a:prstGeom>
          <a:solidFill>
            <a:srgbClr val="389E0D"/>
          </a:solidFill>
          <a:ln w="12700">
            <a:solidFill>
              <a:srgbClr val="389E0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56632" y="428091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5394960" y="42214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</a:t>
            </a:r>
            <a:endParaRPr lang="en-US" sz="780" dirty="0"/>
          </a:p>
        </p:txBody>
      </p:sp>
      <p:sp>
        <p:nvSpPr>
          <p:cNvPr id="27" name="Text 24"/>
          <p:cNvSpPr/>
          <p:nvPr/>
        </p:nvSpPr>
        <p:spPr>
          <a:xfrm>
            <a:off x="5394960" y="4450080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Согласовать, не согласовать с причиной или вернуть в правку.</a:t>
            </a:r>
            <a:endParaRPr lang="en-US" sz="670" dirty="0"/>
          </a:p>
        </p:txBody>
      </p:sp>
      <p:sp>
        <p:nvSpPr>
          <p:cNvPr id="28" name="Shape 25"/>
          <p:cNvSpPr/>
          <p:nvPr/>
        </p:nvSpPr>
        <p:spPr>
          <a:xfrm>
            <a:off x="502920" y="5678424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13232" y="5623560"/>
            <a:ext cx="6345936" cy="378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Объём работ ведут только по заявкам сервисной компании; внутренний ремонт этого этапа не проходит.</a:t>
            </a:r>
            <a:endParaRPr lang="en-US" sz="930" dirty="0"/>
          </a:p>
        </p:txBody>
      </p:sp>
      <p:sp>
        <p:nvSpPr>
          <p:cNvPr id="30" name="Shape 27"/>
          <p:cNvSpPr/>
          <p:nvPr/>
        </p:nvSpPr>
        <p:spPr>
          <a:xfrm>
            <a:off x="502920" y="6111301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13232" y="6056437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 не подписывает собственную редакцию.</a:t>
            </a:r>
            <a:endParaRPr lang="en-US" sz="930" dirty="0"/>
          </a:p>
        </p:txBody>
      </p:sp>
      <p:sp>
        <p:nvSpPr>
          <p:cNvPr id="32" name="Shape 29"/>
          <p:cNvSpPr/>
          <p:nvPr/>
        </p:nvSpPr>
        <p:spPr>
          <a:xfrm>
            <a:off x="502920" y="6422197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13232" y="6367333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Согласование и предъявление не требуют отдельных статусов заявки.</a:t>
            </a:r>
            <a:endParaRPr lang="en-US" sz="930" dirty="0"/>
          </a:p>
        </p:txBody>
      </p:sp>
      <p:sp>
        <p:nvSpPr>
          <p:cNvPr id="34" name="Shape 31"/>
          <p:cNvSpPr/>
          <p:nvPr/>
        </p:nvSpPr>
        <p:spPr>
          <a:xfrm>
            <a:off x="502920" y="6733093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13232" y="6678229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Несогласование закрывает заявку и фиксирует решение по замене или дальнейшим действиям.</a:t>
            </a:r>
            <a:endParaRPr lang="en-US" sz="9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641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spc="25" kern="0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ОРГТЕХНИКА · ПОЛНОЕ РУКОВОДСТВО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733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Документы, результат и приёмка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327648" y="3566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6556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 документа задаёт видимость и доменные ограничения.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02920" y="10131552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13848"/>
            <a:ext cx="5916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Полное руководство по оргтехнике · актуальная версия приложения · редакция 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19088" y="102138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502920" y="1298448"/>
            <a:ext cx="4279392" cy="4160520"/>
          </a:xfrm>
          <a:prstGeom prst="roundRect">
            <a:avLst>
              <a:gd name="adj" fmla="val 879"/>
            </a:avLst>
          </a:prstGeom>
          <a:solidFill>
            <a:srgbClr val="F5F7FB"/>
          </a:solidFill>
          <a:ln w="8890">
            <a:solidFill>
              <a:srgbClr val="E7EA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371600"/>
            <a:ext cx="4059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АКТУАЛЬНЫЙ ЭКРАН · ДЕМОНСТРАЦИОННЫЕ ДАННЫЕ</a:t>
            </a:r>
            <a:endParaRPr lang="en-US" sz="590" dirty="0"/>
          </a:p>
        </p:txBody>
      </p:sp>
      <p:pic>
        <p:nvPicPr>
          <p:cNvPr id="12" name="Image 0" descr="/root/projects/technic/docs/image/office-equipment-latest/documents-serv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2962217"/>
            <a:ext cx="4133088" cy="1025006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946904" y="1298448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0F7FF"/>
          </a:solidFill>
          <a:ln w="8890">
            <a:solidFill>
              <a:srgbClr val="BAE0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56632" y="1408176"/>
            <a:ext cx="256032" cy="256032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56632" y="144018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5394960" y="13807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Загрузите с видом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5394960" y="1609344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Вложение, объём работ, акт, счёт или гарантийный талон.</a:t>
            </a:r>
            <a:endParaRPr lang="en-US" sz="670" dirty="0"/>
          </a:p>
        </p:txBody>
      </p:sp>
      <p:sp>
        <p:nvSpPr>
          <p:cNvPr id="18" name="Shape 15"/>
          <p:cNvSpPr/>
          <p:nvPr/>
        </p:nvSpPr>
        <p:spPr>
          <a:xfrm>
            <a:off x="4946904" y="2718816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9F0FF"/>
          </a:solidFill>
          <a:ln w="8890">
            <a:solidFill>
              <a:srgbClr val="D3AD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56632" y="2828544"/>
            <a:ext cx="256032" cy="256032"/>
          </a:xfrm>
          <a:prstGeom prst="ellipse">
            <a:avLst/>
          </a:prstGeom>
          <a:solidFill>
            <a:srgbClr val="722ED1"/>
          </a:solidFill>
          <a:ln w="12700">
            <a:solidFill>
              <a:srgbClr val="722ED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56632" y="286054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5394960" y="28011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Закройте планку</a:t>
            </a:r>
            <a:endParaRPr lang="en-US" sz="780" dirty="0"/>
          </a:p>
        </p:txBody>
      </p:sp>
      <p:sp>
        <p:nvSpPr>
          <p:cNvPr id="22" name="Text 19"/>
          <p:cNvSpPr/>
          <p:nvPr/>
        </p:nvSpPr>
        <p:spPr>
          <a:xfrm>
            <a:off x="5394960" y="3029712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Внешний ремонт требует закрывающего документа до статуса «Решена».</a:t>
            </a:r>
            <a:endParaRPr lang="en-US" sz="670" dirty="0"/>
          </a:p>
        </p:txBody>
      </p:sp>
      <p:sp>
        <p:nvSpPr>
          <p:cNvPr id="23" name="Shape 20"/>
          <p:cNvSpPr/>
          <p:nvPr/>
        </p:nvSpPr>
        <p:spPr>
          <a:xfrm>
            <a:off x="4946904" y="4139184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6FFED"/>
          </a:solidFill>
          <a:ln w="8890">
            <a:solidFill>
              <a:srgbClr val="B7EB8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56632" y="4248912"/>
            <a:ext cx="256032" cy="256032"/>
          </a:xfrm>
          <a:prstGeom prst="ellipse">
            <a:avLst/>
          </a:prstGeom>
          <a:solidFill>
            <a:srgbClr val="389E0D"/>
          </a:solidFill>
          <a:ln w="12700">
            <a:solidFill>
              <a:srgbClr val="389E0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56632" y="428091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5394960" y="42214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Предъявите результат</a:t>
            </a:r>
            <a:endParaRPr lang="en-US" sz="780" dirty="0"/>
          </a:p>
        </p:txBody>
      </p:sp>
      <p:sp>
        <p:nvSpPr>
          <p:cNvPr id="27" name="Text 24"/>
          <p:cNvSpPr/>
          <p:nvPr/>
        </p:nvSpPr>
        <p:spPr>
          <a:xfrm>
            <a:off x="5394960" y="4450080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Внешний ремонт — факт, рекомендации и гарантия; внутренний — дата и «Что сделали». Затем приёмка или доработка.</a:t>
            </a:r>
            <a:endParaRPr lang="en-US" sz="670" dirty="0"/>
          </a:p>
        </p:txBody>
      </p:sp>
      <p:sp>
        <p:nvSpPr>
          <p:cNvPr id="28" name="Shape 25"/>
          <p:cNvSpPr/>
          <p:nvPr/>
        </p:nvSpPr>
        <p:spPr>
          <a:xfrm>
            <a:off x="502920" y="5678424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13232" y="5623560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Гарантийный талон виден заявителю; акт, счёт и объём работ скрыты.</a:t>
            </a:r>
            <a:endParaRPr lang="en-US" sz="930" dirty="0"/>
          </a:p>
        </p:txBody>
      </p:sp>
      <p:sp>
        <p:nvSpPr>
          <p:cNvPr id="30" name="Shape 27"/>
          <p:cNvSpPr/>
          <p:nvPr/>
        </p:nvSpPr>
        <p:spPr>
          <a:xfrm>
            <a:off x="502920" y="5989320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13232" y="5934456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Автоприёмка — через 24 часа в «Решена», если нет блокировки и возврата.</a:t>
            </a:r>
            <a:endParaRPr lang="en-US" sz="930" dirty="0"/>
          </a:p>
        </p:txBody>
      </p:sp>
      <p:sp>
        <p:nvSpPr>
          <p:cNvPr id="32" name="Shape 29"/>
          <p:cNvSpPr/>
          <p:nvPr/>
        </p:nvSpPr>
        <p:spPr>
          <a:xfrm>
            <a:off x="502920" y="6300216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13232" y="6245352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Непроверенный кандидат аппарата блокирует окончательную приёмку.</a:t>
            </a:r>
            <a:endParaRPr lang="en-US" sz="9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641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spc="25" kern="0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ОРГТЕХНИКА · ПОЛНОЕ РУКОВОДСТВО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733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Обсуждение, письма и аудит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327648" y="3566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6556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Лента заявки, почтовые события и аудит отвечают на три разных вопроса.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02920" y="10131552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13848"/>
            <a:ext cx="5916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Полное руководство по оргтехнике · актуальная версия приложения · редакция 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19088" y="102138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502920" y="1298448"/>
            <a:ext cx="4279392" cy="4160520"/>
          </a:xfrm>
          <a:prstGeom prst="roundRect">
            <a:avLst>
              <a:gd name="adj" fmla="val 879"/>
            </a:avLst>
          </a:prstGeom>
          <a:solidFill>
            <a:srgbClr val="F5F7FB"/>
          </a:solidFill>
          <a:ln w="8890">
            <a:solidFill>
              <a:srgbClr val="E7EA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371600"/>
            <a:ext cx="4059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АКТУАЛЬНЫЙ ЭКРАН · ДЕМОНСТРАЦИОННЫЕ ДАННЫЕ</a:t>
            </a:r>
            <a:endParaRPr lang="en-US" sz="590" dirty="0"/>
          </a:p>
        </p:txBody>
      </p:sp>
      <p:pic>
        <p:nvPicPr>
          <p:cNvPr id="12" name="Image 0" descr="/root/projects/technic/docs/image/office-equipment-latest/request-card-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2313322"/>
            <a:ext cx="4133088" cy="2322795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946904" y="1298448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0F7FF"/>
          </a:solidFill>
          <a:ln w="8890">
            <a:solidFill>
              <a:srgbClr val="BAE0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56632" y="1408176"/>
            <a:ext cx="256032" cy="256032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56632" y="144018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5394960" y="13807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Обсуждение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5394960" y="1609344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Реплики идут лентой; адресат — пометка, удаление и правка не предусмотрены.</a:t>
            </a:r>
            <a:endParaRPr lang="en-US" sz="670" dirty="0"/>
          </a:p>
        </p:txBody>
      </p:sp>
      <p:sp>
        <p:nvSpPr>
          <p:cNvPr id="18" name="Shape 15"/>
          <p:cNvSpPr/>
          <p:nvPr/>
        </p:nvSpPr>
        <p:spPr>
          <a:xfrm>
            <a:off x="4946904" y="2718816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9F0FF"/>
          </a:solidFill>
          <a:ln w="8890">
            <a:solidFill>
              <a:srgbClr val="D3AD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56632" y="2828544"/>
            <a:ext cx="256032" cy="256032"/>
          </a:xfrm>
          <a:prstGeom prst="ellipse">
            <a:avLst/>
          </a:prstGeom>
          <a:solidFill>
            <a:srgbClr val="722ED1"/>
          </a:solidFill>
          <a:ln w="12700">
            <a:solidFill>
              <a:srgbClr val="722ED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56632" y="286054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5394960" y="28011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Аудитория письма</a:t>
            </a:r>
            <a:endParaRPr lang="en-US" sz="780" dirty="0"/>
          </a:p>
        </p:txBody>
      </p:sp>
      <p:sp>
        <p:nvSpPr>
          <p:cNvPr id="22" name="Text 19"/>
          <p:cNvSpPr/>
          <p:nvPr/>
        </p:nvSpPr>
        <p:spPr>
          <a:xfrm>
            <a:off x="5394960" y="3029712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Тело зависит от получателя; сервису не уходят чужие реплики и внутренние суммы.</a:t>
            </a:r>
            <a:endParaRPr lang="en-US" sz="670" dirty="0"/>
          </a:p>
        </p:txBody>
      </p:sp>
      <p:sp>
        <p:nvSpPr>
          <p:cNvPr id="23" name="Shape 20"/>
          <p:cNvSpPr/>
          <p:nvPr/>
        </p:nvSpPr>
        <p:spPr>
          <a:xfrm>
            <a:off x="4946904" y="4139184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6FFED"/>
          </a:solidFill>
          <a:ln w="8890">
            <a:solidFill>
              <a:srgbClr val="B7EB8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56632" y="4248912"/>
            <a:ext cx="256032" cy="256032"/>
          </a:xfrm>
          <a:prstGeom prst="ellipse">
            <a:avLst/>
          </a:prstGeom>
          <a:solidFill>
            <a:srgbClr val="389E0D"/>
          </a:solidFill>
          <a:ln w="12700">
            <a:solidFill>
              <a:srgbClr val="389E0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56632" y="428091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5394960" y="42214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и аудит</a:t>
            </a:r>
            <a:endParaRPr lang="en-US" sz="780" dirty="0"/>
          </a:p>
        </p:txBody>
      </p:sp>
      <p:sp>
        <p:nvSpPr>
          <p:cNvPr id="27" name="Text 24"/>
          <p:cNvSpPr/>
          <p:nvPr/>
        </p:nvSpPr>
        <p:spPr>
          <a:xfrm>
            <a:off x="5394960" y="4450080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объясняет бизнес-ход, аудит — кто и когда вызвал команду.</a:t>
            </a:r>
            <a:endParaRPr lang="en-US" sz="670" dirty="0"/>
          </a:p>
        </p:txBody>
      </p:sp>
      <p:sp>
        <p:nvSpPr>
          <p:cNvPr id="28" name="Shape 25"/>
          <p:cNvSpPr/>
          <p:nvPr/>
        </p:nvSpPr>
        <p:spPr>
          <a:xfrm>
            <a:off x="502920" y="5678424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13232" y="5623560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Семь почтовых событий включаются раздельно; частые события могут собираться в сводку.</a:t>
            </a:r>
            <a:endParaRPr lang="en-US" sz="930" dirty="0"/>
          </a:p>
        </p:txBody>
      </p:sp>
      <p:sp>
        <p:nvSpPr>
          <p:cNvPr id="30" name="Shape 27"/>
          <p:cNvSpPr/>
          <p:nvPr/>
        </p:nvSpPr>
        <p:spPr>
          <a:xfrm>
            <a:off x="502920" y="5989320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13232" y="5934456"/>
            <a:ext cx="6345936" cy="378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Актор события исключается как источник, а общий ящик сервиса получает только разрешённую аудиторию.</a:t>
            </a:r>
            <a:endParaRPr lang="en-US" sz="930" dirty="0"/>
          </a:p>
        </p:txBody>
      </p:sp>
      <p:sp>
        <p:nvSpPr>
          <p:cNvPr id="32" name="Shape 29"/>
          <p:cNvSpPr/>
          <p:nvPr/>
        </p:nvSpPr>
        <p:spPr>
          <a:xfrm>
            <a:off x="502920" y="6422197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13232" y="6367333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письмо не пришло, проверьте карточку и статус события у администратора.</a:t>
            </a:r>
            <a:endParaRPr lang="en-US" sz="93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641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spc="25" kern="0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ОРГТЕХНИКА · ПОЛНОЕ РУКОВОДСТВО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733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Расходники: номенклатура и остаток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327648" y="3566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6556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аппарата, совместимость, складской остаток, потребность и заказанное — разные данные.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02920" y="10131552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13848"/>
            <a:ext cx="5916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Полное руководство по оргтехнике · актуальная версия приложения · редакция 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19088" y="102138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502920" y="1298448"/>
            <a:ext cx="4279392" cy="4160520"/>
          </a:xfrm>
          <a:prstGeom prst="roundRect">
            <a:avLst>
              <a:gd name="adj" fmla="val 879"/>
            </a:avLst>
          </a:prstGeom>
          <a:solidFill>
            <a:srgbClr val="F5F7FB"/>
          </a:solidFill>
          <a:ln w="8890">
            <a:solidFill>
              <a:srgbClr val="E7EA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371600"/>
            <a:ext cx="4059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АКТУАЛЬНЫЙ ЭКРАН · ДЕМОНСТРАЦИОННЫЕ ДАННЫЕ</a:t>
            </a:r>
            <a:endParaRPr lang="en-US" sz="590" dirty="0"/>
          </a:p>
        </p:txBody>
      </p:sp>
      <p:pic>
        <p:nvPicPr>
          <p:cNvPr id="12" name="Image 0" descr="/root/projects/technic/docs/image/office-equipment-latest/consumab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835148"/>
            <a:ext cx="4133088" cy="327914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946904" y="1298448"/>
            <a:ext cx="2112264" cy="2029968"/>
          </a:xfrm>
          <a:prstGeom prst="roundRect">
            <a:avLst>
              <a:gd name="adj" fmla="val 1802"/>
            </a:avLst>
          </a:prstGeom>
          <a:solidFill>
            <a:srgbClr val="F0F7FF"/>
          </a:solidFill>
          <a:ln w="8890">
            <a:solidFill>
              <a:srgbClr val="BAE0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56632" y="1408176"/>
            <a:ext cx="256032" cy="256032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56632" y="144018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5394960" y="13807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Смотрите остаток и дефицит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5394960" y="1609344"/>
            <a:ext cx="155448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Потребность учитывает заявки и уже заказанное, но не меняет склад.</a:t>
            </a:r>
            <a:endParaRPr lang="en-US" sz="670" dirty="0"/>
          </a:p>
        </p:txBody>
      </p:sp>
      <p:sp>
        <p:nvSpPr>
          <p:cNvPr id="18" name="Shape 15"/>
          <p:cNvSpPr/>
          <p:nvPr/>
        </p:nvSpPr>
        <p:spPr>
          <a:xfrm>
            <a:off x="4946904" y="3429000"/>
            <a:ext cx="2112264" cy="2029968"/>
          </a:xfrm>
          <a:prstGeom prst="roundRect">
            <a:avLst>
              <a:gd name="adj" fmla="val 1802"/>
            </a:avLst>
          </a:prstGeom>
          <a:solidFill>
            <a:srgbClr val="F9F0FF"/>
          </a:solidFill>
          <a:ln w="8890">
            <a:solidFill>
              <a:srgbClr val="D3AD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56632" y="3538728"/>
            <a:ext cx="256032" cy="256032"/>
          </a:xfrm>
          <a:prstGeom prst="ellipse">
            <a:avLst/>
          </a:prstGeom>
          <a:solidFill>
            <a:srgbClr val="722ED1"/>
          </a:solidFill>
          <a:ln w="12700">
            <a:solidFill>
              <a:srgbClr val="722ED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56632" y="357073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5394960" y="351129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Открывайте журнал</a:t>
            </a:r>
            <a:endParaRPr lang="en-US" sz="780" dirty="0"/>
          </a:p>
        </p:txBody>
      </p:sp>
      <p:sp>
        <p:nvSpPr>
          <p:cNvPr id="22" name="Text 19"/>
          <p:cNvSpPr/>
          <p:nvPr/>
        </p:nvSpPr>
        <p:spPr>
          <a:xfrm>
            <a:off x="5394960" y="3739896"/>
            <a:ext cx="155448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Каждая ручная правка и выдача по заявке оставляет отдельное движение.</a:t>
            </a:r>
            <a:endParaRPr lang="en-US" sz="670" dirty="0"/>
          </a:p>
        </p:txBody>
      </p:sp>
      <p:sp>
        <p:nvSpPr>
          <p:cNvPr id="23" name="Shape 20"/>
          <p:cNvSpPr/>
          <p:nvPr/>
        </p:nvSpPr>
        <p:spPr>
          <a:xfrm>
            <a:off x="502920" y="5678424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3232" y="5623560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Заявитель описывает потребность словами; состав расходников заявки заполняет исполнитель.</a:t>
            </a:r>
            <a:endParaRPr lang="en-US" sz="930" dirty="0"/>
          </a:p>
        </p:txBody>
      </p:sp>
      <p:sp>
        <p:nvSpPr>
          <p:cNvPr id="25" name="Shape 22"/>
          <p:cNvSpPr/>
          <p:nvPr/>
        </p:nvSpPr>
        <p:spPr>
          <a:xfrm>
            <a:off x="502920" y="5989320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13232" y="5934456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Цвет — свободная характеристика позиции; совместимость связывает расходник с моделью аппарата.</a:t>
            </a:r>
            <a:endParaRPr lang="en-US" sz="930" dirty="0"/>
          </a:p>
        </p:txBody>
      </p:sp>
      <p:sp>
        <p:nvSpPr>
          <p:cNvPr id="27" name="Shape 24"/>
          <p:cNvSpPr/>
          <p:nvPr/>
        </p:nvSpPr>
        <p:spPr>
          <a:xfrm>
            <a:off x="502920" y="6300216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13232" y="6245352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Остаток меняется событием с причиной, а не редактированием голого числа.</a:t>
            </a:r>
            <a:endParaRPr lang="en-US" sz="930" dirty="0"/>
          </a:p>
        </p:txBody>
      </p:sp>
      <p:sp>
        <p:nvSpPr>
          <p:cNvPr id="29" name="Shape 26"/>
          <p:cNvSpPr/>
          <p:nvPr/>
        </p:nvSpPr>
        <p:spPr>
          <a:xfrm>
            <a:off x="502920" y="6611112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13232" y="6556248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 выдачи из заявки и ручная корректировка различаются в журнале.</a:t>
            </a:r>
            <a:endParaRPr lang="en-US" sz="93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641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spc="25" kern="0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ОРГТЕХНИКА · ПОЛНОЕ РУКОВОДСТВО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733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Плановая закупка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327648" y="3566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6556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Закупка проходит четыре состояния; проведение фиксирует заказ, а не приход на склад.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02920" y="10131552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13848"/>
            <a:ext cx="5916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Полное руководство по оргтехнике · актуальная версия приложения · редакция 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19088" y="102138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502920" y="1298448"/>
            <a:ext cx="4279392" cy="4160520"/>
          </a:xfrm>
          <a:prstGeom prst="roundRect">
            <a:avLst>
              <a:gd name="adj" fmla="val 879"/>
            </a:avLst>
          </a:prstGeom>
          <a:solidFill>
            <a:srgbClr val="F5F7FB"/>
          </a:solidFill>
          <a:ln w="8890">
            <a:solidFill>
              <a:srgbClr val="E7EA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371600"/>
            <a:ext cx="4059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АКТУАЛЬНЫЙ ЭКРАН · ДЕМОНСТРАЦИОННЫЕ ДАННЫЕ</a:t>
            </a:r>
            <a:endParaRPr lang="en-US" sz="590" dirty="0"/>
          </a:p>
        </p:txBody>
      </p:sp>
      <p:pic>
        <p:nvPicPr>
          <p:cNvPr id="12" name="Image 0" descr="/root/projects/technic/docs/image/office-equipment-latest/purch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2542479"/>
            <a:ext cx="4133088" cy="1864482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946904" y="1298448"/>
            <a:ext cx="2112264" cy="2029968"/>
          </a:xfrm>
          <a:prstGeom prst="roundRect">
            <a:avLst>
              <a:gd name="adj" fmla="val 1802"/>
            </a:avLst>
          </a:prstGeom>
          <a:solidFill>
            <a:srgbClr val="F0F7FF"/>
          </a:solidFill>
          <a:ln w="8890">
            <a:solidFill>
              <a:srgbClr val="BAE0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56632" y="1408176"/>
            <a:ext cx="256032" cy="256032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56632" y="144018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5394960" y="13807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Соберите строки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5394960" y="1609344"/>
            <a:ext cx="155448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Портал показывает остаток, потребность и уже заказанное для расчёта дефицита.</a:t>
            </a:r>
            <a:endParaRPr lang="en-US" sz="670" dirty="0"/>
          </a:p>
        </p:txBody>
      </p:sp>
      <p:sp>
        <p:nvSpPr>
          <p:cNvPr id="18" name="Shape 15"/>
          <p:cNvSpPr/>
          <p:nvPr/>
        </p:nvSpPr>
        <p:spPr>
          <a:xfrm>
            <a:off x="4946904" y="3429000"/>
            <a:ext cx="2112264" cy="2029968"/>
          </a:xfrm>
          <a:prstGeom prst="roundRect">
            <a:avLst>
              <a:gd name="adj" fmla="val 1802"/>
            </a:avLst>
          </a:prstGeom>
          <a:solidFill>
            <a:srgbClr val="FFF7E6"/>
          </a:solidFill>
          <a:ln w="8890">
            <a:solidFill>
              <a:srgbClr val="FFD59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56632" y="3538728"/>
            <a:ext cx="256032" cy="256032"/>
          </a:xfrm>
          <a:prstGeom prst="ellipse">
            <a:avLst/>
          </a:prstGeom>
          <a:solidFill>
            <a:srgbClr val="D46B08"/>
          </a:solidFill>
          <a:ln w="12700">
            <a:solidFill>
              <a:srgbClr val="D46B0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56632" y="357073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5394960" y="351129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Проведите документ</a:t>
            </a:r>
            <a:endParaRPr lang="en-US" sz="780" dirty="0"/>
          </a:p>
        </p:txBody>
      </p:sp>
      <p:sp>
        <p:nvSpPr>
          <p:cNvPr id="22" name="Text 19"/>
          <p:cNvSpPr/>
          <p:nvPr/>
        </p:nvSpPr>
        <p:spPr>
          <a:xfrm>
            <a:off x="5394960" y="3739896"/>
            <a:ext cx="155448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Черновик редактируется; проведённый документ защищён версией и меняет показатель «заказано».</a:t>
            </a:r>
            <a:endParaRPr lang="en-US" sz="670" dirty="0"/>
          </a:p>
        </p:txBody>
      </p:sp>
      <p:sp>
        <p:nvSpPr>
          <p:cNvPr id="23" name="Shape 20"/>
          <p:cNvSpPr/>
          <p:nvPr/>
        </p:nvSpPr>
        <p:spPr>
          <a:xfrm>
            <a:off x="502920" y="5623560"/>
            <a:ext cx="1570482" cy="658368"/>
          </a:xfrm>
          <a:prstGeom prst="roundRect">
            <a:avLst>
              <a:gd name="adj" fmla="val 8333"/>
            </a:avLst>
          </a:prstGeom>
          <a:solidFill>
            <a:srgbClr val="FAFAFA"/>
          </a:solidFill>
          <a:ln w="10160">
            <a:solidFill>
              <a:srgbClr val="E7EA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6072" y="5742432"/>
            <a:ext cx="14241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Черновик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576072" y="5961888"/>
            <a:ext cx="14241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3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можно править</a:t>
            </a:r>
            <a:endParaRPr lang="en-US" sz="730" dirty="0"/>
          </a:p>
        </p:txBody>
      </p:sp>
      <p:sp>
        <p:nvSpPr>
          <p:cNvPr id="26" name="Shape 23"/>
          <p:cNvSpPr/>
          <p:nvPr/>
        </p:nvSpPr>
        <p:spPr>
          <a:xfrm>
            <a:off x="2164842" y="5623560"/>
            <a:ext cx="1570482" cy="658368"/>
          </a:xfrm>
          <a:prstGeom prst="roundRect">
            <a:avLst>
              <a:gd name="adj" fmla="val 8333"/>
            </a:avLst>
          </a:prstGeom>
          <a:solidFill>
            <a:srgbClr val="F0F7FF"/>
          </a:solidFill>
          <a:ln w="10160">
            <a:solidFill>
              <a:srgbClr val="BAE0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237994" y="5742432"/>
            <a:ext cx="14241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Проведена</a:t>
            </a:r>
            <a:endParaRPr lang="en-US" sz="860" dirty="0"/>
          </a:p>
        </p:txBody>
      </p:sp>
      <p:sp>
        <p:nvSpPr>
          <p:cNvPr id="28" name="Text 25"/>
          <p:cNvSpPr/>
          <p:nvPr/>
        </p:nvSpPr>
        <p:spPr>
          <a:xfrm>
            <a:off x="2237994" y="5961888"/>
            <a:ext cx="14241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3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заказ учтён</a:t>
            </a:r>
            <a:endParaRPr lang="en-US" sz="730" dirty="0"/>
          </a:p>
        </p:txBody>
      </p:sp>
      <p:sp>
        <p:nvSpPr>
          <p:cNvPr id="29" name="Shape 26"/>
          <p:cNvSpPr/>
          <p:nvPr/>
        </p:nvSpPr>
        <p:spPr>
          <a:xfrm>
            <a:off x="3826764" y="5623560"/>
            <a:ext cx="1570482" cy="658368"/>
          </a:xfrm>
          <a:prstGeom prst="roundRect">
            <a:avLst>
              <a:gd name="adj" fmla="val 8333"/>
            </a:avLst>
          </a:prstGeom>
          <a:solidFill>
            <a:srgbClr val="F9F0FF"/>
          </a:solidFill>
          <a:ln w="10160">
            <a:solidFill>
              <a:srgbClr val="D3ADF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899916" y="5742432"/>
            <a:ext cx="14241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722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Получена</a:t>
            </a:r>
            <a:endParaRPr lang="en-US" sz="860" dirty="0"/>
          </a:p>
        </p:txBody>
      </p:sp>
      <p:sp>
        <p:nvSpPr>
          <p:cNvPr id="31" name="Text 28"/>
          <p:cNvSpPr/>
          <p:nvPr/>
        </p:nvSpPr>
        <p:spPr>
          <a:xfrm>
            <a:off x="3899916" y="5961888"/>
            <a:ext cx="14241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3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приход отражён отдельно</a:t>
            </a:r>
            <a:endParaRPr lang="en-US" sz="730" dirty="0"/>
          </a:p>
        </p:txBody>
      </p:sp>
      <p:sp>
        <p:nvSpPr>
          <p:cNvPr id="32" name="Shape 29"/>
          <p:cNvSpPr/>
          <p:nvPr/>
        </p:nvSpPr>
        <p:spPr>
          <a:xfrm>
            <a:off x="5488686" y="5623560"/>
            <a:ext cx="1570482" cy="658368"/>
          </a:xfrm>
          <a:prstGeom prst="roundRect">
            <a:avLst>
              <a:gd name="adj" fmla="val 8333"/>
            </a:avLst>
          </a:prstGeom>
          <a:solidFill>
            <a:srgbClr val="F6FFED"/>
          </a:solidFill>
          <a:ln w="10160">
            <a:solidFill>
              <a:srgbClr val="B7EB8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561838" y="5742432"/>
            <a:ext cx="14241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89E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Закрыта</a:t>
            </a:r>
            <a:endParaRPr lang="en-US" sz="860" dirty="0"/>
          </a:p>
        </p:txBody>
      </p:sp>
      <p:sp>
        <p:nvSpPr>
          <p:cNvPr id="34" name="Text 31"/>
          <p:cNvSpPr/>
          <p:nvPr/>
        </p:nvSpPr>
        <p:spPr>
          <a:xfrm>
            <a:off x="5561838" y="5961888"/>
            <a:ext cx="14241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3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 завершён</a:t>
            </a:r>
            <a:endParaRPr lang="en-US" sz="730" dirty="0"/>
          </a:p>
        </p:txBody>
      </p:sp>
      <p:sp>
        <p:nvSpPr>
          <p:cNvPr id="35" name="Shape 32"/>
          <p:cNvSpPr/>
          <p:nvPr/>
        </p:nvSpPr>
        <p:spPr>
          <a:xfrm>
            <a:off x="502920" y="6409944"/>
            <a:ext cx="6556248" cy="658368"/>
          </a:xfrm>
          <a:prstGeom prst="roundRect">
            <a:avLst>
              <a:gd name="adj" fmla="val 8333"/>
            </a:avLst>
          </a:prstGeom>
          <a:solidFill>
            <a:srgbClr val="FFF7E6"/>
          </a:solidFill>
          <a:ln w="10160">
            <a:solidFill>
              <a:srgbClr val="FFD59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58368" y="6537960"/>
            <a:ext cx="6245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46B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Закупка не пополняет остаток автоматически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58368" y="6766560"/>
            <a:ext cx="6245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9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Приёмку и складское движение фиксируют отдельно; это защищает от чисел, которых физически ещё нет.</a:t>
            </a:r>
            <a:endParaRPr lang="en-US" sz="89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641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spc="25" kern="0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ОРГТЕХНИКА · ПОЛНОЕ РУКОВОДСТВО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733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Парк, модели и характеристики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327648" y="3566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6556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единицы ссылается на тип и модель; характеристики печати принадлежат модели.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02920" y="10131552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13848"/>
            <a:ext cx="5916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Полное руководство по оргтехнике · актуальная версия приложения · редакция 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19088" y="102138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502920" y="1298448"/>
            <a:ext cx="4279392" cy="4160520"/>
          </a:xfrm>
          <a:prstGeom prst="roundRect">
            <a:avLst>
              <a:gd name="adj" fmla="val 879"/>
            </a:avLst>
          </a:prstGeom>
          <a:solidFill>
            <a:srgbClr val="F5F7FB"/>
          </a:solidFill>
          <a:ln w="8890">
            <a:solidFill>
              <a:srgbClr val="E7EA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371600"/>
            <a:ext cx="4059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АКТУАЛЬНЫЙ ЭКРАН · ДЕМОНСТРАЦИОННЫЕ ДАННЫЕ</a:t>
            </a:r>
            <a:endParaRPr lang="en-US" sz="590" dirty="0"/>
          </a:p>
        </p:txBody>
      </p:sp>
      <p:pic>
        <p:nvPicPr>
          <p:cNvPr id="12" name="Image 0" descr="/root/projects/technic/docs/image/office-equipment-latest/equipment-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835148"/>
            <a:ext cx="4133088" cy="327914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946904" y="1298448"/>
            <a:ext cx="2112264" cy="2029968"/>
          </a:xfrm>
          <a:prstGeom prst="roundRect">
            <a:avLst>
              <a:gd name="adj" fmla="val 1802"/>
            </a:avLst>
          </a:prstGeom>
          <a:solidFill>
            <a:srgbClr val="F0F7FF"/>
          </a:solidFill>
          <a:ln w="8890">
            <a:solidFill>
              <a:srgbClr val="BAE0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56632" y="1408176"/>
            <a:ext cx="256032" cy="256032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56632" y="144018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5394960" y="13807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единицы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5394960" y="1609344"/>
            <a:ext cx="155448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Номера, состояние, место, ответственное лицо и гарантия.</a:t>
            </a:r>
            <a:endParaRPr lang="en-US" sz="670" dirty="0"/>
          </a:p>
        </p:txBody>
      </p:sp>
      <p:sp>
        <p:nvSpPr>
          <p:cNvPr id="18" name="Shape 15"/>
          <p:cNvSpPr/>
          <p:nvPr/>
        </p:nvSpPr>
        <p:spPr>
          <a:xfrm>
            <a:off x="4946904" y="3429000"/>
            <a:ext cx="2112264" cy="2029968"/>
          </a:xfrm>
          <a:prstGeom prst="roundRect">
            <a:avLst>
              <a:gd name="adj" fmla="val 1802"/>
            </a:avLst>
          </a:prstGeom>
          <a:solidFill>
            <a:srgbClr val="F6FFED"/>
          </a:solidFill>
          <a:ln w="8890">
            <a:solidFill>
              <a:srgbClr val="B7EB8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56632" y="3538728"/>
            <a:ext cx="256032" cy="256032"/>
          </a:xfrm>
          <a:prstGeom prst="ellipse">
            <a:avLst/>
          </a:prstGeom>
          <a:solidFill>
            <a:srgbClr val="389E0D"/>
          </a:solidFill>
          <a:ln w="12700">
            <a:solidFill>
              <a:srgbClr val="389E0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56632" y="357073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5394960" y="351129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Действия рядом</a:t>
            </a:r>
            <a:endParaRPr lang="en-US" sz="780" dirty="0"/>
          </a:p>
        </p:txBody>
      </p:sp>
      <p:sp>
        <p:nvSpPr>
          <p:cNvPr id="22" name="Text 19"/>
          <p:cNvSpPr/>
          <p:nvPr/>
        </p:nvSpPr>
        <p:spPr>
          <a:xfrm>
            <a:off x="5394960" y="3739896"/>
            <a:ext cx="155448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История, перемещение и редактирование показываются по отдельным правам.</a:t>
            </a:r>
            <a:endParaRPr lang="en-US" sz="670" dirty="0"/>
          </a:p>
        </p:txBody>
      </p:sp>
      <p:sp>
        <p:nvSpPr>
          <p:cNvPr id="23" name="Shape 20"/>
          <p:cNvSpPr/>
          <p:nvPr/>
        </p:nvSpPr>
        <p:spPr>
          <a:xfrm>
            <a:off x="502920" y="5678424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3232" y="5623560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существует независимо от парка и уникальна внутри типа техники.</a:t>
            </a:r>
            <a:endParaRPr lang="en-US" sz="930" dirty="0"/>
          </a:p>
        </p:txBody>
      </p:sp>
      <p:sp>
        <p:nvSpPr>
          <p:cNvPr id="25" name="Shape 22"/>
          <p:cNvSpPr/>
          <p:nvPr/>
        </p:nvSpPr>
        <p:spPr>
          <a:xfrm>
            <a:off x="502920" y="5989320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13232" y="5934456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Цветность печати, формат и другие ТТХ — характеристики модели, а не произвольные поля карточки.</a:t>
            </a:r>
            <a:endParaRPr lang="en-US" sz="930" dirty="0"/>
          </a:p>
        </p:txBody>
      </p:sp>
      <p:sp>
        <p:nvSpPr>
          <p:cNvPr id="27" name="Shape 24"/>
          <p:cNvSpPr/>
          <p:nvPr/>
        </p:nvSpPr>
        <p:spPr>
          <a:xfrm>
            <a:off x="502920" y="6300216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13232" y="6245352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Списание/архив не стирает прошлые заявки, движения и гарантии.</a:t>
            </a:r>
            <a:endParaRPr lang="en-US" sz="930" dirty="0"/>
          </a:p>
        </p:txBody>
      </p:sp>
      <p:sp>
        <p:nvSpPr>
          <p:cNvPr id="29" name="Shape 26"/>
          <p:cNvSpPr/>
          <p:nvPr/>
        </p:nvSpPr>
        <p:spPr>
          <a:xfrm>
            <a:off x="502920" y="6611112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13232" y="6556248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Импорт справочника проверяет ссылки на типы и модели до записи.</a:t>
            </a:r>
            <a:endParaRPr lang="en-US" sz="93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641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spc="25" kern="0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ОРГТЕХНИКА · ПОЛНОЕ РУКОВОДСТВО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733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Перемещение из заявки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327648" y="3566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6556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Фактическое движение подтверждает человек с отдельным правом; место сверяется в транзакции.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02920" y="10131552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13848"/>
            <a:ext cx="5916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Полное руководство по оргтехнике · актуальная версия приложения · редакция 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19088" y="102138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502920" y="1298448"/>
            <a:ext cx="4279392" cy="4160520"/>
          </a:xfrm>
          <a:prstGeom prst="roundRect">
            <a:avLst>
              <a:gd name="adj" fmla="val 879"/>
            </a:avLst>
          </a:prstGeom>
          <a:solidFill>
            <a:srgbClr val="F5F7FB"/>
          </a:solidFill>
          <a:ln w="8890">
            <a:solidFill>
              <a:srgbClr val="E7EA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371600"/>
            <a:ext cx="4059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АКТУАЛЬНЫЙ ЭКРАН · ДЕМОНСТРАЦИОННЫЕ ДАННЫЕ</a:t>
            </a:r>
            <a:endParaRPr lang="en-US" sz="590" dirty="0"/>
          </a:p>
        </p:txBody>
      </p:sp>
      <p:pic>
        <p:nvPicPr>
          <p:cNvPr id="12" name="Image 0" descr="/root/projects/technic/docs/image/office-equipment-latest/equipment-mo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6381" y="1563624"/>
            <a:ext cx="2892470" cy="3822192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946904" y="1298448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0F7FF"/>
          </a:solidFill>
          <a:ln w="8890">
            <a:solidFill>
              <a:srgbClr val="BAE0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56632" y="1408176"/>
            <a:ext cx="256032" cy="256032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56632" y="144018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5394960" y="13807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Сверьте источник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5394960" y="1609344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Текущее место в карточке и место, заявленное в обращении.</a:t>
            </a:r>
            <a:endParaRPr lang="en-US" sz="670" dirty="0"/>
          </a:p>
        </p:txBody>
      </p:sp>
      <p:sp>
        <p:nvSpPr>
          <p:cNvPr id="18" name="Shape 15"/>
          <p:cNvSpPr/>
          <p:nvPr/>
        </p:nvSpPr>
        <p:spPr>
          <a:xfrm>
            <a:off x="4946904" y="2718816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9F0FF"/>
          </a:solidFill>
          <a:ln w="8890">
            <a:solidFill>
              <a:srgbClr val="D3AD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56632" y="2828544"/>
            <a:ext cx="256032" cy="256032"/>
          </a:xfrm>
          <a:prstGeom prst="ellipse">
            <a:avLst/>
          </a:prstGeom>
          <a:solidFill>
            <a:srgbClr val="722ED1"/>
          </a:solidFill>
          <a:ln w="12700">
            <a:solidFill>
              <a:srgbClr val="722ED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56632" y="286054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5394960" y="28011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Отметьте разбор</a:t>
            </a:r>
            <a:endParaRPr lang="en-US" sz="780" dirty="0"/>
          </a:p>
        </p:txBody>
      </p:sp>
      <p:sp>
        <p:nvSpPr>
          <p:cNvPr id="22" name="Text 19"/>
          <p:cNvSpPr/>
          <p:nvPr/>
        </p:nvSpPr>
        <p:spPr>
          <a:xfrm>
            <a:off x="5394960" y="3029712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Подтверждение связывает движение с расхождением по месту.</a:t>
            </a:r>
            <a:endParaRPr lang="en-US" sz="670" dirty="0"/>
          </a:p>
        </p:txBody>
      </p:sp>
      <p:sp>
        <p:nvSpPr>
          <p:cNvPr id="23" name="Shape 20"/>
          <p:cNvSpPr/>
          <p:nvPr/>
        </p:nvSpPr>
        <p:spPr>
          <a:xfrm>
            <a:off x="4946904" y="4139184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6FFED"/>
          </a:solidFill>
          <a:ln w="8890">
            <a:solidFill>
              <a:srgbClr val="B7EB8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56632" y="4248912"/>
            <a:ext cx="256032" cy="256032"/>
          </a:xfrm>
          <a:prstGeom prst="ellipse">
            <a:avLst/>
          </a:prstGeom>
          <a:solidFill>
            <a:srgbClr val="389E0D"/>
          </a:solidFill>
          <a:ln w="12700">
            <a:solidFill>
              <a:srgbClr val="389E0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56632" y="428091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5394960" y="42214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Запишите новое место</a:t>
            </a:r>
            <a:endParaRPr lang="en-US" sz="780" dirty="0"/>
          </a:p>
        </p:txBody>
      </p:sp>
      <p:sp>
        <p:nvSpPr>
          <p:cNvPr id="27" name="Text 24"/>
          <p:cNvSpPr/>
          <p:nvPr/>
        </p:nvSpPr>
        <p:spPr>
          <a:xfrm>
            <a:off x="5394960" y="4450080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и история меняются одной операцией; конфликт требует обновления.</a:t>
            </a:r>
            <a:endParaRPr lang="en-US" sz="670" dirty="0"/>
          </a:p>
        </p:txBody>
      </p:sp>
      <p:sp>
        <p:nvSpPr>
          <p:cNvPr id="28" name="Shape 25"/>
          <p:cNvSpPr/>
          <p:nvPr/>
        </p:nvSpPr>
        <p:spPr>
          <a:xfrm>
            <a:off x="502920" y="5678424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13232" y="5623560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Кнопка живёт у реквизитов аппарата, а не в общем меню заявки.</a:t>
            </a:r>
            <a:endParaRPr lang="en-US" sz="930" dirty="0"/>
          </a:p>
        </p:txBody>
      </p:sp>
      <p:sp>
        <p:nvSpPr>
          <p:cNvPr id="30" name="Shape 27"/>
          <p:cNvSpPr/>
          <p:nvPr/>
        </p:nvSpPr>
        <p:spPr>
          <a:xfrm>
            <a:off x="502920" y="5989320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13232" y="5934456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Область проверяется по исходному месту и не расширяется карточкой заявки.</a:t>
            </a:r>
            <a:endParaRPr lang="en-US" sz="930" dirty="0"/>
          </a:p>
        </p:txBody>
      </p:sp>
      <p:sp>
        <p:nvSpPr>
          <p:cNvPr id="32" name="Shape 29"/>
          <p:cNvSpPr/>
          <p:nvPr/>
        </p:nvSpPr>
        <p:spPr>
          <a:xfrm>
            <a:off x="502920" y="6300216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13232" y="6245352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Ручное перемещение из справочника использует тот же замок и ту же историю.</a:t>
            </a:r>
            <a:endParaRPr lang="en-US" sz="93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641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spc="25" kern="0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ОРГТЕХНИКА · ПОЛНОЕ РУКОВОДСТВО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733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аппарата и выгрузка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327648" y="3566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6556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бизнес-блока и полная лента читают одни канонические события.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02920" y="10131552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13848"/>
            <a:ext cx="5916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Полное руководство по оргтехнике · актуальная версия приложения · редакция 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19088" y="102138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502920" y="1298448"/>
            <a:ext cx="4279392" cy="4160520"/>
          </a:xfrm>
          <a:prstGeom prst="roundRect">
            <a:avLst>
              <a:gd name="adj" fmla="val 879"/>
            </a:avLst>
          </a:prstGeom>
          <a:solidFill>
            <a:srgbClr val="F5F7FB"/>
          </a:solidFill>
          <a:ln w="8890">
            <a:solidFill>
              <a:srgbClr val="E7EA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371600"/>
            <a:ext cx="4059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АКТУАЛЬНЫЙ ЭКРАН · ДЕМОНСТРАЦИОННЫЕ ДАННЫЕ</a:t>
            </a:r>
            <a:endParaRPr lang="en-US" sz="590" dirty="0"/>
          </a:p>
        </p:txBody>
      </p:sp>
      <p:pic>
        <p:nvPicPr>
          <p:cNvPr id="12" name="Image 0" descr="/root/projects/technic/docs/image/office-equipment-latest/equipment-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2537566"/>
            <a:ext cx="4133088" cy="1874307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946904" y="1298448"/>
            <a:ext cx="2112264" cy="2029968"/>
          </a:xfrm>
          <a:prstGeom prst="roundRect">
            <a:avLst>
              <a:gd name="adj" fmla="val 1802"/>
            </a:avLst>
          </a:prstGeom>
          <a:solidFill>
            <a:srgbClr val="F0F7FF"/>
          </a:solidFill>
          <a:ln w="8890">
            <a:solidFill>
              <a:srgbClr val="BAE0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56632" y="1408176"/>
            <a:ext cx="256032" cy="256032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56632" y="144018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5394960" y="13807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Выберите вопрос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5394960" y="1609344"/>
            <a:ext cx="155448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Заявки, Правки, Перемещения или Полная история — у каждого блока свой порядок.</a:t>
            </a:r>
            <a:endParaRPr lang="en-US" sz="670" dirty="0"/>
          </a:p>
        </p:txBody>
      </p:sp>
      <p:sp>
        <p:nvSpPr>
          <p:cNvPr id="18" name="Shape 15"/>
          <p:cNvSpPr/>
          <p:nvPr/>
        </p:nvSpPr>
        <p:spPr>
          <a:xfrm>
            <a:off x="4946904" y="3429000"/>
            <a:ext cx="2112264" cy="2029968"/>
          </a:xfrm>
          <a:prstGeom prst="roundRect">
            <a:avLst>
              <a:gd name="adj" fmla="val 1802"/>
            </a:avLst>
          </a:prstGeom>
          <a:solidFill>
            <a:srgbClr val="F6FFED"/>
          </a:solidFill>
          <a:ln w="8890">
            <a:solidFill>
              <a:srgbClr val="B7EB8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56632" y="3538728"/>
            <a:ext cx="256032" cy="256032"/>
          </a:xfrm>
          <a:prstGeom prst="ellipse">
            <a:avLst/>
          </a:prstGeom>
          <a:solidFill>
            <a:srgbClr val="389E0D"/>
          </a:solidFill>
          <a:ln w="12700">
            <a:solidFill>
              <a:srgbClr val="389E0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56632" y="357073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5394960" y="351129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Скачайте книгу</a:t>
            </a:r>
            <a:endParaRPr lang="en-US" sz="780" dirty="0"/>
          </a:p>
        </p:txBody>
      </p:sp>
      <p:sp>
        <p:nvSpPr>
          <p:cNvPr id="22" name="Text 19"/>
          <p:cNvSpPr/>
          <p:nvPr/>
        </p:nvSpPr>
        <p:spPr>
          <a:xfrm>
            <a:off x="5394960" y="3739896"/>
            <a:ext cx="155448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XLSX содержит четыре листа с теми же данными и той же областью доступа.</a:t>
            </a:r>
            <a:endParaRPr lang="en-US" sz="670" dirty="0"/>
          </a:p>
        </p:txBody>
      </p:sp>
      <p:sp>
        <p:nvSpPr>
          <p:cNvPr id="23" name="Shape 20"/>
          <p:cNvSpPr/>
          <p:nvPr/>
        </p:nvSpPr>
        <p:spPr>
          <a:xfrm>
            <a:off x="502920" y="5678424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3232" y="5623560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блоке заявок одна заявка занимает одну строку с итогом, исполнителем и гарантией.</a:t>
            </a:r>
            <a:endParaRPr lang="en-US" sz="930" dirty="0"/>
          </a:p>
        </p:txBody>
      </p:sp>
      <p:sp>
        <p:nvSpPr>
          <p:cNvPr id="25" name="Shape 22"/>
          <p:cNvSpPr/>
          <p:nvPr/>
        </p:nvSpPr>
        <p:spPr>
          <a:xfrm>
            <a:off x="502920" y="5989320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13232" y="5934456"/>
            <a:ext cx="6345936" cy="378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Правки показывают жизненный цикл и гарантийные изменения; перемещения — откуда, куда и связь с заявкой.</a:t>
            </a:r>
            <a:endParaRPr lang="en-US" sz="930" dirty="0"/>
          </a:p>
        </p:txBody>
      </p:sp>
      <p:sp>
        <p:nvSpPr>
          <p:cNvPr id="27" name="Shape 24"/>
          <p:cNvSpPr/>
          <p:nvPr/>
        </p:nvSpPr>
        <p:spPr>
          <a:xfrm>
            <a:off x="502920" y="6422197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13232" y="6367333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Полная история остаётся каноном при споре; блоки — удобные представления над ней.</a:t>
            </a:r>
            <a:endParaRPr lang="en-US" sz="930" dirty="0"/>
          </a:p>
        </p:txBody>
      </p:sp>
      <p:sp>
        <p:nvSpPr>
          <p:cNvPr id="29" name="Shape 26"/>
          <p:cNvSpPr/>
          <p:nvPr/>
        </p:nvSpPr>
        <p:spPr>
          <a:xfrm>
            <a:off x="502920" y="6733093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13232" y="6678229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заявки и история аппарата различаются: первая про процесс, вторая — про единицу парка.</a:t>
            </a:r>
            <a:endParaRPr lang="en-US" sz="93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641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spc="25" kern="0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ОРГТЕХНИКА · ПОЛНОЕ РУКОВОДСТВО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733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Гарантии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327648" y="3566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6556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 обращения определяет маршрут: гарантия поставщика аппарата или гарантия конкретной работы.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02920" y="10131552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13848"/>
            <a:ext cx="5916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Полное руководство по оргтехнике · актуальная версия приложения · редакция 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19088" y="102138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502920" y="1298448"/>
            <a:ext cx="4279392" cy="4160520"/>
          </a:xfrm>
          <a:prstGeom prst="roundRect">
            <a:avLst>
              <a:gd name="adj" fmla="val 879"/>
            </a:avLst>
          </a:prstGeom>
          <a:solidFill>
            <a:srgbClr val="F5F7FB"/>
          </a:solidFill>
          <a:ln w="8890">
            <a:solidFill>
              <a:srgbClr val="E7EA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371600"/>
            <a:ext cx="4059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АКТУАЛЬНЫЙ ЭКРАН · ДЕМОНСТРАЦИОННЫЕ ДАННЫЕ</a:t>
            </a:r>
            <a:endParaRPr lang="en-US" sz="590" dirty="0"/>
          </a:p>
        </p:txBody>
      </p:sp>
      <p:pic>
        <p:nvPicPr>
          <p:cNvPr id="12" name="Image 0" descr="/root/projects/technic/docs/image/office-equipment-latest/warrant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835148"/>
            <a:ext cx="4133088" cy="327914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946904" y="1298448"/>
            <a:ext cx="2112264" cy="2029968"/>
          </a:xfrm>
          <a:prstGeom prst="roundRect">
            <a:avLst>
              <a:gd name="adj" fmla="val 1802"/>
            </a:avLst>
          </a:prstGeom>
          <a:solidFill>
            <a:srgbClr val="F6FFED"/>
          </a:solidFill>
          <a:ln w="8890">
            <a:solidFill>
              <a:srgbClr val="B7EB8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56632" y="1408176"/>
            <a:ext cx="256032" cy="256032"/>
          </a:xfrm>
          <a:prstGeom prst="ellipse">
            <a:avLst/>
          </a:prstGeom>
          <a:solidFill>
            <a:srgbClr val="389E0D"/>
          </a:solidFill>
          <a:ln w="12700">
            <a:solidFill>
              <a:srgbClr val="389E0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56632" y="144018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5394960" y="13807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Гарантия ремонта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5394960" y="1609344"/>
            <a:ext cx="155448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Создаётся из реестра и переносит точную ссылку на исходную позицию работы.</a:t>
            </a:r>
            <a:endParaRPr lang="en-US" sz="670" dirty="0"/>
          </a:p>
        </p:txBody>
      </p:sp>
      <p:sp>
        <p:nvSpPr>
          <p:cNvPr id="18" name="Shape 15"/>
          <p:cNvSpPr/>
          <p:nvPr/>
        </p:nvSpPr>
        <p:spPr>
          <a:xfrm>
            <a:off x="4946904" y="3429000"/>
            <a:ext cx="2112264" cy="2029968"/>
          </a:xfrm>
          <a:prstGeom prst="roundRect">
            <a:avLst>
              <a:gd name="adj" fmla="val 1802"/>
            </a:avLst>
          </a:prstGeom>
          <a:solidFill>
            <a:srgbClr val="FFF7E6"/>
          </a:solidFill>
          <a:ln w="8890">
            <a:solidFill>
              <a:srgbClr val="FFD59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56632" y="3538728"/>
            <a:ext cx="256032" cy="256032"/>
          </a:xfrm>
          <a:prstGeom prst="ellipse">
            <a:avLst/>
          </a:prstGeom>
          <a:solidFill>
            <a:srgbClr val="D46B08"/>
          </a:solidFill>
          <a:ln w="12700">
            <a:solidFill>
              <a:srgbClr val="D46B0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56632" y="357073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5394960" y="351129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Гарантия поставщика</a:t>
            </a:r>
            <a:endParaRPr lang="en-US" sz="780" dirty="0"/>
          </a:p>
        </p:txBody>
      </p:sp>
      <p:sp>
        <p:nvSpPr>
          <p:cNvPr id="22" name="Text 19"/>
          <p:cNvSpPr/>
          <p:nvPr/>
        </p:nvSpPr>
        <p:spPr>
          <a:xfrm>
            <a:off x="5394960" y="3739896"/>
            <a:ext cx="155448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Выбирается при заведении обслуживания на конкретный аппарат.</a:t>
            </a:r>
            <a:endParaRPr lang="en-US" sz="670" dirty="0"/>
          </a:p>
        </p:txBody>
      </p:sp>
      <p:sp>
        <p:nvSpPr>
          <p:cNvPr id="23" name="Shape 20"/>
          <p:cNvSpPr/>
          <p:nvPr/>
        </p:nvSpPr>
        <p:spPr>
          <a:xfrm>
            <a:off x="502920" y="5678424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3232" y="5623560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 платным выездом исполнитель обязан сверить активный гарантийный источник.</a:t>
            </a:r>
            <a:endParaRPr lang="en-US" sz="930" dirty="0"/>
          </a:p>
        </p:txBody>
      </p:sp>
      <p:sp>
        <p:nvSpPr>
          <p:cNvPr id="25" name="Shape 22"/>
          <p:cNvSpPr/>
          <p:nvPr/>
        </p:nvSpPr>
        <p:spPr>
          <a:xfrm>
            <a:off x="502920" y="5989320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13232" y="5934456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Гарантийная работа не стирает исходную заявку и получает собственный цикл.</a:t>
            </a:r>
            <a:endParaRPr lang="en-US" sz="930" dirty="0"/>
          </a:p>
        </p:txBody>
      </p:sp>
      <p:sp>
        <p:nvSpPr>
          <p:cNvPr id="27" name="Shape 24"/>
          <p:cNvSpPr/>
          <p:nvPr/>
        </p:nvSpPr>
        <p:spPr>
          <a:xfrm>
            <a:off x="502920" y="6300216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13232" y="6245352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 и условия гарантии фиксируются при закрытии работ и видны в реестре.</a:t>
            </a:r>
            <a:endParaRPr lang="en-US" sz="930" dirty="0"/>
          </a:p>
        </p:txBody>
      </p:sp>
      <p:sp>
        <p:nvSpPr>
          <p:cNvPr id="29" name="Shape 26"/>
          <p:cNvSpPr/>
          <p:nvPr/>
        </p:nvSpPr>
        <p:spPr>
          <a:xfrm>
            <a:off x="502920" y="6611112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13232" y="6556248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Истёкшая гарантия остаётся в истории, но не открывает гарантийный маршрут.</a:t>
            </a:r>
            <a:endParaRPr lang="en-US" sz="93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641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spc="25" kern="0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ОРГТЕХНИКА · ПОЛНОЕ РУКОВОДСТВО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733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Массовые действия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327648" y="3566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6556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Пакетная команда повторяет одиночные правила и даёт построчный отчёт вместо общего отката.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02920" y="10131552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13848"/>
            <a:ext cx="5916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Полное руководство по оргтехнике · актуальная версия приложения · редакция 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19088" y="102138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502920" y="1298448"/>
            <a:ext cx="4279392" cy="4160520"/>
          </a:xfrm>
          <a:prstGeom prst="roundRect">
            <a:avLst>
              <a:gd name="adj" fmla="val 879"/>
            </a:avLst>
          </a:prstGeom>
          <a:solidFill>
            <a:srgbClr val="F5F7FB"/>
          </a:solidFill>
          <a:ln w="8890">
            <a:solidFill>
              <a:srgbClr val="E7EA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371600"/>
            <a:ext cx="4059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АКТУАЛЬНЫЙ ЭКРАН · ДЕМОНСТРАЦИОННЫЕ ДАННЫЕ</a:t>
            </a:r>
            <a:endParaRPr lang="en-US" sz="590" dirty="0"/>
          </a:p>
        </p:txBody>
      </p:sp>
      <p:pic>
        <p:nvPicPr>
          <p:cNvPr id="12" name="Image 0" descr="/root/projects/technic/docs/image/office-equipment-latest/requests-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835148"/>
            <a:ext cx="4133088" cy="327914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946904" y="1298448"/>
            <a:ext cx="2112264" cy="2029968"/>
          </a:xfrm>
          <a:prstGeom prst="roundRect">
            <a:avLst>
              <a:gd name="adj" fmla="val 1802"/>
            </a:avLst>
          </a:prstGeom>
          <a:solidFill>
            <a:srgbClr val="F0F7FF"/>
          </a:solidFill>
          <a:ln w="8890">
            <a:solidFill>
              <a:srgbClr val="BAE0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56632" y="1408176"/>
            <a:ext cx="256032" cy="256032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56632" y="144018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5394960" y="13807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Выберите допустимые строки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5394960" y="1609344"/>
            <a:ext cx="155448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Каждая строка несёт версию; недоступность объясняется до запуска.</a:t>
            </a:r>
            <a:endParaRPr lang="en-US" sz="670" dirty="0"/>
          </a:p>
        </p:txBody>
      </p:sp>
      <p:sp>
        <p:nvSpPr>
          <p:cNvPr id="18" name="Shape 15"/>
          <p:cNvSpPr/>
          <p:nvPr/>
        </p:nvSpPr>
        <p:spPr>
          <a:xfrm>
            <a:off x="4946904" y="3429000"/>
            <a:ext cx="2112264" cy="2029968"/>
          </a:xfrm>
          <a:prstGeom prst="roundRect">
            <a:avLst>
              <a:gd name="adj" fmla="val 1802"/>
            </a:avLst>
          </a:prstGeom>
          <a:solidFill>
            <a:srgbClr val="FFF7E6"/>
          </a:solidFill>
          <a:ln w="8890">
            <a:solidFill>
              <a:srgbClr val="FFD59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56632" y="3538728"/>
            <a:ext cx="256032" cy="256032"/>
          </a:xfrm>
          <a:prstGeom prst="ellipse">
            <a:avLst/>
          </a:prstGeom>
          <a:solidFill>
            <a:srgbClr val="D46B08"/>
          </a:solidFill>
          <a:ln w="12700">
            <a:solidFill>
              <a:srgbClr val="D46B0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56632" y="357073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5394960" y="351129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Выполните общую команду</a:t>
            </a:r>
            <a:endParaRPr lang="en-US" sz="780" dirty="0"/>
          </a:p>
        </p:txBody>
      </p:sp>
      <p:sp>
        <p:nvSpPr>
          <p:cNvPr id="22" name="Text 19"/>
          <p:cNvSpPr/>
          <p:nvPr/>
        </p:nvSpPr>
        <p:spPr>
          <a:xfrm>
            <a:off x="5394960" y="3739896"/>
            <a:ext cx="155448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Применимые строки проходят, остальные возвращаются в отчёте с причиной.</a:t>
            </a:r>
            <a:endParaRPr lang="en-US" sz="670" dirty="0"/>
          </a:p>
        </p:txBody>
      </p:sp>
      <p:sp>
        <p:nvSpPr>
          <p:cNvPr id="23" name="Shape 20"/>
          <p:cNvSpPr/>
          <p:nvPr/>
        </p:nvSpPr>
        <p:spPr>
          <a:xfrm>
            <a:off x="502920" y="5678424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3232" y="5623560"/>
            <a:ext cx="6345936" cy="378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Доступны пауза/возобновление, срочность, старт, приёмка, отмена и архив — по правам и состоянию.</a:t>
            </a:r>
            <a:endParaRPr lang="en-US" sz="930" dirty="0"/>
          </a:p>
        </p:txBody>
      </p:sp>
      <p:sp>
        <p:nvSpPr>
          <p:cNvPr id="25" name="Shape 22"/>
          <p:cNvSpPr/>
          <p:nvPr/>
        </p:nvSpPr>
        <p:spPr>
          <a:xfrm>
            <a:off x="502920" y="6111301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13232" y="6056437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массового назначения, закрытия работ, объёма работ и возврата на доработку.</a:t>
            </a:r>
            <a:endParaRPr lang="en-US" sz="930" dirty="0"/>
          </a:p>
        </p:txBody>
      </p:sp>
      <p:sp>
        <p:nvSpPr>
          <p:cNvPr id="27" name="Shape 24"/>
          <p:cNvSpPr/>
          <p:nvPr/>
        </p:nvSpPr>
        <p:spPr>
          <a:xfrm>
            <a:off x="502920" y="6422197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13232" y="6367333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причина честно относится ко всем выбранным строкам; аудит остаётся построчным.</a:t>
            </a:r>
            <a:endParaRPr lang="en-US" sz="930" dirty="0"/>
          </a:p>
        </p:txBody>
      </p:sp>
      <p:sp>
        <p:nvSpPr>
          <p:cNvPr id="29" name="Shape 26"/>
          <p:cNvSpPr/>
          <p:nvPr/>
        </p:nvSpPr>
        <p:spPr>
          <a:xfrm>
            <a:off x="502920" y="6733093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13232" y="6678229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Незавершённая пачка принадлежит учётке, которая её начала, и продолжается после обрыва.</a:t>
            </a:r>
            <a:endParaRPr lang="en-US" sz="93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641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spc="25" kern="0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ОРГТЕХНИКА · ПОЛНОЕ РУКОВОДСТВО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733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Диагностика и контрольный список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327648" y="3566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6556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Проверяйте состояние данных до обращения в поддержку или повторной операции.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02920" y="10131552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13848"/>
            <a:ext cx="5916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Полное руководство по оргтехнике · актуальная версия приложения · редакция 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19088" y="102138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502920" y="1316736"/>
            <a:ext cx="210312" cy="210312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339596"/>
            <a:ext cx="210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30" dirty="0"/>
          </a:p>
        </p:txBody>
      </p:sp>
      <p:sp>
        <p:nvSpPr>
          <p:cNvPr id="12" name="Text 10"/>
          <p:cNvSpPr/>
          <p:nvPr/>
        </p:nvSpPr>
        <p:spPr>
          <a:xfrm>
            <a:off x="813816" y="1298448"/>
            <a:ext cx="6245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Обновить карточку; сверить статус, ожидание, версию и исполнителей.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502920" y="1664208"/>
            <a:ext cx="210312" cy="210312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687068"/>
            <a:ext cx="210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813816" y="1645920"/>
            <a:ext cx="6245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Проверить профиль, область и наличие поимённого назначения.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502920" y="2011680"/>
            <a:ext cx="210312" cy="210312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034540"/>
            <a:ext cx="210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813816" y="1993392"/>
            <a:ext cx="6245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Прочитать причину недоступного действия и проверить обязательный документ/кандидата.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502920" y="2359152"/>
            <a:ext cx="210312" cy="210312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382012"/>
            <a:ext cx="210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813816" y="2340864"/>
            <a:ext cx="6245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Искать основной вход у статуса, нужного поля, вкладки или меню «Действия».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502920" y="2706624"/>
            <a:ext cx="210312" cy="210312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729484"/>
            <a:ext cx="210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30" dirty="0"/>
          </a:p>
        </p:txBody>
      </p:sp>
      <p:sp>
        <p:nvSpPr>
          <p:cNvPr id="24" name="Text 22"/>
          <p:cNvSpPr/>
          <p:nvPr/>
        </p:nvSpPr>
        <p:spPr>
          <a:xfrm>
            <a:off x="813816" y="2688336"/>
            <a:ext cx="6245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пакета открыть отчёт и продолжить прежнюю операцию, не запускать дубль.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502920" y="3054096"/>
            <a:ext cx="210312" cy="210312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076956"/>
            <a:ext cx="210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30" dirty="0"/>
          </a:p>
        </p:txBody>
      </p:sp>
      <p:sp>
        <p:nvSpPr>
          <p:cNvPr id="27" name="Text 25"/>
          <p:cNvSpPr/>
          <p:nvPr/>
        </p:nvSpPr>
        <p:spPr>
          <a:xfrm>
            <a:off x="813816" y="3035808"/>
            <a:ext cx="6245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Передать поддержке номер, время, действие, текст ошибки и безопасный снимок.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502920" y="3401568"/>
            <a:ext cx="6556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Ежедневный контроль модуля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02920" y="3712464"/>
            <a:ext cx="3195828" cy="786933"/>
          </a:xfrm>
          <a:prstGeom prst="roundRect">
            <a:avLst>
              <a:gd name="adj" fmla="val 5810"/>
            </a:avLst>
          </a:prstGeom>
          <a:solidFill>
            <a:srgbClr val="F0F7FF"/>
          </a:solidFill>
          <a:ln w="10160">
            <a:solidFill>
              <a:srgbClr val="BAE0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" y="3831336"/>
            <a:ext cx="2903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Очереди</a:t>
            </a:r>
            <a:endParaRPr lang="en-US" sz="970" dirty="0"/>
          </a:p>
        </p:txBody>
      </p:sp>
      <p:sp>
        <p:nvSpPr>
          <p:cNvPr id="31" name="Text 29"/>
          <p:cNvSpPr/>
          <p:nvPr/>
        </p:nvSpPr>
        <p:spPr>
          <a:xfrm>
            <a:off x="649224" y="4059936"/>
            <a:ext cx="2903220" cy="348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Нераспределённые, срочные и старые ожидания разобраны.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3863340" y="3712464"/>
            <a:ext cx="3195828" cy="786933"/>
          </a:xfrm>
          <a:prstGeom prst="roundRect">
            <a:avLst>
              <a:gd name="adj" fmla="val 5810"/>
            </a:avLst>
          </a:prstGeom>
          <a:solidFill>
            <a:srgbClr val="F6FFED"/>
          </a:solidFill>
          <a:ln w="10160">
            <a:solidFill>
              <a:srgbClr val="B7EB8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09644" y="3831336"/>
            <a:ext cx="2903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0" b="1" dirty="0">
                <a:solidFill>
                  <a:srgbClr val="389E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Документы</a:t>
            </a:r>
            <a:endParaRPr lang="en-US" sz="970" dirty="0"/>
          </a:p>
        </p:txBody>
      </p:sp>
      <p:sp>
        <p:nvSpPr>
          <p:cNvPr id="34" name="Text 32"/>
          <p:cNvSpPr/>
          <p:nvPr/>
        </p:nvSpPr>
        <p:spPr>
          <a:xfrm>
            <a:off x="4009644" y="4059936"/>
            <a:ext cx="2903220" cy="348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Внешняя работа не закрыта без подтверждения.</a:t>
            </a:r>
            <a:endParaRPr lang="en-US" sz="870" dirty="0"/>
          </a:p>
        </p:txBody>
      </p:sp>
      <p:sp>
        <p:nvSpPr>
          <p:cNvPr id="35" name="Shape 33"/>
          <p:cNvSpPr/>
          <p:nvPr/>
        </p:nvSpPr>
        <p:spPr>
          <a:xfrm>
            <a:off x="502920" y="4627413"/>
            <a:ext cx="3195828" cy="786933"/>
          </a:xfrm>
          <a:prstGeom prst="roundRect">
            <a:avLst>
              <a:gd name="adj" fmla="val 5810"/>
            </a:avLst>
          </a:prstGeom>
          <a:solidFill>
            <a:srgbClr val="F9F0FF"/>
          </a:solidFill>
          <a:ln w="10160">
            <a:solidFill>
              <a:srgbClr val="D3AD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" y="4746285"/>
            <a:ext cx="2903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0" b="1" dirty="0">
                <a:solidFill>
                  <a:srgbClr val="722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Кандидаты</a:t>
            </a:r>
            <a:endParaRPr lang="en-US" sz="970" dirty="0"/>
          </a:p>
        </p:txBody>
      </p:sp>
      <p:sp>
        <p:nvSpPr>
          <p:cNvPr id="37" name="Text 35"/>
          <p:cNvSpPr/>
          <p:nvPr/>
        </p:nvSpPr>
        <p:spPr>
          <a:xfrm>
            <a:off x="649224" y="4974885"/>
            <a:ext cx="2903220" cy="348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Новые сообщения связаны, созданы или отклонены.</a:t>
            </a:r>
            <a:endParaRPr lang="en-US" sz="870" dirty="0"/>
          </a:p>
        </p:txBody>
      </p:sp>
      <p:sp>
        <p:nvSpPr>
          <p:cNvPr id="38" name="Shape 36"/>
          <p:cNvSpPr/>
          <p:nvPr/>
        </p:nvSpPr>
        <p:spPr>
          <a:xfrm>
            <a:off x="3863340" y="4627413"/>
            <a:ext cx="3195828" cy="786933"/>
          </a:xfrm>
          <a:prstGeom prst="roundRect">
            <a:avLst>
              <a:gd name="adj" fmla="val 5810"/>
            </a:avLst>
          </a:prstGeom>
          <a:solidFill>
            <a:srgbClr val="FFF7E6"/>
          </a:solidFill>
          <a:ln w="10160">
            <a:solidFill>
              <a:srgbClr val="FFD59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09644" y="4746285"/>
            <a:ext cx="2903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0" b="1" dirty="0">
                <a:solidFill>
                  <a:srgbClr val="D46B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Склад</a:t>
            </a:r>
            <a:endParaRPr lang="en-US" sz="970" dirty="0"/>
          </a:p>
        </p:txBody>
      </p:sp>
      <p:sp>
        <p:nvSpPr>
          <p:cNvPr id="40" name="Text 38"/>
          <p:cNvSpPr/>
          <p:nvPr/>
        </p:nvSpPr>
        <p:spPr>
          <a:xfrm>
            <a:off x="4009644" y="4974885"/>
            <a:ext cx="2903220" cy="348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Выдачи, корректировки и закупки не смешаны.</a:t>
            </a:r>
            <a:endParaRPr lang="en-US" sz="870" dirty="0"/>
          </a:p>
        </p:txBody>
      </p:sp>
      <p:sp>
        <p:nvSpPr>
          <p:cNvPr id="41" name="Shape 39"/>
          <p:cNvSpPr/>
          <p:nvPr/>
        </p:nvSpPr>
        <p:spPr>
          <a:xfrm>
            <a:off x="502920" y="5542361"/>
            <a:ext cx="6556248" cy="729874"/>
          </a:xfrm>
          <a:prstGeom prst="roundRect">
            <a:avLst>
              <a:gd name="adj" fmla="val 7517"/>
            </a:avLst>
          </a:prstGeom>
          <a:solidFill>
            <a:srgbClr val="F0F7FF"/>
          </a:solidFill>
          <a:ln w="10160">
            <a:solidFill>
              <a:srgbClr val="BAE0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" y="5670377"/>
            <a:ext cx="6245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Единый источник истины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58368" y="5898977"/>
            <a:ext cx="6245352" cy="28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9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Подписи берутся из контрактов, фактическое состояние — из сервера, разрешённое действие — из текущей карточки. Документ объясняет интерфейс, но не подменяет его проверку.</a:t>
            </a:r>
            <a:endParaRPr lang="en-US" sz="89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АВТО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Оргтехника: полное руководство</dc:title>
  <dc:subject>Единое руководство по заявкам, парку, расходникам, гарантиям и ролям</dc:subject>
  <dc:creator>АВТО</dc:creator>
  <cp:lastModifiedBy>АВТО</cp:lastModifiedBy>
  <cp:revision>1</cp:revision>
  <dcterms:created xsi:type="dcterms:W3CDTF">2026-09-07T07:00:00Z</dcterms:created>
  <dcterms:modified xsi:type="dcterms:W3CDTF">2026-09-07T07:00:00Z</dcterms:modified>
</cp:coreProperties>
</file>