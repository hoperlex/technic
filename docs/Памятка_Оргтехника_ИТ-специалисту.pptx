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СИСТЕМНЫЙ АДМИНИСТРАТОР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очередь ИТ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«Ждут меня», затем срочные и самые старые ожидания. Статус и сторона ожидания — разные поля.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ИТ-специалисту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s-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Отберите очередь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 сохраняются. «Ждут меня» показывает заявки, где от вашего профиля требуется шаг; срочные собирает пресет «Срочные».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ожидание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«Новая» бывает и без исполнителя, и уже с назначенными исполнителями.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заявку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Повтор, срочность, возраст и непрочитанное видны до входа в карточку.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23560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224" y="5742432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Координация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649224" y="5971032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просмотр, назначение, согласование, пауза, перемещение, массовые действия.</a:t>
            </a:r>
            <a:endParaRPr lang="en-US" sz="870" dirty="0"/>
          </a:p>
        </p:txBody>
      </p:sp>
      <p:sp>
        <p:nvSpPr>
          <p:cNvPr id="31" name="Shape 28"/>
          <p:cNvSpPr/>
          <p:nvPr/>
        </p:nvSpPr>
        <p:spPr>
          <a:xfrm>
            <a:off x="3863340" y="5623560"/>
            <a:ext cx="3195828" cy="786933"/>
          </a:xfrm>
          <a:prstGeom prst="roundRect">
            <a:avLst>
              <a:gd name="adj" fmla="val 5810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009644" y="5742432"/>
            <a:ext cx="2903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Исполнение</a:t>
            </a:r>
            <a:endParaRPr lang="en-US" sz="970" dirty="0"/>
          </a:p>
        </p:txBody>
      </p:sp>
      <p:sp>
        <p:nvSpPr>
          <p:cNvPr id="33" name="Text 30"/>
          <p:cNvSpPr/>
          <p:nvPr/>
        </p:nvSpPr>
        <p:spPr>
          <a:xfrm>
            <a:off x="4009644" y="5971032"/>
            <a:ext cx="2903220" cy="34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Старт, объём работ, файлы и закрытие — только для поимённо назначенного сотрудника.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502920" y="6538509"/>
            <a:ext cx="6556248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6666525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расширяйте доступ до проверки назначения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58368" y="6895125"/>
            <a:ext cx="6245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рабочей кнопки нет, сначала сверяйте исполнителей, статус и причину блокировки.</a:t>
            </a:r>
            <a:endParaRPr lang="en-US" sz="8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СИСТЕМНЫЙ АДМИНИСТРАТОР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 исполнителей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 меняется у поля «Исполнители» внутри карточки. Назначение само по себе не меняет статус.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ИТ-специалисту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assig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70468"/>
            <a:ext cx="4133088" cy="36085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сотрудников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назначить нескольких своих сотрудников; они работают поимённо.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Добавьте сервис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Одновременно разрешена не более чем одна сервисная компания.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Объясните замену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смене состава причина обязательна; новый исполнитель начнёт со статуса «Новая».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Отказ сотрудника снимает только его строку; отказ сервисной компании снимает компанию целиком.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отказался последний исполнитель, заявка снова ждёт распределения.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245352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Предъявленный объём работ сначала согласуйте либо верните в правку; во время ожидания состав не меняют.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502920" y="6696517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6824533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из карточки и массовый режим — разные вещи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58368" y="7053133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Массового назначения в полосе выбора нет: состав допустимых исполнителей считается отдельно для каждой заявки.</a:t>
            </a:r>
            <a:endParaRPr lang="en-US" sz="8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СИСТЕМНЫЙ АДМИНИСТРАТОР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заявку и вести ход работ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Назначенный сотрудник принимает заявку в работу. Остальные переходы доступны по коридору и правам.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ИТ-специалисту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-card-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313322"/>
            <a:ext cx="4133088" cy="232279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нужную вкладку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ИТ включает внутренние документы, а «Объём работ» — только у заявок, которые ведёт сервисная компания.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Сверьте состав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Одного права исполнителя недостаточно — ваша учётка должна быть назначена.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Фиксируйте общение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 ускоряет работу, но результат и договорённость продублируйте в обсуждении.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576072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</a:t>
            </a:r>
            <a:endParaRPr lang="en-US" sz="730" dirty="0"/>
          </a:p>
        </p:txBody>
      </p:sp>
      <p:sp>
        <p:nvSpPr>
          <p:cNvPr id="31" name="Shape 28"/>
          <p:cNvSpPr/>
          <p:nvPr/>
        </p:nvSpPr>
        <p:spPr>
          <a:xfrm>
            <a:off x="2164842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237994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работе</a:t>
            </a:r>
            <a:endParaRPr lang="en-US" sz="860" dirty="0"/>
          </a:p>
        </p:txBody>
      </p:sp>
      <p:sp>
        <p:nvSpPr>
          <p:cNvPr id="33" name="Text 30"/>
          <p:cNvSpPr/>
          <p:nvPr/>
        </p:nvSpPr>
        <p:spPr>
          <a:xfrm>
            <a:off x="2237994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выполнить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3826764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9F0FF"/>
          </a:solidFill>
          <a:ln w="10160">
            <a:solidFill>
              <a:srgbClr val="D3ADF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99916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722E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Решена</a:t>
            </a:r>
            <a:endParaRPr lang="en-US" sz="860" dirty="0"/>
          </a:p>
        </p:txBody>
      </p:sp>
      <p:sp>
        <p:nvSpPr>
          <p:cNvPr id="36" name="Text 33"/>
          <p:cNvSpPr/>
          <p:nvPr/>
        </p:nvSpPr>
        <p:spPr>
          <a:xfrm>
            <a:off x="3899916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предъявить</a:t>
            </a:r>
            <a:endParaRPr lang="en-US" sz="730" dirty="0"/>
          </a:p>
        </p:txBody>
      </p:sp>
      <p:sp>
        <p:nvSpPr>
          <p:cNvPr id="37" name="Shape 34"/>
          <p:cNvSpPr/>
          <p:nvPr/>
        </p:nvSpPr>
        <p:spPr>
          <a:xfrm>
            <a:off x="5488686" y="5623560"/>
            <a:ext cx="1570482" cy="658368"/>
          </a:xfrm>
          <a:prstGeom prst="roundRect">
            <a:avLst>
              <a:gd name="adj" fmla="val 8333"/>
            </a:avLst>
          </a:prstGeom>
          <a:solidFill>
            <a:srgbClr val="F6FFED"/>
          </a:solidFill>
          <a:ln w="10160">
            <a:solidFill>
              <a:srgbClr val="B7EB8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61838" y="5742432"/>
            <a:ext cx="1424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9E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Закрыта</a:t>
            </a:r>
            <a:endParaRPr lang="en-US" sz="860" dirty="0"/>
          </a:p>
        </p:txBody>
      </p:sp>
      <p:sp>
        <p:nvSpPr>
          <p:cNvPr id="39" name="Text 36"/>
          <p:cNvSpPr/>
          <p:nvPr/>
        </p:nvSpPr>
        <p:spPr>
          <a:xfrm>
            <a:off x="5561838" y="5961888"/>
            <a:ext cx="14241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принято</a:t>
            </a:r>
            <a:endParaRPr lang="en-US" sz="730" dirty="0"/>
          </a:p>
        </p:txBody>
      </p:sp>
      <p:sp>
        <p:nvSpPr>
          <p:cNvPr id="40" name="Shape 37"/>
          <p:cNvSpPr/>
          <p:nvPr/>
        </p:nvSpPr>
        <p:spPr>
          <a:xfrm>
            <a:off x="502920" y="6464808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" y="6409944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«Отложить» требует причины и запоминает, куда вернуть заявку.</a:t>
            </a:r>
            <a:endParaRPr lang="en-US" sz="930" dirty="0"/>
          </a:p>
        </p:txBody>
      </p:sp>
      <p:sp>
        <p:nvSpPr>
          <p:cNvPr id="42" name="Shape 39"/>
          <p:cNvSpPr/>
          <p:nvPr/>
        </p:nvSpPr>
        <p:spPr>
          <a:xfrm>
            <a:off x="502920" y="677570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3232" y="672084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«Отказаться от заявки» доступно до начала работы; после старта исполнитель сообщает оператору.</a:t>
            </a:r>
            <a:endParaRPr lang="en-US" sz="930" dirty="0"/>
          </a:p>
        </p:txBody>
      </p:sp>
      <p:sp>
        <p:nvSpPr>
          <p:cNvPr id="44" name="Shape 41"/>
          <p:cNvSpPr/>
          <p:nvPr/>
        </p:nvSpPr>
        <p:spPr>
          <a:xfrm>
            <a:off x="502920" y="708660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13232" y="703173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 не принимает собственную работу за заказчика и не ведёт парк без отдельного права.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СИСТЕМНЫЙ АДМИНИСТРАТОР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работ и согласование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есть только у заявок, которые ведёт сервисная компания: исполнитель предъявляет ревизию, согласующий принимает именно показанную редакцию.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ИТ-специалисту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estimate-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387718"/>
            <a:ext cx="4133088" cy="217400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Читайте состояние ревизии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Редактирование закрывается на время согласования.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Сверьте строки и сумму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относится к конкретной ревизии; новая правка создаёт следующую.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решение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Согласовать, не согласовать с причиной или вернуть исполнителю в правку.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Заявку, которую ведёт свой сотрудник, объём работ не проходит: её закрывают датой выполнения и необязательным «Что сделали».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6111301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6056437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Сервисная компания не согласует собственный расчёт; это делает ИТ или оператор.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422197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367333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Несогласование закрывает заявку с причиной и решением по замене/дальнейшим действиям.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502920" y="6733093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" y="6678229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Пустую ревизию всё равно нужно явно согласовать либо вернуть — молчание не решение.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502920" y="7007413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8368" y="7135429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остаётся «В работе»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58368" y="7364029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Предъявление и согласование отражаются стороной ожидания и ревизией, а не отдельными рабочими статусами.</a:t>
            </a:r>
            <a:endParaRPr lang="en-US" sz="8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СИСТЕМНЫЙ АДМИНИСТРАТОР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закрытие работ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файла определяет видимость, гарантийный контур и возможность завершить внешнюю работу.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ИТ-специалисту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documents-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962217"/>
            <a:ext cx="4133088" cy="102500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Назовите вид файла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Вложение, объём работ, акт, счёт или гарантийный талон — это не взаимозаменяемые метки.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Проверьте закрывающий файл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внешнего ремонта до «Решена» требуется хотя бы один закрывающий документ.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Закройте работы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заявке сервисной компании — фактические строки, гарантию и рекомендации; по внутреннему ремонту — дату выполнения и «Что сделали».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Акт, счёт и объём работ скрыты от заявителя; обычное вложение и гарантийный талон видны.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 аппарата должен быть разобран до приёмки результата.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245352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статусе «Решена» оператор принимает работу либо возвращает её; через 24 часа возможна автоприёмка.</a:t>
            </a:r>
            <a:endParaRPr lang="en-US" sz="930" dirty="0"/>
          </a:p>
        </p:txBody>
      </p:sp>
      <p:sp>
        <p:nvSpPr>
          <p:cNvPr id="34" name="Shape 31"/>
          <p:cNvSpPr/>
          <p:nvPr/>
        </p:nvSpPr>
        <p:spPr>
          <a:xfrm>
            <a:off x="502920" y="6696517"/>
            <a:ext cx="6556248" cy="658368"/>
          </a:xfrm>
          <a:prstGeom prst="roundRect">
            <a:avLst>
              <a:gd name="adj" fmla="val 8333"/>
            </a:avLst>
          </a:prstGeom>
          <a:solidFill>
            <a:srgbClr val="FFF7E6"/>
          </a:solidFill>
          <a:ln w="10160">
            <a:solidFill>
              <a:srgbClr val="FFD59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6824533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6B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файла ограничено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58368" y="7053133"/>
            <a:ext cx="6245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снять документ, который уже использован закрытием, гарантией или другим доменным действием.</a:t>
            </a:r>
            <a:endParaRPr lang="en-US" sz="8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СИСТЕМНЫЙ АДМИНИСТРАТОР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Подтвердить перемещение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Перемещение из заявки сверяет текущее и заявленное место под блокировкой и оставляет одну запись в истории.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ИТ-специалисту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equipment-m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381" y="1563624"/>
            <a:ext cx="2892470" cy="38221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Сверьте два места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аппарат уже переместили параллельно, портал покажет конфликт и новое исходное место.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2718816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9F0FF"/>
          </a:solidFill>
          <a:ln w="8890">
            <a:solidFill>
              <a:srgbClr val="D3AD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2828544"/>
            <a:ext cx="256032" cy="256032"/>
          </a:xfrm>
          <a:prstGeom prst="ellipse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286054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28011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Подтвердите заявление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029712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Отметка связывает фактическое перемещение с расхождением, указанным в заявке.</a:t>
            </a:r>
            <a:endParaRPr lang="en-US" sz="670" dirty="0"/>
          </a:p>
        </p:txBody>
      </p:sp>
      <p:sp>
        <p:nvSpPr>
          <p:cNvPr id="23" name="Shape 20"/>
          <p:cNvSpPr/>
          <p:nvPr/>
        </p:nvSpPr>
        <p:spPr>
          <a:xfrm>
            <a:off x="4946904" y="4139184"/>
            <a:ext cx="2112264" cy="1319784"/>
          </a:xfrm>
          <a:prstGeom prst="roundRect">
            <a:avLst>
              <a:gd name="adj" fmla="val 2771"/>
            </a:avLst>
          </a:prstGeom>
          <a:solidFill>
            <a:srgbClr val="F6FFED"/>
          </a:solidFill>
          <a:ln w="8890">
            <a:solidFill>
              <a:srgbClr val="B7EB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56632" y="4248912"/>
            <a:ext cx="256032" cy="256032"/>
          </a:xfrm>
          <a:prstGeom prst="ellipse">
            <a:avLst/>
          </a:prstGeom>
          <a:solidFill>
            <a:srgbClr val="389E0D"/>
          </a:solidFill>
          <a:ln w="12700">
            <a:solidFill>
              <a:srgbClr val="389E0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42809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5394960" y="42214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Запишите движение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5394960" y="4450080"/>
            <a:ext cx="155448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место попадёт в карточку, заявку и историю аппарата одной операцией.</a:t>
            </a:r>
            <a:endParaRPr lang="en-US" sz="670" dirty="0"/>
          </a:p>
        </p:txBody>
      </p:sp>
      <p:sp>
        <p:nvSpPr>
          <p:cNvPr id="28" name="Shape 25"/>
          <p:cNvSpPr/>
          <p:nvPr/>
        </p:nvSpPr>
        <p:spPr>
          <a:xfrm>
            <a:off x="502920" y="5678424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5623560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живёт у реквизитов аппарата, пока заявка не закрыта и право на перемещение есть.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934456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доступа проверяется по исходному месту; чужой объект не открывается через карточку заявки.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6422197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3232" y="6367333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споре сначала обновите карточку: сервер не даст записать движение от устаревшего места.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4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spc="25" kern="0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ОРГТЕХНИКА · СИСТЕМНЫЙ АДМИНИСТРАТОР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733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Массовые действия и история аппарата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27648" y="35661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6556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Полоса выбора выполняет те же доменные команды, что одиночное меню, и возвращает отчёт по каждой строке.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502920" y="10131552"/>
            <a:ext cx="6556248" cy="0"/>
          </a:xfrm>
          <a:prstGeom prst="line">
            <a:avLst/>
          </a:prstGeom>
          <a:noFill/>
          <a:ln w="9525">
            <a:solidFill>
              <a:srgbClr val="E7EA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13848"/>
            <a:ext cx="5916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Памятка ИТ-специалисту · актуальная версия приложения · редакция 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19088" y="1021384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502920" y="1298448"/>
            <a:ext cx="4279392" cy="4160520"/>
          </a:xfrm>
          <a:prstGeom prst="roundRect">
            <a:avLst>
              <a:gd name="adj" fmla="val 879"/>
            </a:avLst>
          </a:prstGeom>
          <a:solidFill>
            <a:srgbClr val="F5F7FB"/>
          </a:solidFill>
          <a:ln w="8890">
            <a:solidFill>
              <a:srgbClr val="E7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4059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98A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АКТУАЛЬНЫЙ ЭКРАН · ДЕМОНСТРАЦИОННЫЕ ДАННЫЕ</a:t>
            </a:r>
            <a:endParaRPr lang="en-US" sz="590" dirty="0"/>
          </a:p>
        </p:txBody>
      </p:sp>
      <p:pic>
        <p:nvPicPr>
          <p:cNvPr id="12" name="Image 0" descr="/root/projects/technic/docs/image/office-equipment-latest/requests-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35148"/>
            <a:ext cx="4133088" cy="327914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946904" y="1298448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0F7FF"/>
          </a:solidFill>
          <a:ln w="8890">
            <a:solidFill>
              <a:srgbClr val="BAE0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56632" y="1408176"/>
            <a:ext cx="256032" cy="256032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6632" y="14401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394960" y="1380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строки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5394960" y="1609344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Недоступный чекбокс объясняет причину. Смена области или набора фильтров сбрасывает выбор.</a:t>
            </a:r>
            <a:endParaRPr lang="en-US" sz="670" dirty="0"/>
          </a:p>
        </p:txBody>
      </p:sp>
      <p:sp>
        <p:nvSpPr>
          <p:cNvPr id="18" name="Shape 15"/>
          <p:cNvSpPr/>
          <p:nvPr/>
        </p:nvSpPr>
        <p:spPr>
          <a:xfrm>
            <a:off x="4946904" y="3429000"/>
            <a:ext cx="2112264" cy="2029968"/>
          </a:xfrm>
          <a:prstGeom prst="roundRect">
            <a:avLst>
              <a:gd name="adj" fmla="val 1802"/>
            </a:avLst>
          </a:prstGeom>
          <a:solidFill>
            <a:srgbClr val="FFF7E6"/>
          </a:solidFill>
          <a:ln w="8890">
            <a:solidFill>
              <a:srgbClr val="FFD59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56632" y="3538728"/>
            <a:ext cx="256032" cy="256032"/>
          </a:xfrm>
          <a:prstGeom prst="ellipse">
            <a:avLst/>
          </a:prstGeom>
          <a:solidFill>
            <a:srgbClr val="D46B08"/>
          </a:solidFill>
          <a:ln w="12700">
            <a:solidFill>
              <a:srgbClr val="D46B0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56632" y="357073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394960" y="3511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Запустите общую команду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5394960" y="3739896"/>
            <a:ext cx="15544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Пауза, возобновление, срочность, старт, приёмка, отмена или архив — только где применимо.</a:t>
            </a:r>
            <a:endParaRPr lang="en-US" sz="670" dirty="0"/>
          </a:p>
        </p:txBody>
      </p:sp>
      <p:sp>
        <p:nvSpPr>
          <p:cNvPr id="23" name="Text 20"/>
          <p:cNvSpPr/>
          <p:nvPr/>
        </p:nvSpPr>
        <p:spPr>
          <a:xfrm>
            <a:off x="502920" y="5623560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операции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" y="598932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593445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Частичный результат нормален: успешные строки применены, пропущенные перечислены с причиной.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502920" y="6300216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3232" y="6245352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общая причина относится ко всем строкам; массового назначения, объёма работ и закрытия работ нет.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502920" y="6733093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3232" y="6678229"/>
            <a:ext cx="6345936" cy="3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аппарата открывается из справочника вкладками «Заявки», «Правки», «Перемещения», «Полная история».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7165970"/>
            <a:ext cx="109728" cy="109728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711110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XLSX-выгрузка содержит те же четыре листа и подчиняется той же видимости.</a:t>
            </a:r>
            <a:endParaRPr lang="en-US" sz="930" dirty="0"/>
          </a:p>
        </p:txBody>
      </p:sp>
      <p:sp>
        <p:nvSpPr>
          <p:cNvPr id="32" name="Shape 29"/>
          <p:cNvSpPr/>
          <p:nvPr/>
        </p:nvSpPr>
        <p:spPr>
          <a:xfrm>
            <a:off x="502920" y="7440290"/>
            <a:ext cx="6556248" cy="729874"/>
          </a:xfrm>
          <a:prstGeom prst="roundRect">
            <a:avLst>
              <a:gd name="adj" fmla="val 7517"/>
            </a:avLst>
          </a:prstGeom>
          <a:solidFill>
            <a:srgbClr val="F0F7FF"/>
          </a:solidFill>
          <a:ln w="10160">
            <a:solidFill>
              <a:srgbClr val="BAE0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" y="7568306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действие оборвалось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58368" y="7796906"/>
            <a:ext cx="6245352" cy="28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dirty="0">
                <a:solidFill>
                  <a:srgbClr val="2F3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создавайте новую пачку вслепую: портал предлагает продолжить начатую операцию с тем же ключом и показывает итог.</a:t>
            </a:r>
            <a:endParaRPr lang="en-US" sz="8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АВТО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Оргтехника: памятка ИТ-специалисту</dc:title>
  <dc:subject>Координация и выполнение заявок оргтехники системным администратором</dc:subject>
  <dc:creator>АВТО</dc:creator>
  <cp:lastModifiedBy>АВТО</cp:lastModifiedBy>
  <cp:revision>1</cp:revision>
  <dcterms:created xsi:type="dcterms:W3CDTF">2026-09-07T07:00:00Z</dcterms:created>
  <dcterms:modified xsi:type="dcterms:W3CDTF">2026-09-07T07:00:00Z</dcterms:modified>
</cp:coreProperties>
</file>