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части профиля ИТ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выдаётся двумя наборами: координация модуля и работа назначенным исполнителем.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3195828" cy="1089233"/>
          </a:xfrm>
          <a:prstGeom prst="roundRect">
            <a:avLst>
              <a:gd name="adj" fmla="val 4197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Координация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9224" y="1645920"/>
            <a:ext cx="2903220" cy="650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просмотр заявок и техники, финансы, назначение исполнителей, отложить/возобновить, создать заявку без аппарата, подтвердить перемещение.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863340" y="1298448"/>
            <a:ext cx="3195828" cy="1089233"/>
          </a:xfrm>
          <a:prstGeom prst="roundRect">
            <a:avLst>
              <a:gd name="adj" fmla="val 419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964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Исполнение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4009644" y="1645920"/>
            <a:ext cx="2903220" cy="650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заявку в работу, вести объём работ, подшивать файлы и закрывать работы — только если вы назначены поимённо.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502920" y="2515697"/>
            <a:ext cx="3195828" cy="1089233"/>
          </a:xfrm>
          <a:prstGeom prst="roundRect">
            <a:avLst>
              <a:gd name="adj" fmla="val 4197"/>
            </a:avLst>
          </a:prstGeom>
          <a:solidFill>
            <a:srgbClr val="FFF1F0"/>
          </a:solidFill>
          <a:ln w="10160">
            <a:solidFill>
              <a:srgbClr val="FFCC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263456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CF13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нет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649224" y="2863169"/>
            <a:ext cx="2903220" cy="650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 не ведёт весь справочник техники, не меняет срочность после создания, не принимает завершённую работу за заказчика и не отменяет заявки операторским коридором.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3863340" y="2515697"/>
            <a:ext cx="3195828" cy="1089233"/>
          </a:xfrm>
          <a:prstGeom prst="roundRect">
            <a:avLst>
              <a:gd name="adj" fmla="val 4197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09644" y="263456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два набора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4009644" y="2863169"/>
            <a:ext cx="2903220" cy="650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Назначенному исполнителю не требуется доступ ко всем чужим заявкам. Разделение сохраняет сквозную координацию только у профиля ИТ.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502920" y="3732947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Начало дня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406213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08499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25" name="Text 23"/>
          <p:cNvSpPr/>
          <p:nvPr/>
        </p:nvSpPr>
        <p:spPr>
          <a:xfrm>
            <a:off x="813816" y="4043843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«Орг.техника» → «Заявки». Сначала проверьте «Ждут меня», затем срочные и старые ожидания.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502920" y="451329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53615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13816" y="44950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Сверьте, есть ли у заявки исполнитель и не ждёт ли она согласования объёма работ.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486076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88362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31" name="Text 29"/>
          <p:cNvSpPr/>
          <p:nvPr/>
        </p:nvSpPr>
        <p:spPr>
          <a:xfrm>
            <a:off x="813816" y="4842480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работаете руками — убедитесь, что назначены поимённо. Одного просмотра карточки недостаточно.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502920" y="531193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33479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813816" y="5293644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уточнения фиксируйте в обсуждении; телефон используйте для скорости, итог продублируйте в заявке.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576309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589111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определяется и правом, и назначением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611971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нужного действия нет, сначала проверьте состав исполнителей и статус. Не просите расширять доступ, пока не исключено обычное отсутствие назначения.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Очередь, назначение и отказ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упрощения «Новая» означает и нераспределённую заявку, и заявку с назначенными исполнителями до старта.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2097999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95169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00919" y="1298448"/>
            <a:ext cx="148608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4071" y="1389888"/>
            <a:ext cx="133977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ожидания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087002" y="1298448"/>
            <a:ext cx="297216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154" y="1389888"/>
            <a:ext cx="282586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действие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2097999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95169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«Новая», исполнителей нет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2600919" y="1645920"/>
            <a:ext cx="148608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4071" y="1728216"/>
            <a:ext cx="13397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оператора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087002" y="1645920"/>
            <a:ext cx="297216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60154" y="1728216"/>
            <a:ext cx="282586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Назначить одного или нескольких сотрудников и не более одной сервисной компании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37100"/>
            <a:ext cx="2097999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9396"/>
            <a:ext cx="195169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«Новая», вы назначены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2600919" y="2037100"/>
            <a:ext cx="148608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4071" y="2119396"/>
            <a:ext cx="13397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исполнителя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087002" y="2037100"/>
            <a:ext cx="297216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60154" y="2119396"/>
            <a:ext cx="282586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«Принять в работу» либо «Отказаться от заявки» с причиной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8281"/>
            <a:ext cx="2097999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10577"/>
            <a:ext cx="195169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 работе», объём предъявлен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2600919" y="2428281"/>
            <a:ext cx="148608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4071" y="2510577"/>
            <a:ext cx="13397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согласования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087002" y="2428281"/>
            <a:ext cx="297216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60154" y="2510577"/>
            <a:ext cx="282586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или не согласовать; сервисная компания свою редакцию не согласует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19461"/>
            <a:ext cx="2097999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901757"/>
            <a:ext cx="195169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«Отложена»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2600919" y="2819461"/>
            <a:ext cx="148608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4071" y="2901757"/>
            <a:ext cx="13397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Отложена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087002" y="2819461"/>
            <a:ext cx="297216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154" y="2901757"/>
            <a:ext cx="282586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причину и при готовности возобновить в прежнее состояние</a:t>
            </a:r>
            <a:endParaRPr lang="en-US" sz="810" dirty="0"/>
          </a:p>
        </p:txBody>
      </p:sp>
      <p:sp>
        <p:nvSpPr>
          <p:cNvPr id="40" name="Text 38"/>
          <p:cNvSpPr/>
          <p:nvPr/>
        </p:nvSpPr>
        <p:spPr>
          <a:xfrm>
            <a:off x="502920" y="3338657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02920" y="3704417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3649553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Первое назначение не меняет статус. Причина обязательна при замене состава и массовом назначении.</a:t>
            </a:r>
            <a:endParaRPr lang="en-US" sz="930" dirty="0"/>
          </a:p>
        </p:txBody>
      </p:sp>
      <p:sp>
        <p:nvSpPr>
          <p:cNvPr id="43" name="Shape 41"/>
          <p:cNvSpPr/>
          <p:nvPr/>
        </p:nvSpPr>
        <p:spPr>
          <a:xfrm>
            <a:off x="502920" y="4137294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4082430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поимённого сотрудника снимает только его строку; отказ сервиса снимает компанию целиком.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502920" y="444819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39332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отказался последний исполнитель, заявка остаётся «Новой» и снова ждёт распределения.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502920" y="475908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704222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нельзя менять, пока висит предъявленный объём работ. Сначала согласуйте его или верните в правку.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502920" y="515538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528340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Быстрые входы вводятся поэтапно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" y="551200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«Принять в работу» и смена статуса могут быть показаны рядом со статусом или оставаться в меню «Действия». При отсутствии быстрого входа используйте меню — серверное правило одинаково.</a:t>
            </a:r>
            <a:endParaRPr lang="en-US" sz="8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Выполнение заявки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статус один; назначение и предъявление объёма работ его не меняют.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238098" cy="658368"/>
          </a:xfrm>
          <a:prstGeom prst="roundRect">
            <a:avLst>
              <a:gd name="adj" fmla="val 8333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417320"/>
            <a:ext cx="10917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576072" y="1636776"/>
            <a:ext cx="1091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назначены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1832458" y="1298448"/>
            <a:ext cx="1238098" cy="658368"/>
          </a:xfrm>
          <a:prstGeom prst="roundRect">
            <a:avLst>
              <a:gd name="adj" fmla="val 8333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05610" y="1417320"/>
            <a:ext cx="10917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в работу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1905610" y="1636776"/>
            <a:ext cx="1091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назначенный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3161995" y="1298448"/>
            <a:ext cx="1238098" cy="658368"/>
          </a:xfrm>
          <a:prstGeom prst="roundRect">
            <a:avLst>
              <a:gd name="adj" fmla="val 8333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35147" y="1417320"/>
            <a:ext cx="10917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235147" y="1636776"/>
            <a:ext cx="1091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4491533" y="1298448"/>
            <a:ext cx="1238098" cy="658368"/>
          </a:xfrm>
          <a:prstGeom prst="roundRect">
            <a:avLst>
              <a:gd name="adj" fmla="val 8333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4685" y="1417320"/>
            <a:ext cx="10917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Закрыть работы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4564685" y="1636776"/>
            <a:ext cx="1091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и гарантии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5821070" y="1298448"/>
            <a:ext cx="1238098" cy="658368"/>
          </a:xfrm>
          <a:prstGeom prst="roundRect">
            <a:avLst>
              <a:gd name="adj" fmla="val 8333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4222" y="1417320"/>
            <a:ext cx="10917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Решена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894222" y="1636776"/>
            <a:ext cx="1091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приёмка</a:t>
            </a:r>
            <a:endParaRPr lang="en-US" sz="730" dirty="0"/>
          </a:p>
        </p:txBody>
      </p:sp>
      <p:sp>
        <p:nvSpPr>
          <p:cNvPr id="25" name="Text 23"/>
          <p:cNvSpPr/>
          <p:nvPr/>
        </p:nvSpPr>
        <p:spPr>
          <a:xfrm>
            <a:off x="502920" y="2084832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вы исполнитель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02920" y="241401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243687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13816" y="239572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Нажмите «Принять в работу». Если кнопки нет — проверьте, что заявка «Новая» и вы назначены.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276148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78434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31" name="Text 29"/>
          <p:cNvSpPr/>
          <p:nvPr/>
        </p:nvSpPr>
        <p:spPr>
          <a:xfrm>
            <a:off x="813816" y="27432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Уточните симптом, место и контакт. Расхождение места зафиксируйте до перемещения.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502920" y="310896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13182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813816" y="3090672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«Обслуживание» заполните объём работ; для «Расходники» — состав номенклатуры и фактически выданное количество.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3560125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3582985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37" name="Text 35"/>
          <p:cNvSpPr/>
          <p:nvPr/>
        </p:nvSpPr>
        <p:spPr>
          <a:xfrm>
            <a:off x="813816" y="3541837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нужно ждать деталь или доступ, отложите заявку с причиной. Возобновление вернёт её туда, откуда остановили.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502920" y="401129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403415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40" name="Text 38"/>
          <p:cNvSpPr/>
          <p:nvPr/>
        </p:nvSpPr>
        <p:spPr>
          <a:xfrm>
            <a:off x="813816" y="3993002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завершении заполните фактический результат, гарантийные сроки и закройте работы.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4358762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486778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 не принимает собственную работу за заказчика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4715378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«Решена» → «Закрыта» относится к оператору «Ведения» либо к автоприёмке. Если результат спорный, оператор возвращает заявку в работу.</a:t>
            </a:r>
            <a:endParaRPr lang="en-US" sz="890" dirty="0"/>
          </a:p>
        </p:txBody>
      </p:sp>
      <p:sp>
        <p:nvSpPr>
          <p:cNvPr id="44" name="Text 42"/>
          <p:cNvSpPr/>
          <p:nvPr/>
        </p:nvSpPr>
        <p:spPr>
          <a:xfrm>
            <a:off x="502920" y="5198364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без аппарата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02920" y="5509260"/>
            <a:ext cx="6556248" cy="59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ИТ может создать заявку без выбранной единицы — например, на инфраструктурную работу. Обязательно выберите заказчика и дайте предмету понятное название в описании; гарантийный сценарий без аппарата не применяется.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работ и согласование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«Смета» переименована в «Объём работ». Предъявление и согласование больше не являются отдельным статусом.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Исполнитель открывает «Объём работ», добавляет услуги и детали, количества, цены и гарантийные месяцы.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76790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79076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749613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«Предъявить объём работ» создаёт новую ревизию. Пока она ждёт решения, состав и исполнителей не меняют.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21906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4192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2200778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Доступный согласующий нажимает «Согласовать объём работ» либо «Не согласовать» с причиной и решением.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23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9309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651943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исправлении выберите «Вернуть объём в правку»: предъявление и прежнее согласование снимаются.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312139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14425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3816" y="31031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правки предъявите новую ревизию; старая подпись к ней не относится.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468868"/>
            <a:ext cx="206566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560308"/>
            <a:ext cx="19193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568587" y="3468868"/>
            <a:ext cx="224529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41739" y="3560308"/>
            <a:ext cx="20989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Может подготовить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3878" y="3468868"/>
            <a:ext cx="224529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7030" y="3560308"/>
            <a:ext cx="20989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Может согласовать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2920" y="3816340"/>
            <a:ext cx="206566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" y="3898636"/>
            <a:ext cx="191936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Сервисная компания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2568587" y="3816340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41739" y="3898636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Да, по заявке своей компании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4813878" y="3816340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7030" y="3898636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— собственный объём не согласуется самим подрядчиком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502920" y="4207520"/>
            <a:ext cx="2065667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" y="4289816"/>
            <a:ext cx="191936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Поимённый ИТ-исполнитель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2568587" y="4207520"/>
            <a:ext cx="224529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41739" y="4289816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Да, по назначенной заявке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4813878" y="4207520"/>
            <a:ext cx="224529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7030" y="4289816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Да, если портал показывает действие для текущей ревизии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502920" y="4598700"/>
            <a:ext cx="206566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4680996"/>
            <a:ext cx="191936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«Ведения»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2568587" y="4598700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41739" y="4680996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4813878" y="4598700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87030" y="4680996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Да; отвечает за сумму и итоговое решение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502920" y="511789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AFAFA"/>
          </a:solidFill>
          <a:ln w="10160">
            <a:solidFill>
              <a:srgbClr val="E7EA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524591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Виза ИТ на входе упразднена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" y="547451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Старые записи истории могут содержать «Согласована ИТ», «Диагностика», «Назначена» и «Смета на согласовании». Новые заявки в эти состояния не переходят; подписи сохранены только ради истории.</a:t>
            </a:r>
            <a:endParaRPr lang="en-US" sz="8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Документы, гарантии и приёмка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внешнего ремонта закрывающий документ обязателен до перехода в «Решена». Для внутреннего ремонта — нет.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32035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1740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3276" y="1298448"/>
            <a:ext cx="2913888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96427" y="1389888"/>
            <a:ext cx="27675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чего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37164" y="1298448"/>
            <a:ext cx="2322004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0316" y="1389888"/>
            <a:ext cx="21757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Кому виден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320356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1740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Вложение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1823276" y="1645920"/>
            <a:ext cx="291388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96427" y="1728216"/>
            <a:ext cx="2767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Фото, описание, переписка по факту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737164" y="1645920"/>
            <a:ext cx="232200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10316" y="1728216"/>
            <a:ext cx="2175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Всем участникам по правилам заявки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29968"/>
            <a:ext cx="132035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2264"/>
            <a:ext cx="11740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работ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1823276" y="2029968"/>
            <a:ext cx="2913888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96427" y="2112264"/>
            <a:ext cx="2767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услуг и деталей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737164" y="2029968"/>
            <a:ext cx="232200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0316" y="2112264"/>
            <a:ext cx="2175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Финансовой аудитории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14016"/>
            <a:ext cx="1320356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496312"/>
            <a:ext cx="11740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 / счёт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823276" y="2414016"/>
            <a:ext cx="291388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96427" y="2496312"/>
            <a:ext cx="2767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Закрывающий документ внешнего сервиса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737164" y="2414016"/>
            <a:ext cx="232200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0316" y="2496312"/>
            <a:ext cx="2175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Финансовой аудитории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798064"/>
            <a:ext cx="132035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80360"/>
            <a:ext cx="11740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Гарантийный талон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823276" y="2798064"/>
            <a:ext cx="2913888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96427" y="2880360"/>
            <a:ext cx="2767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 срока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737164" y="2798064"/>
            <a:ext cx="232200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10316" y="2880360"/>
            <a:ext cx="2175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том числе заявителю</a:t>
            </a:r>
            <a:endParaRPr lang="en-US" sz="810" dirty="0"/>
          </a:p>
        </p:txBody>
      </p:sp>
      <p:sp>
        <p:nvSpPr>
          <p:cNvPr id="40" name="Text 38"/>
          <p:cNvSpPr/>
          <p:nvPr/>
        </p:nvSpPr>
        <p:spPr>
          <a:xfrm>
            <a:off x="502920" y="3310128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Гарантийный сценарий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02920" y="367588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362102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работ проверьте источник обращения: гарантия техники или прошлого ремонта.</a:t>
            </a:r>
            <a:endParaRPr lang="en-US" sz="930" dirty="0"/>
          </a:p>
        </p:txBody>
      </p:sp>
      <p:sp>
        <p:nvSpPr>
          <p:cNvPr id="43" name="Shape 41"/>
          <p:cNvSpPr/>
          <p:nvPr/>
        </p:nvSpPr>
        <p:spPr>
          <a:xfrm>
            <a:off x="502920" y="3986784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3931920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закрытии укажите фактически выполненные строки и срок гарантии. Не обещайте срок без подтверждаемого основания.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502920" y="4419661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364797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 на доработку снимает рассчитанные даты; при повторном закрытии их нужно проверить заново.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502920" y="485253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797674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Расширенный реестр, исправление дат и выгрузка ещё проходят отдельную волну. Пользуйтесь только видимыми в портале действиями.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502920" y="5248839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5376855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часа на возражение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" y="5605455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«Решена» портал может принять заявку автоматически через 24 часа. Возврат в работу начинает отсчёт заново; «Отложена» снимает заявку с очереди автоприёмки.</a:t>
            </a:r>
            <a:endParaRPr lang="en-US" sz="8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Перемещение и история аппарата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Перемещение записывается отдельным событием и может быть подтверждено из карточки заявки.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Сверьте текущие объект, отдел, место и состояние аппарата с фактом.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66420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8706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645920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действие перемещения рядом с реквизитами аппарата. Укажите новое место, дату, причину и комментарий.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115373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38233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2097085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заявитель сообщил иное место, подтвердите, что новое значение соответствует заявленному, либо объясните расхождение.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56653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58939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54825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конфликте «аппарат уже перемещён» обновите карточку и повторите решение по свежим данным.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2914010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042026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Волна ещё заканчивает совместимый переход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3270626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текущей схеме прежнее место сверяется, но на первом выпуске может быть необязательным в запросе. После обновления клиентов оно станет обязательным. Для пользователя порядок действий не меняется.</a:t>
            </a:r>
            <a:endParaRPr lang="en-US" sz="890" dirty="0"/>
          </a:p>
        </p:txBody>
      </p:sp>
      <p:sp>
        <p:nvSpPr>
          <p:cNvPr id="25" name="Text 23"/>
          <p:cNvSpPr/>
          <p:nvPr/>
        </p:nvSpPr>
        <p:spPr>
          <a:xfrm>
            <a:off x="502920" y="3753612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02920" y="411937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06450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 доступна полная лента событий аппарата и заявки.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502920" y="443026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75404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блоки «Изменения», «Перемещения», «Заявки» и «Полная история» вводятся поэтапно; первые серверные выборки уже готовы.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63145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808281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появления всех блоков ищите событие в полной истории. Не делайте вывод «события нет» только по пустому новому блоку.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02920" y="5259446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Отсутствующий аппарат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5570342"/>
            <a:ext cx="6556248" cy="59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проверки кандидатов предназначена профилю «Ведение», потому что решение создаёт карточку парка. ИТ может помочь уточнить модель, но не подтверждает кандидата без права ведения справочника.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СИСТЕМНЫЙ АДМИНИСТРАТОР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Переходный период и диагностика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описывает целевой поток и честно отмечает функции, которые ещё включаются или принимаются.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ИТ-специалисту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78401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63770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933" y="1298448"/>
            <a:ext cx="227461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60085" y="1389888"/>
            <a:ext cx="21283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на 07.09.2026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61550" y="1298448"/>
            <a:ext cx="2497618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4702" y="1389888"/>
            <a:ext cx="235131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работать сейчас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78401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63770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Быстрая смена статуса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2286933" y="1645920"/>
            <a:ext cx="227461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0085" y="1728216"/>
            <a:ext cx="212831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и тесты готовы, пилотная приёмка не завершена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561550" y="1645920"/>
            <a:ext cx="2497618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4702" y="1728216"/>
            <a:ext cx="235131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нет входа на статусе — меню «Действия»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37100"/>
            <a:ext cx="178401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9396"/>
            <a:ext cx="16377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Массовые действия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2286933" y="2037100"/>
            <a:ext cx="22746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60085" y="2119396"/>
            <a:ext cx="21283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Собраны; выкат и пилот впереди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561550" y="2037100"/>
            <a:ext cx="2497618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4702" y="2119396"/>
            <a:ext cx="2351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Работать по одной заявке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1148"/>
            <a:ext cx="178401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03444"/>
            <a:ext cx="163770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техники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2286933" y="2421148"/>
            <a:ext cx="227461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60085" y="2503444"/>
            <a:ext cx="212831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Собран; права ещё могут быть не выданы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561550" y="2421148"/>
            <a:ext cx="2497618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34702" y="2503444"/>
            <a:ext cx="235131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«Не нашли технику?» → техподдержка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12329"/>
            <a:ext cx="178401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94625"/>
            <a:ext cx="163770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Почтовые события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2286933" y="2812329"/>
            <a:ext cx="2274617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60085" y="2894625"/>
            <a:ext cx="212831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готов; новые события включаются после проверки адресатов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561550" y="2812329"/>
            <a:ext cx="2497618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34702" y="2894625"/>
            <a:ext cx="235131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Смотреть очередь и обсуждение в портале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203509"/>
            <a:ext cx="178401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3285805"/>
            <a:ext cx="163770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Гарантийное завершение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2286933" y="3203509"/>
            <a:ext cx="227461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360085" y="3285805"/>
            <a:ext cx="212831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работает; расширение реестра и правки дат не закончены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4561550" y="3203509"/>
            <a:ext cx="2497618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34702" y="3285805"/>
            <a:ext cx="235131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использовать невидимые действия; фиксировать уточнения в истории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502920" y="3722705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нет кнопки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02920" y="4051889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074749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49" name="Text 47"/>
          <p:cNvSpPr/>
          <p:nvPr/>
        </p:nvSpPr>
        <p:spPr>
          <a:xfrm>
            <a:off x="813816" y="4033601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Обновите карточку: версия заявки могла измениться после вашего открытия.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502920" y="439936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2920" y="442222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52" name="Text 50"/>
          <p:cNvSpPr/>
          <p:nvPr/>
        </p:nvSpPr>
        <p:spPr>
          <a:xfrm>
            <a:off x="813816" y="4381073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статус, назначение и ожидание; наведите на неактивное действие — причина должна быть доступна.</a:t>
            </a:r>
            <a:endParaRPr lang="en-US" sz="930" dirty="0"/>
          </a:p>
        </p:txBody>
      </p:sp>
      <p:sp>
        <p:nvSpPr>
          <p:cNvPr id="53" name="Shape 51"/>
          <p:cNvSpPr/>
          <p:nvPr/>
        </p:nvSpPr>
        <p:spPr>
          <a:xfrm>
            <a:off x="502920" y="485052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487338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55" name="Text 53"/>
          <p:cNvSpPr/>
          <p:nvPr/>
        </p:nvSpPr>
        <p:spPr>
          <a:xfrm>
            <a:off x="813816" y="483223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Убедитесь, что профиль ИТ выдан полностью двумя наборами.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502920" y="519799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522085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58" name="Text 56"/>
          <p:cNvSpPr/>
          <p:nvPr/>
        </p:nvSpPr>
        <p:spPr>
          <a:xfrm>
            <a:off x="813816" y="5179710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условие выполнено, а действие отсутствует, передайте администратору номер заявки, своё ФИО, время и скрин без персональных данных посторонних заявок.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АВТО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Оргтехника: памятка ИТ-специалисту</dc:title>
  <dc:subject>Координация и выполнение заявок оргтехники системным администратором</dc:subject>
  <dc:creator>АВТО</dc:creator>
  <cp:lastModifiedBy>АВТО</cp:lastModifiedBy>
  <cp:revision>1</cp:revision>
  <dcterms:created xsi:type="dcterms:W3CDTF">2026-09-07T07:00:00Z</dcterms:created>
  <dcterms:modified xsi:type="dcterms:W3CDTF">2026-09-07T07:00:00Z</dcterms:modified>
</cp:coreProperties>
</file>